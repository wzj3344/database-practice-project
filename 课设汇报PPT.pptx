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dp" ContentType="image/vnd.ms-photo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715" r:id="rId4"/>
    <p:sldMasterId id="2147483718" r:id="rId5"/>
  </p:sldMasterIdLst>
  <p:notesMasterIdLst>
    <p:notesMasterId r:id="rId7"/>
  </p:notesMasterIdLst>
  <p:sldIdLst>
    <p:sldId id="283" r:id="rId6"/>
    <p:sldId id="740" r:id="rId8"/>
    <p:sldId id="687" r:id="rId9"/>
    <p:sldId id="807" r:id="rId10"/>
    <p:sldId id="809" r:id="rId11"/>
    <p:sldId id="752" r:id="rId12"/>
    <p:sldId id="733" r:id="rId13"/>
    <p:sldId id="810" r:id="rId14"/>
    <p:sldId id="811" r:id="rId15"/>
    <p:sldId id="753" r:id="rId16"/>
    <p:sldId id="812" r:id="rId17"/>
    <p:sldId id="813" r:id="rId18"/>
    <p:sldId id="814" r:id="rId19"/>
    <p:sldId id="815" r:id="rId20"/>
    <p:sldId id="754" r:id="rId21"/>
    <p:sldId id="818" r:id="rId22"/>
    <p:sldId id="816" r:id="rId23"/>
    <p:sldId id="817" r:id="rId24"/>
    <p:sldId id="808" r:id="rId25"/>
  </p:sldIdLst>
  <p:sldSz cx="12192000" cy="6858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0" userDrawn="1">
          <p15:clr>
            <a:srgbClr val="A4A3A4"/>
          </p15:clr>
        </p15:guide>
        <p15:guide id="2" pos="389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5A21"/>
    <a:srgbClr val="C34A0A"/>
    <a:srgbClr val="FF9F27"/>
    <a:srgbClr val="DD7604"/>
    <a:srgbClr val="EB6C15"/>
    <a:srgbClr val="FFFDFB"/>
    <a:srgbClr val="C55A11"/>
    <a:srgbClr val="FDF1E9"/>
    <a:srgbClr val="DADAC7"/>
    <a:srgbClr val="A54C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21" autoAdjust="0"/>
    <p:restoredTop sz="93673" autoAdjust="0"/>
  </p:normalViewPr>
  <p:slideViewPr>
    <p:cSldViewPr snapToGrid="0" showGuides="1">
      <p:cViewPr>
        <p:scale>
          <a:sx n="100" d="100"/>
          <a:sy n="100" d="100"/>
        </p:scale>
        <p:origin x="749" y="538"/>
      </p:cViewPr>
      <p:guideLst>
        <p:guide orient="horz" pos="2180"/>
        <p:guide pos="38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409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0" Type="http://schemas.openxmlformats.org/officeDocument/2006/relationships/tags" Target="tags/tag75.xml"/><Relationship Id="rId3" Type="http://schemas.openxmlformats.org/officeDocument/2006/relationships/slideMaster" Target="slideMasters/slideMaster2.xml"/><Relationship Id="rId29" Type="http://schemas.openxmlformats.org/officeDocument/2006/relationships/commentAuthors" Target="commentAuthors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.emf"/><Relationship Id="rId8" Type="http://schemas.openxmlformats.org/officeDocument/2006/relationships/image" Target="../media/image23.emf"/><Relationship Id="rId7" Type="http://schemas.openxmlformats.org/officeDocument/2006/relationships/image" Target="../media/image22.emf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2" Type="http://schemas.openxmlformats.org/officeDocument/2006/relationships/image" Target="../media/image27.emf"/><Relationship Id="rId11" Type="http://schemas.openxmlformats.org/officeDocument/2006/relationships/image" Target="../media/image26.emf"/><Relationship Id="rId10" Type="http://schemas.openxmlformats.org/officeDocument/2006/relationships/image" Target="../media/image25.emf"/><Relationship Id="rId1" Type="http://schemas.openxmlformats.org/officeDocument/2006/relationships/image" Target="../media/image1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7DAF3-CCAD-49FF-849A-36D9A4D868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07F05B-8EA7-4EC5-934B-8DBE4E2E313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b="1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PingFang SC Regular" panose="020B0400000000000000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07F05B-8EA7-4EC5-934B-8DBE4E2E31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07F05B-8EA7-4EC5-934B-8DBE4E2E31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07F05B-8EA7-4EC5-934B-8DBE4E2E31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Рисунок 10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1999" cy="6862074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10378490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531011" y="6320641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77965" y="6320641"/>
            <a:ext cx="159022" cy="160799"/>
          </a:xfrm>
          <a:prstGeom prst="rect">
            <a:avLst/>
          </a:prstGeom>
        </p:spPr>
      </p:pic>
      <p:sp>
        <p:nvSpPr>
          <p:cNvPr id="10" name="Рисунок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5949950"/>
          </a:xfr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 userDrawn="1"/>
        </p:nvSpPr>
        <p:spPr>
          <a:xfrm>
            <a:off x="5787188" y="0"/>
            <a:ext cx="640481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10378490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3" name="Прямоугольник 2"/>
          <p:cNvSpPr/>
          <p:nvPr userDrawn="1"/>
        </p:nvSpPr>
        <p:spPr>
          <a:xfrm>
            <a:off x="11323951" y="1180287"/>
            <a:ext cx="5886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Lato" charset="0"/>
                <a:ea typeface="Lato" charset="0"/>
                <a:cs typeface="Lato" charset="0"/>
              </a:rPr>
              <a:t>0</a:t>
            </a:r>
            <a:fld id="{149B6D55-4680-4DC5-B665-330CCBA60EFE}" type="slidenum">
              <a:rPr lang="ru-RU" sz="1800" b="1" baseline="0" dirty="0" smtClean="0">
                <a:solidFill>
                  <a:schemeClr val="tx1"/>
                </a:solidFill>
                <a:latin typeface="Lato" charset="0"/>
                <a:ea typeface="Lato" charset="0"/>
                <a:cs typeface="Poppins SemiBold" panose="02000000000000000000" pitchFamily="2" charset="0"/>
              </a:rPr>
            </a:fld>
            <a:endParaRPr lang="ru-RU" sz="1000" dirty="0">
              <a:solidFill>
                <a:srgbClr val="0000ED"/>
              </a:solidFill>
              <a:latin typeface="Lato" charset="0"/>
              <a:ea typeface="Lato" charset="0"/>
              <a:cs typeface="Lato" charset="0"/>
            </a:endParaRPr>
          </a:p>
        </p:txBody>
      </p:sp>
      <p:cxnSp>
        <p:nvCxnSpPr>
          <p:cNvPr id="4" name="Прямая соединительная линия 3"/>
          <p:cNvCxnSpPr/>
          <p:nvPr userDrawn="1"/>
        </p:nvCxnSpPr>
        <p:spPr>
          <a:xfrm flipH="1">
            <a:off x="11547515" y="1717278"/>
            <a:ext cx="3416" cy="472239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 userDrawn="1"/>
        </p:nvSpPr>
        <p:spPr>
          <a:xfrm>
            <a:off x="531011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77965" y="225267"/>
            <a:ext cx="159022" cy="160799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9818122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0"/>
          </p:nvPr>
        </p:nvSpPr>
        <p:spPr>
          <a:xfrm>
            <a:off x="4865573" y="1549400"/>
            <a:ext cx="1889125" cy="3708400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8"/>
          <p:cNvSpPr>
            <a:spLocks noGrp="1"/>
          </p:cNvSpPr>
          <p:nvPr>
            <p:ph type="pic" sz="quarter" idx="11"/>
          </p:nvPr>
        </p:nvSpPr>
        <p:spPr>
          <a:xfrm>
            <a:off x="6745201" y="1549400"/>
            <a:ext cx="1889125" cy="3708400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8"/>
          <p:cNvSpPr>
            <a:spLocks noGrp="1"/>
          </p:cNvSpPr>
          <p:nvPr>
            <p:ph type="pic" sz="quarter" idx="12"/>
          </p:nvPr>
        </p:nvSpPr>
        <p:spPr>
          <a:xfrm>
            <a:off x="8634052" y="1549400"/>
            <a:ext cx="1889125" cy="3708400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10378490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1323951" y="1180287"/>
            <a:ext cx="5886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Lato" charset="0"/>
                <a:ea typeface="Lato" charset="0"/>
                <a:cs typeface="Lato" charset="0"/>
              </a:rPr>
              <a:t>0</a:t>
            </a:r>
            <a:fld id="{149B6D55-4680-4DC5-B665-330CCBA60EFE}" type="slidenum">
              <a:rPr lang="ru-RU" sz="1800" b="1" baseline="0" dirty="0" smtClean="0">
                <a:solidFill>
                  <a:schemeClr val="tx1"/>
                </a:solidFill>
                <a:latin typeface="Lato" charset="0"/>
                <a:ea typeface="Lato" charset="0"/>
                <a:cs typeface="Poppins SemiBold" panose="02000000000000000000" pitchFamily="2" charset="0"/>
              </a:rPr>
            </a:fld>
            <a:endParaRPr lang="ru-RU" sz="1000" dirty="0">
              <a:solidFill>
                <a:srgbClr val="0000ED"/>
              </a:solidFill>
              <a:latin typeface="Lato" charset="0"/>
              <a:ea typeface="Lato" charset="0"/>
              <a:cs typeface="Lato" charset="0"/>
            </a:endParaRPr>
          </a:p>
        </p:txBody>
      </p:sp>
      <p:cxnSp>
        <p:nvCxnSpPr>
          <p:cNvPr id="17" name="Прямая соединительная линия 16"/>
          <p:cNvCxnSpPr/>
          <p:nvPr userDrawn="1"/>
        </p:nvCxnSpPr>
        <p:spPr>
          <a:xfrm flipH="1">
            <a:off x="11547515" y="1717278"/>
            <a:ext cx="3416" cy="472239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 userDrawn="1"/>
        </p:nvSpPr>
        <p:spPr>
          <a:xfrm>
            <a:off x="531011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77965" y="225267"/>
            <a:ext cx="159022" cy="160799"/>
          </a:xfrm>
          <a:prstGeom prst="rect">
            <a:avLst/>
          </a:prstGeom>
        </p:spPr>
      </p:pic>
      <p:sp>
        <p:nvSpPr>
          <p:cNvPr id="20" name="TextBox 19"/>
          <p:cNvSpPr txBox="1"/>
          <p:nvPr userDrawn="1"/>
        </p:nvSpPr>
        <p:spPr>
          <a:xfrm>
            <a:off x="9818122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10193833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1323951" y="1180287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9B6D55-4680-4DC5-B665-330CCBA60EFE}" type="slidenum">
              <a:rPr lang="ru-RU" sz="1800" b="1" baseline="0" smtClean="0">
                <a:solidFill>
                  <a:schemeClr val="tx1"/>
                </a:solidFill>
                <a:latin typeface="Lato" charset="0"/>
                <a:ea typeface="Lato" charset="0"/>
                <a:cs typeface="Poppins SemiBold" panose="02000000000000000000" pitchFamily="2" charset="0"/>
              </a:rPr>
            </a:fld>
            <a:endParaRPr lang="ru-RU" sz="1000" dirty="0">
              <a:solidFill>
                <a:srgbClr val="0000ED"/>
              </a:solidFill>
              <a:latin typeface="Lato" charset="0"/>
              <a:ea typeface="Lato" charset="0"/>
              <a:cs typeface="Lato" charset="0"/>
            </a:endParaRPr>
          </a:p>
        </p:txBody>
      </p:sp>
      <p:cxnSp>
        <p:nvCxnSpPr>
          <p:cNvPr id="17" name="Прямая соединительная линия 16"/>
          <p:cNvCxnSpPr/>
          <p:nvPr userDrawn="1"/>
        </p:nvCxnSpPr>
        <p:spPr>
          <a:xfrm flipH="1">
            <a:off x="11547515" y="1717278"/>
            <a:ext cx="3416" cy="472239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 userDrawn="1"/>
        </p:nvSpPr>
        <p:spPr>
          <a:xfrm>
            <a:off x="531011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77965" y="225267"/>
            <a:ext cx="159022" cy="160799"/>
          </a:xfrm>
          <a:prstGeom prst="rect">
            <a:avLst/>
          </a:prstGeom>
        </p:spPr>
      </p:pic>
      <p:sp>
        <p:nvSpPr>
          <p:cNvPr id="20" name="TextBox 19"/>
          <p:cNvSpPr txBox="1"/>
          <p:nvPr userDrawn="1"/>
        </p:nvSpPr>
        <p:spPr>
          <a:xfrm>
            <a:off x="9818122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10193833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1323951" y="1180287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9B6D55-4680-4DC5-B665-330CCBA60EFE}" type="slidenum">
              <a:rPr lang="ru-RU" sz="1800" b="1" baseline="0" smtClean="0">
                <a:solidFill>
                  <a:schemeClr val="tx1"/>
                </a:solidFill>
                <a:latin typeface="Lato" charset="0"/>
                <a:ea typeface="Lato" charset="0"/>
                <a:cs typeface="Poppins SemiBold" panose="02000000000000000000" pitchFamily="2" charset="0"/>
              </a:rPr>
            </a:fld>
            <a:endParaRPr lang="ru-RU" sz="1000" dirty="0">
              <a:solidFill>
                <a:srgbClr val="0000ED"/>
              </a:solidFill>
              <a:latin typeface="Lato" charset="0"/>
              <a:ea typeface="Lato" charset="0"/>
              <a:cs typeface="Lato" charset="0"/>
            </a:endParaRPr>
          </a:p>
        </p:txBody>
      </p:sp>
      <p:cxnSp>
        <p:nvCxnSpPr>
          <p:cNvPr id="9" name="Прямая соединительная линия 8"/>
          <p:cNvCxnSpPr/>
          <p:nvPr userDrawn="1"/>
        </p:nvCxnSpPr>
        <p:spPr>
          <a:xfrm flipH="1">
            <a:off x="11547515" y="1717278"/>
            <a:ext cx="3416" cy="472239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531011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77965" y="225267"/>
            <a:ext cx="159022" cy="160799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>
            <a:off x="9818122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sp>
        <p:nvSpPr>
          <p:cNvPr id="18" name="Рисунок 17"/>
          <p:cNvSpPr>
            <a:spLocks noGrp="1"/>
          </p:cNvSpPr>
          <p:nvPr>
            <p:ph type="pic" sz="quarter" idx="10"/>
          </p:nvPr>
        </p:nvSpPr>
        <p:spPr>
          <a:xfrm>
            <a:off x="961956" y="922338"/>
            <a:ext cx="4067311" cy="5148262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9" name="Рисунок 17"/>
          <p:cNvSpPr>
            <a:spLocks noGrp="1"/>
          </p:cNvSpPr>
          <p:nvPr>
            <p:ph type="pic" sz="quarter" idx="11"/>
          </p:nvPr>
        </p:nvSpPr>
        <p:spPr>
          <a:xfrm>
            <a:off x="5163843" y="922338"/>
            <a:ext cx="5769836" cy="2491422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0" name="Рисунок 17"/>
          <p:cNvSpPr>
            <a:spLocks noGrp="1"/>
          </p:cNvSpPr>
          <p:nvPr>
            <p:ph type="pic" sz="quarter" idx="12"/>
          </p:nvPr>
        </p:nvSpPr>
        <p:spPr>
          <a:xfrm>
            <a:off x="5163843" y="3544389"/>
            <a:ext cx="5769836" cy="2526211"/>
          </a:xfr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5399492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1323951" y="1180287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9B6D55-4680-4DC5-B665-330CCBA60EFE}" type="slidenum">
              <a:rPr lang="ru-RU" sz="1800" b="1" baseline="0" smtClean="0">
                <a:solidFill>
                  <a:schemeClr val="tx1"/>
                </a:solidFill>
                <a:latin typeface="Lato" charset="0"/>
                <a:ea typeface="Lato" charset="0"/>
                <a:cs typeface="Poppins SemiBold" panose="02000000000000000000" pitchFamily="2" charset="0"/>
              </a:rPr>
            </a:fld>
            <a:endParaRPr lang="ru-RU" sz="1000" dirty="0">
              <a:solidFill>
                <a:srgbClr val="0000ED"/>
              </a:solidFill>
              <a:latin typeface="Lato" charset="0"/>
              <a:ea typeface="Lato" charset="0"/>
              <a:cs typeface="Lato" charset="0"/>
            </a:endParaRPr>
          </a:p>
        </p:txBody>
      </p:sp>
      <p:cxnSp>
        <p:nvCxnSpPr>
          <p:cNvPr id="9" name="Прямая соединительная линия 8"/>
          <p:cNvCxnSpPr/>
          <p:nvPr userDrawn="1"/>
        </p:nvCxnSpPr>
        <p:spPr>
          <a:xfrm flipH="1">
            <a:off x="11547515" y="1717278"/>
            <a:ext cx="3416" cy="472239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531011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77965" y="225267"/>
            <a:ext cx="159022" cy="160799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>
            <a:off x="9818122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sp>
        <p:nvSpPr>
          <p:cNvPr id="14" name="Рисунок 13"/>
          <p:cNvSpPr>
            <a:spLocks noGrp="1"/>
          </p:cNvSpPr>
          <p:nvPr>
            <p:ph type="pic" sz="quarter" idx="10"/>
          </p:nvPr>
        </p:nvSpPr>
        <p:spPr>
          <a:xfrm>
            <a:off x="5905500" y="2310064"/>
            <a:ext cx="4895850" cy="3107754"/>
          </a:xfr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5399492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1323951" y="1180287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9B6D55-4680-4DC5-B665-330CCBA60EFE}" type="slidenum">
              <a:rPr lang="ru-RU" sz="1800" b="1" baseline="0" smtClean="0">
                <a:solidFill>
                  <a:schemeClr val="tx1"/>
                </a:solidFill>
                <a:latin typeface="Lato" charset="0"/>
                <a:ea typeface="Lato" charset="0"/>
                <a:cs typeface="Poppins SemiBold" panose="02000000000000000000" pitchFamily="2" charset="0"/>
              </a:rPr>
            </a:fld>
            <a:endParaRPr lang="ru-RU" sz="1000" dirty="0">
              <a:solidFill>
                <a:srgbClr val="0000ED"/>
              </a:solidFill>
              <a:latin typeface="Lato" charset="0"/>
              <a:ea typeface="Lato" charset="0"/>
              <a:cs typeface="Lato" charset="0"/>
            </a:endParaRPr>
          </a:p>
        </p:txBody>
      </p:sp>
      <p:cxnSp>
        <p:nvCxnSpPr>
          <p:cNvPr id="9" name="Прямая соединительная линия 8"/>
          <p:cNvCxnSpPr/>
          <p:nvPr userDrawn="1"/>
        </p:nvCxnSpPr>
        <p:spPr>
          <a:xfrm flipH="1">
            <a:off x="11547515" y="1717278"/>
            <a:ext cx="3416" cy="472239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531011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77965" y="225267"/>
            <a:ext cx="159022" cy="160799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>
            <a:off x="9818122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sp>
        <p:nvSpPr>
          <p:cNvPr id="14" name="Рисунок 13"/>
          <p:cNvSpPr>
            <a:spLocks noGrp="1"/>
          </p:cNvSpPr>
          <p:nvPr>
            <p:ph type="pic" sz="quarter" idx="10"/>
          </p:nvPr>
        </p:nvSpPr>
        <p:spPr>
          <a:xfrm>
            <a:off x="1518698" y="2544417"/>
            <a:ext cx="4126727" cy="2615980"/>
          </a:xfr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5390866" y="0"/>
            <a:ext cx="6801134" cy="6858000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531011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77965" y="225267"/>
            <a:ext cx="159022" cy="160799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210908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2242850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1"/>
          </p:nvPr>
        </p:nvSpPr>
        <p:spPr>
          <a:xfrm>
            <a:off x="4328652" y="1725561"/>
            <a:ext cx="2064774" cy="3613202"/>
          </a:xfr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19"/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3076072" cy="22860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7" name="Рисунок 19"/>
          <p:cNvSpPr>
            <a:spLocks noGrp="1"/>
          </p:cNvSpPr>
          <p:nvPr>
            <p:ph type="pic" sz="quarter" idx="11"/>
          </p:nvPr>
        </p:nvSpPr>
        <p:spPr>
          <a:xfrm>
            <a:off x="9172072" y="2286000"/>
            <a:ext cx="3011904" cy="2286000"/>
          </a:xfrm>
          <a:ln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19"/>
          <p:cNvSpPr>
            <a:spLocks noGrp="1"/>
          </p:cNvSpPr>
          <p:nvPr>
            <p:ph type="pic" sz="quarter" idx="12"/>
          </p:nvPr>
        </p:nvSpPr>
        <p:spPr>
          <a:xfrm>
            <a:off x="6108028" y="4572000"/>
            <a:ext cx="3064043" cy="22860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502436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49390" y="225267"/>
            <a:ext cx="159022" cy="160799"/>
          </a:xfrm>
          <a:prstGeom prst="rect">
            <a:avLst/>
          </a:prstGeom>
        </p:spPr>
      </p:pic>
      <p:sp>
        <p:nvSpPr>
          <p:cNvPr id="11" name="Прямоугольник 10"/>
          <p:cNvSpPr/>
          <p:nvPr userDrawn="1"/>
        </p:nvSpPr>
        <p:spPr>
          <a:xfrm>
            <a:off x="263563" y="1180287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9B6D55-4680-4DC5-B665-330CCBA60EFE}" type="slidenum">
              <a:rPr lang="ru-RU" sz="1800" b="1" baseline="0" smtClean="0">
                <a:solidFill>
                  <a:schemeClr val="tx1"/>
                </a:solidFill>
                <a:latin typeface="Lato" charset="0"/>
                <a:ea typeface="Lato" charset="0"/>
                <a:cs typeface="Poppins SemiBold" panose="02000000000000000000" pitchFamily="2" charset="0"/>
              </a:rPr>
            </a:fld>
            <a:endParaRPr lang="ru-RU" sz="1000" dirty="0">
              <a:solidFill>
                <a:srgbClr val="0000ED"/>
              </a:solidFill>
              <a:latin typeface="Lato" charset="0"/>
              <a:ea typeface="Lato" charset="0"/>
              <a:cs typeface="Lato" charset="0"/>
            </a:endParaRPr>
          </a:p>
        </p:txBody>
      </p:sp>
      <p:cxnSp>
        <p:nvCxnSpPr>
          <p:cNvPr id="12" name="Прямая соединительная линия 11"/>
          <p:cNvCxnSpPr/>
          <p:nvPr userDrawn="1"/>
        </p:nvCxnSpPr>
        <p:spPr>
          <a:xfrm flipH="1">
            <a:off x="487127" y="1717278"/>
            <a:ext cx="3416" cy="472239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 userDrawn="1"/>
        </p:nvSpPr>
        <p:spPr>
          <a:xfrm>
            <a:off x="150136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Рисунок 21"/>
          <p:cNvSpPr>
            <a:spLocks noGrp="1"/>
          </p:cNvSpPr>
          <p:nvPr>
            <p:ph type="pic" sz="quarter" idx="12"/>
          </p:nvPr>
        </p:nvSpPr>
        <p:spPr>
          <a:xfrm>
            <a:off x="-4011" y="4572000"/>
            <a:ext cx="3023936" cy="22860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7" name="Рисунок 21"/>
          <p:cNvSpPr>
            <a:spLocks noGrp="1"/>
          </p:cNvSpPr>
          <p:nvPr>
            <p:ph type="pic" sz="quarter" idx="14"/>
          </p:nvPr>
        </p:nvSpPr>
        <p:spPr>
          <a:xfrm>
            <a:off x="3019926" y="2286000"/>
            <a:ext cx="3092118" cy="22860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8" name="Рисунок 19"/>
          <p:cNvSpPr>
            <a:spLocks noGrp="1"/>
          </p:cNvSpPr>
          <p:nvPr>
            <p:ph type="pic" sz="quarter" idx="16"/>
          </p:nvPr>
        </p:nvSpPr>
        <p:spPr>
          <a:xfrm>
            <a:off x="6112044" y="0"/>
            <a:ext cx="3043988" cy="22860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9" name="Рисунок 21"/>
          <p:cNvSpPr>
            <a:spLocks noGrp="1"/>
          </p:cNvSpPr>
          <p:nvPr>
            <p:ph type="pic" sz="quarter" idx="18"/>
          </p:nvPr>
        </p:nvSpPr>
        <p:spPr>
          <a:xfrm>
            <a:off x="6112043" y="4572000"/>
            <a:ext cx="3043989" cy="22860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0" name="Рисунок 21"/>
          <p:cNvSpPr>
            <a:spLocks noGrp="1"/>
          </p:cNvSpPr>
          <p:nvPr>
            <p:ph type="pic" sz="quarter" idx="20"/>
          </p:nvPr>
        </p:nvSpPr>
        <p:spPr>
          <a:xfrm>
            <a:off x="9156032" y="2286000"/>
            <a:ext cx="3035968" cy="22860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1" name="Рисунок 1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011904" cy="2286000"/>
          </a:xfr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/>
          <p:cNvSpPr>
            <a:spLocks noGrp="1"/>
          </p:cNvSpPr>
          <p:nvPr>
            <p:ph type="pic" sz="quarter" idx="10"/>
          </p:nvPr>
        </p:nvSpPr>
        <p:spPr>
          <a:xfrm>
            <a:off x="2346679" y="4305554"/>
            <a:ext cx="1228015" cy="1228015"/>
          </a:xfrm>
          <a:prstGeom prst="ellipse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1"/>
          </p:nvPr>
        </p:nvSpPr>
        <p:spPr>
          <a:xfrm>
            <a:off x="5515236" y="4305554"/>
            <a:ext cx="1228015" cy="1228015"/>
          </a:xfrm>
          <a:prstGeom prst="ellipse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9" name="Рисунок 6"/>
          <p:cNvSpPr>
            <a:spLocks noGrp="1"/>
          </p:cNvSpPr>
          <p:nvPr>
            <p:ph type="pic" sz="quarter" idx="12"/>
          </p:nvPr>
        </p:nvSpPr>
        <p:spPr>
          <a:xfrm>
            <a:off x="8670145" y="4305554"/>
            <a:ext cx="1228015" cy="1228015"/>
          </a:xfrm>
          <a:prstGeom prst="ellipse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5399492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1323951" y="1180287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9B6D55-4680-4DC5-B665-330CCBA60EFE}" type="slidenum">
              <a:rPr lang="ru-RU" sz="1800" b="1" baseline="0" smtClean="0">
                <a:solidFill>
                  <a:schemeClr val="tx1"/>
                </a:solidFill>
                <a:latin typeface="Lato" charset="0"/>
                <a:ea typeface="Lato" charset="0"/>
                <a:cs typeface="Poppins SemiBold" panose="02000000000000000000" pitchFamily="2" charset="0"/>
              </a:rPr>
            </a:fld>
            <a:endParaRPr lang="ru-RU" sz="1000" dirty="0">
              <a:solidFill>
                <a:srgbClr val="0000ED"/>
              </a:solidFill>
              <a:latin typeface="Lato" charset="0"/>
              <a:ea typeface="Lato" charset="0"/>
              <a:cs typeface="Lato" charset="0"/>
            </a:endParaRPr>
          </a:p>
        </p:txBody>
      </p:sp>
      <p:cxnSp>
        <p:nvCxnSpPr>
          <p:cNvPr id="12" name="Прямая соединительная линия 11"/>
          <p:cNvCxnSpPr/>
          <p:nvPr userDrawn="1"/>
        </p:nvCxnSpPr>
        <p:spPr>
          <a:xfrm flipH="1">
            <a:off x="11547515" y="1717278"/>
            <a:ext cx="3416" cy="472239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 userDrawn="1"/>
        </p:nvSpPr>
        <p:spPr>
          <a:xfrm>
            <a:off x="531011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77965" y="225267"/>
            <a:ext cx="159022" cy="160799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9818122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/>
          <p:cNvSpPr>
            <a:spLocks noGrp="1"/>
          </p:cNvSpPr>
          <p:nvPr>
            <p:ph type="pic" sz="quarter" idx="10"/>
          </p:nvPr>
        </p:nvSpPr>
        <p:spPr>
          <a:xfrm>
            <a:off x="4176713" y="2433306"/>
            <a:ext cx="3711693" cy="207327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1"/>
          </p:nvPr>
        </p:nvSpPr>
        <p:spPr>
          <a:xfrm>
            <a:off x="7888407" y="2433306"/>
            <a:ext cx="4303594" cy="207327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9" name="Рисунок 6"/>
          <p:cNvSpPr>
            <a:spLocks noGrp="1"/>
          </p:cNvSpPr>
          <p:nvPr>
            <p:ph type="pic" sz="quarter" idx="12"/>
          </p:nvPr>
        </p:nvSpPr>
        <p:spPr>
          <a:xfrm>
            <a:off x="0" y="2433306"/>
            <a:ext cx="4176712" cy="207327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5399492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531011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77965" y="225267"/>
            <a:ext cx="159022" cy="160799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9818122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10"/>
          <p:cNvSpPr>
            <a:spLocks noGrp="1"/>
          </p:cNvSpPr>
          <p:nvPr>
            <p:ph type="pic" sz="quarter" idx="10" hasCustomPrompt="1"/>
          </p:nvPr>
        </p:nvSpPr>
        <p:spPr>
          <a:xfrm>
            <a:off x="4733241" y="-11740"/>
            <a:ext cx="7455071" cy="6888789"/>
          </a:xfrm>
          <a:custGeom>
            <a:avLst/>
            <a:gdLst>
              <a:gd name="connsiteX0" fmla="*/ 0 w 6885748"/>
              <a:gd name="connsiteY0" fmla="*/ 0 h 6857999"/>
              <a:gd name="connsiteX1" fmla="*/ 6885748 w 6885748"/>
              <a:gd name="connsiteY1" fmla="*/ 0 h 6857999"/>
              <a:gd name="connsiteX2" fmla="*/ 6885748 w 6885748"/>
              <a:gd name="connsiteY2" fmla="*/ 6857999 h 6857999"/>
              <a:gd name="connsiteX3" fmla="*/ 0 w 6885748"/>
              <a:gd name="connsiteY3" fmla="*/ 6857999 h 6857999"/>
              <a:gd name="connsiteX4" fmla="*/ 0 w 6885748"/>
              <a:gd name="connsiteY4" fmla="*/ 0 h 6857999"/>
              <a:gd name="connsiteX0-1" fmla="*/ 2362200 w 6885748"/>
              <a:gd name="connsiteY0-2" fmla="*/ 0 h 6857999"/>
              <a:gd name="connsiteX1-3" fmla="*/ 6885748 w 6885748"/>
              <a:gd name="connsiteY1-4" fmla="*/ 0 h 6857999"/>
              <a:gd name="connsiteX2-5" fmla="*/ 6885748 w 6885748"/>
              <a:gd name="connsiteY2-6" fmla="*/ 6857999 h 6857999"/>
              <a:gd name="connsiteX3-7" fmla="*/ 0 w 6885748"/>
              <a:gd name="connsiteY3-8" fmla="*/ 6857999 h 6857999"/>
              <a:gd name="connsiteX4-9" fmla="*/ 2362200 w 6885748"/>
              <a:gd name="connsiteY4-10" fmla="*/ 0 h 6857999"/>
              <a:gd name="connsiteX0-11" fmla="*/ 2085975 w 6885748"/>
              <a:gd name="connsiteY0-12" fmla="*/ 0 h 6857999"/>
              <a:gd name="connsiteX1-13" fmla="*/ 6885748 w 6885748"/>
              <a:gd name="connsiteY1-14" fmla="*/ 0 h 6857999"/>
              <a:gd name="connsiteX2-15" fmla="*/ 6885748 w 6885748"/>
              <a:gd name="connsiteY2-16" fmla="*/ 6857999 h 6857999"/>
              <a:gd name="connsiteX3-17" fmla="*/ 0 w 6885748"/>
              <a:gd name="connsiteY3-18" fmla="*/ 6857999 h 6857999"/>
              <a:gd name="connsiteX4-19" fmla="*/ 2085975 w 6885748"/>
              <a:gd name="connsiteY4-20" fmla="*/ 0 h 6857999"/>
              <a:gd name="connsiteX0-21" fmla="*/ 3267075 w 8066848"/>
              <a:gd name="connsiteY0-22" fmla="*/ 0 h 6857999"/>
              <a:gd name="connsiteX1-23" fmla="*/ 8066848 w 8066848"/>
              <a:gd name="connsiteY1-24" fmla="*/ 0 h 6857999"/>
              <a:gd name="connsiteX2-25" fmla="*/ 8066848 w 8066848"/>
              <a:gd name="connsiteY2-26" fmla="*/ 6857999 h 6857999"/>
              <a:gd name="connsiteX3-27" fmla="*/ 0 w 8066848"/>
              <a:gd name="connsiteY3-28" fmla="*/ 6857999 h 6857999"/>
              <a:gd name="connsiteX4-29" fmla="*/ 3267075 w 8066848"/>
              <a:gd name="connsiteY4-30" fmla="*/ 0 h 6857999"/>
              <a:gd name="connsiteX0-31" fmla="*/ 2695575 w 8066848"/>
              <a:gd name="connsiteY0-32" fmla="*/ 9525 h 6857999"/>
              <a:gd name="connsiteX1-33" fmla="*/ 8066848 w 8066848"/>
              <a:gd name="connsiteY1-34" fmla="*/ 0 h 6857999"/>
              <a:gd name="connsiteX2-35" fmla="*/ 8066848 w 8066848"/>
              <a:gd name="connsiteY2-36" fmla="*/ 6857999 h 6857999"/>
              <a:gd name="connsiteX3-37" fmla="*/ 0 w 8066848"/>
              <a:gd name="connsiteY3-38" fmla="*/ 6857999 h 6857999"/>
              <a:gd name="connsiteX4-39" fmla="*/ 2695575 w 8066848"/>
              <a:gd name="connsiteY4-40" fmla="*/ 9525 h 6857999"/>
              <a:gd name="connsiteX0-41" fmla="*/ 2705100 w 8066848"/>
              <a:gd name="connsiteY0-42" fmla="*/ 9525 h 6857999"/>
              <a:gd name="connsiteX1-43" fmla="*/ 8066848 w 8066848"/>
              <a:gd name="connsiteY1-44" fmla="*/ 0 h 6857999"/>
              <a:gd name="connsiteX2-45" fmla="*/ 8066848 w 8066848"/>
              <a:gd name="connsiteY2-46" fmla="*/ 6857999 h 6857999"/>
              <a:gd name="connsiteX3-47" fmla="*/ 0 w 8066848"/>
              <a:gd name="connsiteY3-48" fmla="*/ 6857999 h 6857999"/>
              <a:gd name="connsiteX4-49" fmla="*/ 2705100 w 8066848"/>
              <a:gd name="connsiteY4-50" fmla="*/ 9525 h 6857999"/>
              <a:gd name="connsiteX0-51" fmla="*/ 2819400 w 8066848"/>
              <a:gd name="connsiteY0-52" fmla="*/ 276225 h 6857999"/>
              <a:gd name="connsiteX1-53" fmla="*/ 8066848 w 8066848"/>
              <a:gd name="connsiteY1-54" fmla="*/ 0 h 6857999"/>
              <a:gd name="connsiteX2-55" fmla="*/ 8066848 w 8066848"/>
              <a:gd name="connsiteY2-56" fmla="*/ 6857999 h 6857999"/>
              <a:gd name="connsiteX3-57" fmla="*/ 0 w 8066848"/>
              <a:gd name="connsiteY3-58" fmla="*/ 6857999 h 6857999"/>
              <a:gd name="connsiteX4-59" fmla="*/ 2819400 w 8066848"/>
              <a:gd name="connsiteY4-60" fmla="*/ 276225 h 6857999"/>
              <a:gd name="connsiteX0-61" fmla="*/ 2705100 w 8066848"/>
              <a:gd name="connsiteY0-62" fmla="*/ 0 h 6867524"/>
              <a:gd name="connsiteX1-63" fmla="*/ 8066848 w 8066848"/>
              <a:gd name="connsiteY1-64" fmla="*/ 9525 h 6867524"/>
              <a:gd name="connsiteX2-65" fmla="*/ 8066848 w 8066848"/>
              <a:gd name="connsiteY2-66" fmla="*/ 6867524 h 6867524"/>
              <a:gd name="connsiteX3-67" fmla="*/ 0 w 8066848"/>
              <a:gd name="connsiteY3-68" fmla="*/ 6867524 h 6867524"/>
              <a:gd name="connsiteX4-69" fmla="*/ 2705100 w 8066848"/>
              <a:gd name="connsiteY4-70" fmla="*/ 0 h 6867524"/>
              <a:gd name="connsiteX0-71" fmla="*/ 2171700 w 7533448"/>
              <a:gd name="connsiteY0-72" fmla="*/ 0 h 6867524"/>
              <a:gd name="connsiteX1-73" fmla="*/ 7533448 w 7533448"/>
              <a:gd name="connsiteY1-74" fmla="*/ 9525 h 6867524"/>
              <a:gd name="connsiteX2-75" fmla="*/ 7533448 w 7533448"/>
              <a:gd name="connsiteY2-76" fmla="*/ 6867524 h 6867524"/>
              <a:gd name="connsiteX3-77" fmla="*/ 0 w 7533448"/>
              <a:gd name="connsiteY3-78" fmla="*/ 6857999 h 6867524"/>
              <a:gd name="connsiteX4-79" fmla="*/ 2171700 w 7533448"/>
              <a:gd name="connsiteY4-80" fmla="*/ 0 h 6867524"/>
              <a:gd name="connsiteX0-81" fmla="*/ 2171700 w 7533448"/>
              <a:gd name="connsiteY0-82" fmla="*/ 0 h 6877049"/>
              <a:gd name="connsiteX1-83" fmla="*/ 7533448 w 7533448"/>
              <a:gd name="connsiteY1-84" fmla="*/ 9525 h 6877049"/>
              <a:gd name="connsiteX2-85" fmla="*/ 7533448 w 7533448"/>
              <a:gd name="connsiteY2-86" fmla="*/ 6867524 h 6877049"/>
              <a:gd name="connsiteX3-87" fmla="*/ 0 w 7533448"/>
              <a:gd name="connsiteY3-88" fmla="*/ 6877049 h 6877049"/>
              <a:gd name="connsiteX4-89" fmla="*/ 2171700 w 7533448"/>
              <a:gd name="connsiteY4-90" fmla="*/ 0 h 6877049"/>
              <a:gd name="connsiteX0-91" fmla="*/ 2093323 w 7455071"/>
              <a:gd name="connsiteY0-92" fmla="*/ 0 h 6885758"/>
              <a:gd name="connsiteX1-93" fmla="*/ 7455071 w 7455071"/>
              <a:gd name="connsiteY1-94" fmla="*/ 9525 h 6885758"/>
              <a:gd name="connsiteX2-95" fmla="*/ 7455071 w 7455071"/>
              <a:gd name="connsiteY2-96" fmla="*/ 6867524 h 6885758"/>
              <a:gd name="connsiteX3-97" fmla="*/ 0 w 7455071"/>
              <a:gd name="connsiteY3-98" fmla="*/ 6885758 h 6885758"/>
              <a:gd name="connsiteX4-99" fmla="*/ 2093323 w 7455071"/>
              <a:gd name="connsiteY4-100" fmla="*/ 0 h 6885758"/>
              <a:gd name="connsiteX0-101" fmla="*/ 2093323 w 7455071"/>
              <a:gd name="connsiteY0-102" fmla="*/ 0 h 6877049"/>
              <a:gd name="connsiteX1-103" fmla="*/ 7455071 w 7455071"/>
              <a:gd name="connsiteY1-104" fmla="*/ 9525 h 6877049"/>
              <a:gd name="connsiteX2-105" fmla="*/ 7455071 w 7455071"/>
              <a:gd name="connsiteY2-106" fmla="*/ 6867524 h 6877049"/>
              <a:gd name="connsiteX3-107" fmla="*/ 0 w 7455071"/>
              <a:gd name="connsiteY3-108" fmla="*/ 6877049 h 6877049"/>
              <a:gd name="connsiteX4-109" fmla="*/ 2093323 w 7455071"/>
              <a:gd name="connsiteY4-110" fmla="*/ 0 h 6877049"/>
              <a:gd name="connsiteX0-111" fmla="*/ 2093323 w 7455071"/>
              <a:gd name="connsiteY0-112" fmla="*/ 0 h 6877049"/>
              <a:gd name="connsiteX1-113" fmla="*/ 6593833 w 7455071"/>
              <a:gd name="connsiteY1-114" fmla="*/ 413562 h 6877049"/>
              <a:gd name="connsiteX2-115" fmla="*/ 7455071 w 7455071"/>
              <a:gd name="connsiteY2-116" fmla="*/ 6867524 h 6877049"/>
              <a:gd name="connsiteX3-117" fmla="*/ 0 w 7455071"/>
              <a:gd name="connsiteY3-118" fmla="*/ 6877049 h 6877049"/>
              <a:gd name="connsiteX4-119" fmla="*/ 2093323 w 7455071"/>
              <a:gd name="connsiteY4-120" fmla="*/ 0 h 6877049"/>
              <a:gd name="connsiteX0-121" fmla="*/ 2093323 w 7455071"/>
              <a:gd name="connsiteY0-122" fmla="*/ 11740 h 6888789"/>
              <a:gd name="connsiteX1-123" fmla="*/ 7455071 w 7455071"/>
              <a:gd name="connsiteY1-124" fmla="*/ 0 h 6888789"/>
              <a:gd name="connsiteX2-125" fmla="*/ 7455071 w 7455071"/>
              <a:gd name="connsiteY2-126" fmla="*/ 6879264 h 6888789"/>
              <a:gd name="connsiteX3-127" fmla="*/ 0 w 7455071"/>
              <a:gd name="connsiteY3-128" fmla="*/ 6888789 h 6888789"/>
              <a:gd name="connsiteX4-129" fmla="*/ 2093323 w 7455071"/>
              <a:gd name="connsiteY4-130" fmla="*/ 11740 h 68887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455071" h="6888789">
                <a:moveTo>
                  <a:pt x="2093323" y="11740"/>
                </a:moveTo>
                <a:lnTo>
                  <a:pt x="7455071" y="0"/>
                </a:lnTo>
                <a:lnTo>
                  <a:pt x="7455071" y="6879264"/>
                </a:lnTo>
                <a:lnTo>
                  <a:pt x="0" y="6888789"/>
                </a:lnTo>
                <a:lnTo>
                  <a:pt x="2093323" y="1174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         </a:t>
            </a:r>
            <a:endParaRPr lang="ru-RU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502436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49390" y="225267"/>
            <a:ext cx="159022" cy="160799"/>
          </a:xfrm>
          <a:prstGeom prst="rect">
            <a:avLst/>
          </a:prstGeom>
        </p:spPr>
      </p:pic>
      <p:sp>
        <p:nvSpPr>
          <p:cNvPr id="5" name="Прямоугольник 4"/>
          <p:cNvSpPr/>
          <p:nvPr userDrawn="1"/>
        </p:nvSpPr>
        <p:spPr>
          <a:xfrm>
            <a:off x="263563" y="1180287"/>
            <a:ext cx="5886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Lato" charset="0"/>
                <a:ea typeface="Lato" charset="0"/>
                <a:cs typeface="Lato" charset="0"/>
              </a:rPr>
              <a:t>0</a:t>
            </a:r>
            <a:fld id="{149B6D55-4680-4DC5-B665-330CCBA60EFE}" type="slidenum">
              <a:rPr lang="ru-RU" sz="1800" b="1" baseline="0" dirty="0" smtClean="0">
                <a:solidFill>
                  <a:schemeClr val="tx1"/>
                </a:solidFill>
                <a:latin typeface="Lato" charset="0"/>
                <a:ea typeface="Lato" charset="0"/>
                <a:cs typeface="Poppins SemiBold" panose="02000000000000000000" pitchFamily="2" charset="0"/>
              </a:rPr>
            </a:fld>
            <a:endParaRPr lang="ru-RU" sz="1000" dirty="0">
              <a:solidFill>
                <a:srgbClr val="0000ED"/>
              </a:solidFill>
              <a:latin typeface="Lato" charset="0"/>
              <a:ea typeface="Lato" charset="0"/>
              <a:cs typeface="Lato" charset="0"/>
            </a:endParaRPr>
          </a:p>
        </p:txBody>
      </p:sp>
      <p:cxnSp>
        <p:nvCxnSpPr>
          <p:cNvPr id="6" name="Прямая соединительная линия 5"/>
          <p:cNvCxnSpPr/>
          <p:nvPr userDrawn="1"/>
        </p:nvCxnSpPr>
        <p:spPr>
          <a:xfrm flipH="1">
            <a:off x="487127" y="1717278"/>
            <a:ext cx="3416" cy="472239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150136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2242850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10"/>
          <p:cNvSpPr>
            <a:spLocks noGrp="1"/>
          </p:cNvSpPr>
          <p:nvPr>
            <p:ph type="pic" sz="quarter" idx="10" hasCustomPrompt="1"/>
          </p:nvPr>
        </p:nvSpPr>
        <p:spPr>
          <a:xfrm>
            <a:off x="4733241" y="-11740"/>
            <a:ext cx="7455071" cy="6888789"/>
          </a:xfrm>
          <a:custGeom>
            <a:avLst/>
            <a:gdLst>
              <a:gd name="connsiteX0" fmla="*/ 0 w 6885748"/>
              <a:gd name="connsiteY0" fmla="*/ 0 h 6857999"/>
              <a:gd name="connsiteX1" fmla="*/ 6885748 w 6885748"/>
              <a:gd name="connsiteY1" fmla="*/ 0 h 6857999"/>
              <a:gd name="connsiteX2" fmla="*/ 6885748 w 6885748"/>
              <a:gd name="connsiteY2" fmla="*/ 6857999 h 6857999"/>
              <a:gd name="connsiteX3" fmla="*/ 0 w 6885748"/>
              <a:gd name="connsiteY3" fmla="*/ 6857999 h 6857999"/>
              <a:gd name="connsiteX4" fmla="*/ 0 w 6885748"/>
              <a:gd name="connsiteY4" fmla="*/ 0 h 6857999"/>
              <a:gd name="connsiteX0-1" fmla="*/ 2362200 w 6885748"/>
              <a:gd name="connsiteY0-2" fmla="*/ 0 h 6857999"/>
              <a:gd name="connsiteX1-3" fmla="*/ 6885748 w 6885748"/>
              <a:gd name="connsiteY1-4" fmla="*/ 0 h 6857999"/>
              <a:gd name="connsiteX2-5" fmla="*/ 6885748 w 6885748"/>
              <a:gd name="connsiteY2-6" fmla="*/ 6857999 h 6857999"/>
              <a:gd name="connsiteX3-7" fmla="*/ 0 w 6885748"/>
              <a:gd name="connsiteY3-8" fmla="*/ 6857999 h 6857999"/>
              <a:gd name="connsiteX4-9" fmla="*/ 2362200 w 6885748"/>
              <a:gd name="connsiteY4-10" fmla="*/ 0 h 6857999"/>
              <a:gd name="connsiteX0-11" fmla="*/ 2085975 w 6885748"/>
              <a:gd name="connsiteY0-12" fmla="*/ 0 h 6857999"/>
              <a:gd name="connsiteX1-13" fmla="*/ 6885748 w 6885748"/>
              <a:gd name="connsiteY1-14" fmla="*/ 0 h 6857999"/>
              <a:gd name="connsiteX2-15" fmla="*/ 6885748 w 6885748"/>
              <a:gd name="connsiteY2-16" fmla="*/ 6857999 h 6857999"/>
              <a:gd name="connsiteX3-17" fmla="*/ 0 w 6885748"/>
              <a:gd name="connsiteY3-18" fmla="*/ 6857999 h 6857999"/>
              <a:gd name="connsiteX4-19" fmla="*/ 2085975 w 6885748"/>
              <a:gd name="connsiteY4-20" fmla="*/ 0 h 6857999"/>
              <a:gd name="connsiteX0-21" fmla="*/ 3267075 w 8066848"/>
              <a:gd name="connsiteY0-22" fmla="*/ 0 h 6857999"/>
              <a:gd name="connsiteX1-23" fmla="*/ 8066848 w 8066848"/>
              <a:gd name="connsiteY1-24" fmla="*/ 0 h 6857999"/>
              <a:gd name="connsiteX2-25" fmla="*/ 8066848 w 8066848"/>
              <a:gd name="connsiteY2-26" fmla="*/ 6857999 h 6857999"/>
              <a:gd name="connsiteX3-27" fmla="*/ 0 w 8066848"/>
              <a:gd name="connsiteY3-28" fmla="*/ 6857999 h 6857999"/>
              <a:gd name="connsiteX4-29" fmla="*/ 3267075 w 8066848"/>
              <a:gd name="connsiteY4-30" fmla="*/ 0 h 6857999"/>
              <a:gd name="connsiteX0-31" fmla="*/ 2695575 w 8066848"/>
              <a:gd name="connsiteY0-32" fmla="*/ 9525 h 6857999"/>
              <a:gd name="connsiteX1-33" fmla="*/ 8066848 w 8066848"/>
              <a:gd name="connsiteY1-34" fmla="*/ 0 h 6857999"/>
              <a:gd name="connsiteX2-35" fmla="*/ 8066848 w 8066848"/>
              <a:gd name="connsiteY2-36" fmla="*/ 6857999 h 6857999"/>
              <a:gd name="connsiteX3-37" fmla="*/ 0 w 8066848"/>
              <a:gd name="connsiteY3-38" fmla="*/ 6857999 h 6857999"/>
              <a:gd name="connsiteX4-39" fmla="*/ 2695575 w 8066848"/>
              <a:gd name="connsiteY4-40" fmla="*/ 9525 h 6857999"/>
              <a:gd name="connsiteX0-41" fmla="*/ 2705100 w 8066848"/>
              <a:gd name="connsiteY0-42" fmla="*/ 9525 h 6857999"/>
              <a:gd name="connsiteX1-43" fmla="*/ 8066848 w 8066848"/>
              <a:gd name="connsiteY1-44" fmla="*/ 0 h 6857999"/>
              <a:gd name="connsiteX2-45" fmla="*/ 8066848 w 8066848"/>
              <a:gd name="connsiteY2-46" fmla="*/ 6857999 h 6857999"/>
              <a:gd name="connsiteX3-47" fmla="*/ 0 w 8066848"/>
              <a:gd name="connsiteY3-48" fmla="*/ 6857999 h 6857999"/>
              <a:gd name="connsiteX4-49" fmla="*/ 2705100 w 8066848"/>
              <a:gd name="connsiteY4-50" fmla="*/ 9525 h 6857999"/>
              <a:gd name="connsiteX0-51" fmla="*/ 2819400 w 8066848"/>
              <a:gd name="connsiteY0-52" fmla="*/ 276225 h 6857999"/>
              <a:gd name="connsiteX1-53" fmla="*/ 8066848 w 8066848"/>
              <a:gd name="connsiteY1-54" fmla="*/ 0 h 6857999"/>
              <a:gd name="connsiteX2-55" fmla="*/ 8066848 w 8066848"/>
              <a:gd name="connsiteY2-56" fmla="*/ 6857999 h 6857999"/>
              <a:gd name="connsiteX3-57" fmla="*/ 0 w 8066848"/>
              <a:gd name="connsiteY3-58" fmla="*/ 6857999 h 6857999"/>
              <a:gd name="connsiteX4-59" fmla="*/ 2819400 w 8066848"/>
              <a:gd name="connsiteY4-60" fmla="*/ 276225 h 6857999"/>
              <a:gd name="connsiteX0-61" fmla="*/ 2705100 w 8066848"/>
              <a:gd name="connsiteY0-62" fmla="*/ 0 h 6867524"/>
              <a:gd name="connsiteX1-63" fmla="*/ 8066848 w 8066848"/>
              <a:gd name="connsiteY1-64" fmla="*/ 9525 h 6867524"/>
              <a:gd name="connsiteX2-65" fmla="*/ 8066848 w 8066848"/>
              <a:gd name="connsiteY2-66" fmla="*/ 6867524 h 6867524"/>
              <a:gd name="connsiteX3-67" fmla="*/ 0 w 8066848"/>
              <a:gd name="connsiteY3-68" fmla="*/ 6867524 h 6867524"/>
              <a:gd name="connsiteX4-69" fmla="*/ 2705100 w 8066848"/>
              <a:gd name="connsiteY4-70" fmla="*/ 0 h 6867524"/>
              <a:gd name="connsiteX0-71" fmla="*/ 2171700 w 7533448"/>
              <a:gd name="connsiteY0-72" fmla="*/ 0 h 6867524"/>
              <a:gd name="connsiteX1-73" fmla="*/ 7533448 w 7533448"/>
              <a:gd name="connsiteY1-74" fmla="*/ 9525 h 6867524"/>
              <a:gd name="connsiteX2-75" fmla="*/ 7533448 w 7533448"/>
              <a:gd name="connsiteY2-76" fmla="*/ 6867524 h 6867524"/>
              <a:gd name="connsiteX3-77" fmla="*/ 0 w 7533448"/>
              <a:gd name="connsiteY3-78" fmla="*/ 6857999 h 6867524"/>
              <a:gd name="connsiteX4-79" fmla="*/ 2171700 w 7533448"/>
              <a:gd name="connsiteY4-80" fmla="*/ 0 h 6867524"/>
              <a:gd name="connsiteX0-81" fmla="*/ 2171700 w 7533448"/>
              <a:gd name="connsiteY0-82" fmla="*/ 0 h 6877049"/>
              <a:gd name="connsiteX1-83" fmla="*/ 7533448 w 7533448"/>
              <a:gd name="connsiteY1-84" fmla="*/ 9525 h 6877049"/>
              <a:gd name="connsiteX2-85" fmla="*/ 7533448 w 7533448"/>
              <a:gd name="connsiteY2-86" fmla="*/ 6867524 h 6877049"/>
              <a:gd name="connsiteX3-87" fmla="*/ 0 w 7533448"/>
              <a:gd name="connsiteY3-88" fmla="*/ 6877049 h 6877049"/>
              <a:gd name="connsiteX4-89" fmla="*/ 2171700 w 7533448"/>
              <a:gd name="connsiteY4-90" fmla="*/ 0 h 6877049"/>
              <a:gd name="connsiteX0-91" fmla="*/ 2093323 w 7455071"/>
              <a:gd name="connsiteY0-92" fmla="*/ 0 h 6885758"/>
              <a:gd name="connsiteX1-93" fmla="*/ 7455071 w 7455071"/>
              <a:gd name="connsiteY1-94" fmla="*/ 9525 h 6885758"/>
              <a:gd name="connsiteX2-95" fmla="*/ 7455071 w 7455071"/>
              <a:gd name="connsiteY2-96" fmla="*/ 6867524 h 6885758"/>
              <a:gd name="connsiteX3-97" fmla="*/ 0 w 7455071"/>
              <a:gd name="connsiteY3-98" fmla="*/ 6885758 h 6885758"/>
              <a:gd name="connsiteX4-99" fmla="*/ 2093323 w 7455071"/>
              <a:gd name="connsiteY4-100" fmla="*/ 0 h 6885758"/>
              <a:gd name="connsiteX0-101" fmla="*/ 2093323 w 7455071"/>
              <a:gd name="connsiteY0-102" fmla="*/ 0 h 6877049"/>
              <a:gd name="connsiteX1-103" fmla="*/ 7455071 w 7455071"/>
              <a:gd name="connsiteY1-104" fmla="*/ 9525 h 6877049"/>
              <a:gd name="connsiteX2-105" fmla="*/ 7455071 w 7455071"/>
              <a:gd name="connsiteY2-106" fmla="*/ 6867524 h 6877049"/>
              <a:gd name="connsiteX3-107" fmla="*/ 0 w 7455071"/>
              <a:gd name="connsiteY3-108" fmla="*/ 6877049 h 6877049"/>
              <a:gd name="connsiteX4-109" fmla="*/ 2093323 w 7455071"/>
              <a:gd name="connsiteY4-110" fmla="*/ 0 h 6877049"/>
              <a:gd name="connsiteX0-111" fmla="*/ 2093323 w 7455071"/>
              <a:gd name="connsiteY0-112" fmla="*/ 0 h 6877049"/>
              <a:gd name="connsiteX1-113" fmla="*/ 6593833 w 7455071"/>
              <a:gd name="connsiteY1-114" fmla="*/ 413562 h 6877049"/>
              <a:gd name="connsiteX2-115" fmla="*/ 7455071 w 7455071"/>
              <a:gd name="connsiteY2-116" fmla="*/ 6867524 h 6877049"/>
              <a:gd name="connsiteX3-117" fmla="*/ 0 w 7455071"/>
              <a:gd name="connsiteY3-118" fmla="*/ 6877049 h 6877049"/>
              <a:gd name="connsiteX4-119" fmla="*/ 2093323 w 7455071"/>
              <a:gd name="connsiteY4-120" fmla="*/ 0 h 6877049"/>
              <a:gd name="connsiteX0-121" fmla="*/ 2093323 w 7455071"/>
              <a:gd name="connsiteY0-122" fmla="*/ 11740 h 6888789"/>
              <a:gd name="connsiteX1-123" fmla="*/ 7455071 w 7455071"/>
              <a:gd name="connsiteY1-124" fmla="*/ 0 h 6888789"/>
              <a:gd name="connsiteX2-125" fmla="*/ 7455071 w 7455071"/>
              <a:gd name="connsiteY2-126" fmla="*/ 6879264 h 6888789"/>
              <a:gd name="connsiteX3-127" fmla="*/ 0 w 7455071"/>
              <a:gd name="connsiteY3-128" fmla="*/ 6888789 h 6888789"/>
              <a:gd name="connsiteX4-129" fmla="*/ 2093323 w 7455071"/>
              <a:gd name="connsiteY4-130" fmla="*/ 11740 h 68887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455071" h="6888789">
                <a:moveTo>
                  <a:pt x="2093323" y="11740"/>
                </a:moveTo>
                <a:lnTo>
                  <a:pt x="7455071" y="0"/>
                </a:lnTo>
                <a:lnTo>
                  <a:pt x="7455071" y="6879264"/>
                </a:lnTo>
                <a:lnTo>
                  <a:pt x="0" y="6888789"/>
                </a:lnTo>
                <a:lnTo>
                  <a:pt x="2093323" y="1174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  </a:t>
            </a:r>
            <a:endParaRPr lang="ru-RU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502436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49390" y="225267"/>
            <a:ext cx="159022" cy="160799"/>
          </a:xfrm>
          <a:prstGeom prst="rect">
            <a:avLst/>
          </a:prstGeom>
        </p:spPr>
      </p:pic>
      <p:sp>
        <p:nvSpPr>
          <p:cNvPr id="5" name="Прямоугольник 4"/>
          <p:cNvSpPr/>
          <p:nvPr userDrawn="1"/>
        </p:nvSpPr>
        <p:spPr>
          <a:xfrm>
            <a:off x="263563" y="1180287"/>
            <a:ext cx="5084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9B6D55-4680-4DC5-B665-330CCBA60EFE}" type="slidenum">
              <a:rPr lang="ru-RU" sz="1800" b="1" baseline="0" smtClean="0">
                <a:solidFill>
                  <a:schemeClr val="tx1"/>
                </a:solidFill>
                <a:latin typeface="Lato" charset="0"/>
                <a:ea typeface="Lato" charset="0"/>
                <a:cs typeface="Poppins SemiBold" panose="02000000000000000000" pitchFamily="2" charset="0"/>
              </a:rPr>
            </a:fld>
            <a:r>
              <a:rPr lang="en-US" sz="1800" dirty="0">
                <a:solidFill>
                  <a:srgbClr val="0000ED"/>
                </a:solidFill>
                <a:latin typeface="Lato" charset="0"/>
                <a:ea typeface="Lato" charset="0"/>
                <a:cs typeface="Lato" charset="0"/>
              </a:rPr>
              <a:t>.</a:t>
            </a:r>
            <a:endParaRPr lang="ru-RU" sz="1000" dirty="0">
              <a:solidFill>
                <a:srgbClr val="0000ED"/>
              </a:solidFill>
              <a:latin typeface="Lato" charset="0"/>
              <a:ea typeface="Lato" charset="0"/>
              <a:cs typeface="Lato" charset="0"/>
            </a:endParaRPr>
          </a:p>
        </p:txBody>
      </p:sp>
      <p:cxnSp>
        <p:nvCxnSpPr>
          <p:cNvPr id="6" name="Прямая соединительная линия 5"/>
          <p:cNvCxnSpPr/>
          <p:nvPr userDrawn="1"/>
        </p:nvCxnSpPr>
        <p:spPr>
          <a:xfrm flipH="1">
            <a:off x="487127" y="1717278"/>
            <a:ext cx="3416" cy="472239"/>
          </a:xfrm>
          <a:prstGeom prst="line">
            <a:avLst/>
          </a:prstGeom>
          <a:ln w="190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150136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2242850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2"/>
          <p:cNvSpPr>
            <a:spLocks noGrp="1"/>
          </p:cNvSpPr>
          <p:nvPr>
            <p:ph type="pic" sz="quarter" idx="10"/>
          </p:nvPr>
        </p:nvSpPr>
        <p:spPr>
          <a:xfrm>
            <a:off x="5390866" y="0"/>
            <a:ext cx="6801134" cy="6858000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531011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77965" y="225267"/>
            <a:ext cx="159022" cy="160799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210908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2242850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1"/>
          </p:nvPr>
        </p:nvSpPr>
        <p:spPr>
          <a:xfrm>
            <a:off x="7392538" y="1924336"/>
            <a:ext cx="2797790" cy="2834912"/>
          </a:xfrm>
          <a:prstGeom prst="diamond">
            <a:avLst/>
          </a:prstGeo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10378490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3" name="Прямоугольник 2"/>
          <p:cNvSpPr/>
          <p:nvPr userDrawn="1"/>
        </p:nvSpPr>
        <p:spPr>
          <a:xfrm>
            <a:off x="11323951" y="1180287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9B6D55-4680-4DC5-B665-330CCBA60EFE}" type="slidenum">
              <a:rPr lang="ru-RU" sz="1800" b="1" baseline="0" smtClean="0">
                <a:solidFill>
                  <a:schemeClr val="tx1"/>
                </a:solidFill>
                <a:latin typeface="Lato" charset="0"/>
                <a:ea typeface="Lato" charset="0"/>
                <a:cs typeface="Poppins SemiBold" panose="02000000000000000000" pitchFamily="2" charset="0"/>
              </a:rPr>
            </a:fld>
            <a:endParaRPr lang="ru-RU" sz="1000" dirty="0">
              <a:solidFill>
                <a:srgbClr val="0000ED"/>
              </a:solidFill>
              <a:latin typeface="Lato" charset="0"/>
              <a:ea typeface="Lato" charset="0"/>
              <a:cs typeface="Lato" charset="0"/>
            </a:endParaRPr>
          </a:p>
        </p:txBody>
      </p:sp>
      <p:cxnSp>
        <p:nvCxnSpPr>
          <p:cNvPr id="4" name="Прямая соединительная линия 3"/>
          <p:cNvCxnSpPr/>
          <p:nvPr userDrawn="1"/>
        </p:nvCxnSpPr>
        <p:spPr>
          <a:xfrm flipH="1">
            <a:off x="11547515" y="1717278"/>
            <a:ext cx="3416" cy="472239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 userDrawn="1"/>
        </p:nvSpPr>
        <p:spPr>
          <a:xfrm>
            <a:off x="531011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77965" y="225267"/>
            <a:ext cx="159022" cy="160799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9818122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0"/>
          </p:nvPr>
        </p:nvSpPr>
        <p:spPr>
          <a:xfrm>
            <a:off x="5399134" y="1828450"/>
            <a:ext cx="2212066" cy="3201100"/>
          </a:xfrm>
          <a:prstGeom prst="parallelogram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8"/>
          <p:cNvSpPr>
            <a:spLocks noGrp="1"/>
          </p:cNvSpPr>
          <p:nvPr>
            <p:ph type="pic" sz="quarter" idx="11"/>
          </p:nvPr>
        </p:nvSpPr>
        <p:spPr>
          <a:xfrm>
            <a:off x="7057829" y="1828450"/>
            <a:ext cx="2212066" cy="3201100"/>
          </a:xfrm>
          <a:prstGeom prst="parallelogram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8"/>
          <p:cNvSpPr>
            <a:spLocks noGrp="1"/>
          </p:cNvSpPr>
          <p:nvPr>
            <p:ph type="pic" sz="quarter" idx="12"/>
          </p:nvPr>
        </p:nvSpPr>
        <p:spPr>
          <a:xfrm>
            <a:off x="8705233" y="1828450"/>
            <a:ext cx="2212066" cy="3201100"/>
          </a:xfrm>
          <a:prstGeom prst="parallelogram">
            <a:avLst/>
          </a:prstGeo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8"/>
          <p:cNvSpPr>
            <a:spLocks noGrp="1"/>
          </p:cNvSpPr>
          <p:nvPr>
            <p:ph type="pic" sz="quarter" idx="10"/>
          </p:nvPr>
        </p:nvSpPr>
        <p:spPr>
          <a:xfrm>
            <a:off x="1681371" y="1996551"/>
            <a:ext cx="2212066" cy="3201100"/>
          </a:xfrm>
          <a:prstGeom prst="parallelogram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8"/>
          <p:cNvSpPr>
            <a:spLocks noGrp="1"/>
          </p:cNvSpPr>
          <p:nvPr>
            <p:ph type="pic" sz="quarter" idx="11"/>
          </p:nvPr>
        </p:nvSpPr>
        <p:spPr>
          <a:xfrm>
            <a:off x="3460384" y="1286685"/>
            <a:ext cx="2212066" cy="3201100"/>
          </a:xfrm>
          <a:prstGeom prst="parallelogram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8"/>
          <p:cNvSpPr>
            <a:spLocks noGrp="1"/>
          </p:cNvSpPr>
          <p:nvPr>
            <p:ph type="pic" sz="quarter" idx="12"/>
          </p:nvPr>
        </p:nvSpPr>
        <p:spPr>
          <a:xfrm>
            <a:off x="4999502" y="1996549"/>
            <a:ext cx="2212066" cy="3201100"/>
          </a:xfrm>
          <a:prstGeom prst="parallelogram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4" name="Рисунок 8"/>
          <p:cNvSpPr>
            <a:spLocks noGrp="1"/>
          </p:cNvSpPr>
          <p:nvPr>
            <p:ph type="pic" sz="quarter" idx="13"/>
          </p:nvPr>
        </p:nvSpPr>
        <p:spPr>
          <a:xfrm>
            <a:off x="6778515" y="1286685"/>
            <a:ext cx="2212066" cy="3201100"/>
          </a:xfrm>
          <a:prstGeom prst="parallelogram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5" name="Рисунок 8"/>
          <p:cNvSpPr>
            <a:spLocks noGrp="1"/>
          </p:cNvSpPr>
          <p:nvPr>
            <p:ph type="pic" sz="quarter" idx="14"/>
          </p:nvPr>
        </p:nvSpPr>
        <p:spPr>
          <a:xfrm>
            <a:off x="8317633" y="1996549"/>
            <a:ext cx="2212066" cy="3201100"/>
          </a:xfrm>
          <a:prstGeom prst="parallelogram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5274300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531011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18" name="Рисунок 1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77965" y="225267"/>
            <a:ext cx="159022" cy="160799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9818122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Рисунок 8"/>
          <p:cNvSpPr>
            <a:spLocks noGrp="1"/>
          </p:cNvSpPr>
          <p:nvPr>
            <p:ph type="pic" sz="quarter" idx="10"/>
          </p:nvPr>
        </p:nvSpPr>
        <p:spPr>
          <a:xfrm>
            <a:off x="6096001" y="1"/>
            <a:ext cx="2145632" cy="1985210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8"/>
          <p:cNvSpPr>
            <a:spLocks noGrp="1"/>
          </p:cNvSpPr>
          <p:nvPr>
            <p:ph type="pic" sz="quarter" idx="11"/>
          </p:nvPr>
        </p:nvSpPr>
        <p:spPr>
          <a:xfrm>
            <a:off x="9721515" y="1985211"/>
            <a:ext cx="2470485" cy="1696452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Рисунок 8"/>
          <p:cNvSpPr>
            <a:spLocks noGrp="1"/>
          </p:cNvSpPr>
          <p:nvPr>
            <p:ph type="pic" sz="quarter" idx="12"/>
          </p:nvPr>
        </p:nvSpPr>
        <p:spPr>
          <a:xfrm>
            <a:off x="8241633" y="1"/>
            <a:ext cx="3950366" cy="1985210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3"/>
          </p:nvPr>
        </p:nvSpPr>
        <p:spPr>
          <a:xfrm>
            <a:off x="6095998" y="1985211"/>
            <a:ext cx="3625517" cy="2899610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6" name="Рисунок 5"/>
          <p:cNvSpPr>
            <a:spLocks noGrp="1"/>
          </p:cNvSpPr>
          <p:nvPr>
            <p:ph type="pic" sz="quarter" idx="14"/>
          </p:nvPr>
        </p:nvSpPr>
        <p:spPr>
          <a:xfrm>
            <a:off x="9721850" y="3681664"/>
            <a:ext cx="2470150" cy="3176336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5"/>
          </p:nvPr>
        </p:nvSpPr>
        <p:spPr>
          <a:xfrm>
            <a:off x="6096000" y="4884738"/>
            <a:ext cx="1784350" cy="1973262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10"/>
          <p:cNvSpPr>
            <a:spLocks noGrp="1"/>
          </p:cNvSpPr>
          <p:nvPr>
            <p:ph type="pic" sz="quarter" idx="16"/>
          </p:nvPr>
        </p:nvSpPr>
        <p:spPr>
          <a:xfrm>
            <a:off x="7869238" y="4884738"/>
            <a:ext cx="1852612" cy="1973262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502436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49390" y="225267"/>
            <a:ext cx="159022" cy="160799"/>
          </a:xfrm>
          <a:prstGeom prst="rect">
            <a:avLst/>
          </a:prstGeom>
        </p:spPr>
      </p:pic>
      <p:sp>
        <p:nvSpPr>
          <p:cNvPr id="15" name="Прямоугольник 14"/>
          <p:cNvSpPr/>
          <p:nvPr userDrawn="1"/>
        </p:nvSpPr>
        <p:spPr>
          <a:xfrm>
            <a:off x="263563" y="1180287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9B6D55-4680-4DC5-B665-330CCBA60EFE}" type="slidenum">
              <a:rPr lang="ru-RU" sz="1800" b="1" baseline="0" smtClean="0">
                <a:solidFill>
                  <a:schemeClr val="tx1"/>
                </a:solidFill>
                <a:latin typeface="Lato" charset="0"/>
                <a:ea typeface="Lato" charset="0"/>
                <a:cs typeface="Poppins SemiBold" panose="02000000000000000000" pitchFamily="2" charset="0"/>
              </a:rPr>
            </a:fld>
            <a:endParaRPr lang="ru-RU" sz="1000" dirty="0">
              <a:solidFill>
                <a:srgbClr val="0000ED"/>
              </a:solidFill>
              <a:latin typeface="Lato" charset="0"/>
              <a:ea typeface="Lato" charset="0"/>
              <a:cs typeface="Lato" charset="0"/>
            </a:endParaRPr>
          </a:p>
        </p:txBody>
      </p:sp>
      <p:cxnSp>
        <p:nvCxnSpPr>
          <p:cNvPr id="16" name="Прямая соединительная линия 15"/>
          <p:cNvCxnSpPr/>
          <p:nvPr userDrawn="1"/>
        </p:nvCxnSpPr>
        <p:spPr>
          <a:xfrm flipH="1">
            <a:off x="487127" y="1717278"/>
            <a:ext cx="3416" cy="472239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 userDrawn="1"/>
        </p:nvSpPr>
        <p:spPr>
          <a:xfrm>
            <a:off x="150136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2242850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 userDrawn="1"/>
        </p:nvSpPr>
        <p:spPr>
          <a:xfrm>
            <a:off x="0" y="0"/>
            <a:ext cx="4993105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Рисунок 11"/>
          <p:cNvSpPr>
            <a:spLocks noGrp="1"/>
          </p:cNvSpPr>
          <p:nvPr>
            <p:ph type="pic" sz="quarter" idx="11"/>
          </p:nvPr>
        </p:nvSpPr>
        <p:spPr>
          <a:xfrm>
            <a:off x="3416970" y="1022683"/>
            <a:ext cx="4066674" cy="4812633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531011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bg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bg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bg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 cstate="screen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lum bright="70000" contrast="-70000"/>
          </a:blip>
          <a:stretch>
            <a:fillRect/>
          </a:stretch>
        </p:blipFill>
        <p:spPr>
          <a:xfrm>
            <a:off x="377965" y="225267"/>
            <a:ext cx="159022" cy="160799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210908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/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/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11323951" y="1180287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9B6D55-4680-4DC5-B665-330CCBA60EFE}" type="slidenum">
              <a:rPr lang="ru-RU" sz="1800" b="1" baseline="0" smtClean="0">
                <a:solidFill>
                  <a:schemeClr val="tx1"/>
                </a:solidFill>
                <a:latin typeface="Lato" charset="0"/>
                <a:ea typeface="Lato" charset="0"/>
                <a:cs typeface="Poppins SemiBold" panose="02000000000000000000" pitchFamily="2" charset="0"/>
              </a:rPr>
            </a:fld>
            <a:endParaRPr lang="ru-RU" sz="1000" dirty="0">
              <a:solidFill>
                <a:srgbClr val="0000ED"/>
              </a:solidFill>
              <a:latin typeface="Lato" charset="0"/>
              <a:ea typeface="Lato" charset="0"/>
              <a:cs typeface="Lato" charset="0"/>
            </a:endParaRPr>
          </a:p>
        </p:txBody>
      </p:sp>
      <p:cxnSp>
        <p:nvCxnSpPr>
          <p:cNvPr id="8" name="Прямая соединительная линия 7"/>
          <p:cNvCxnSpPr/>
          <p:nvPr userDrawn="1"/>
        </p:nvCxnSpPr>
        <p:spPr>
          <a:xfrm flipH="1">
            <a:off x="11547515" y="1717278"/>
            <a:ext cx="3416" cy="472239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 userDrawn="1"/>
        </p:nvSpPr>
        <p:spPr>
          <a:xfrm>
            <a:off x="9818122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100011" cy="6858000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Рисунок 4"/>
          <p:cNvSpPr>
            <a:spLocks noGrp="1"/>
          </p:cNvSpPr>
          <p:nvPr>
            <p:ph type="pic" sz="quarter" idx="11"/>
          </p:nvPr>
        </p:nvSpPr>
        <p:spPr>
          <a:xfrm>
            <a:off x="6653462" y="354563"/>
            <a:ext cx="1455988" cy="1899536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10378490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9818122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sp>
        <p:nvSpPr>
          <p:cNvPr id="12" name="Рисунок 4"/>
          <p:cNvSpPr>
            <a:spLocks noGrp="1"/>
          </p:cNvSpPr>
          <p:nvPr>
            <p:ph type="pic" sz="quarter" idx="12"/>
          </p:nvPr>
        </p:nvSpPr>
        <p:spPr>
          <a:xfrm>
            <a:off x="6653462" y="2495252"/>
            <a:ext cx="1455988" cy="1899536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4"/>
          <p:cNvSpPr>
            <a:spLocks noGrp="1"/>
          </p:cNvSpPr>
          <p:nvPr>
            <p:ph type="pic" sz="quarter" idx="13"/>
          </p:nvPr>
        </p:nvSpPr>
        <p:spPr>
          <a:xfrm>
            <a:off x="6653462" y="4635941"/>
            <a:ext cx="1455988" cy="1899536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2933700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5274300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7283472" y="1752598"/>
            <a:ext cx="2197768" cy="2197768"/>
          </a:xfrm>
          <a:prstGeom prst="ellipse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2"/>
          </p:nvPr>
        </p:nvSpPr>
        <p:spPr>
          <a:xfrm>
            <a:off x="2846826" y="1752598"/>
            <a:ext cx="2197768" cy="2197768"/>
          </a:xfrm>
          <a:prstGeom prst="ellipse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5274300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531011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77965" y="225267"/>
            <a:ext cx="159022" cy="160799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9818122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sp>
        <p:nvSpPr>
          <p:cNvPr id="10" name="Рисунок 2"/>
          <p:cNvSpPr>
            <a:spLocks noGrp="1"/>
          </p:cNvSpPr>
          <p:nvPr>
            <p:ph type="pic" sz="quarter" idx="11"/>
          </p:nvPr>
        </p:nvSpPr>
        <p:spPr>
          <a:xfrm>
            <a:off x="4503174" y="1010888"/>
            <a:ext cx="3232012" cy="3232012"/>
          </a:xfrm>
          <a:prstGeom prst="ellipse">
            <a:avLst/>
          </a:prstGeo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Рисунок 13"/>
          <p:cNvSpPr>
            <a:spLocks noGrp="1"/>
          </p:cNvSpPr>
          <p:nvPr>
            <p:ph type="pic" sz="quarter" idx="10"/>
          </p:nvPr>
        </p:nvSpPr>
        <p:spPr>
          <a:xfrm>
            <a:off x="1" y="1"/>
            <a:ext cx="5524500" cy="6858000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11323951" y="1180287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9B6D55-4680-4DC5-B665-330CCBA60EFE}" type="slidenum">
              <a:rPr lang="ru-RU" sz="1800" b="1" baseline="0" smtClean="0">
                <a:solidFill>
                  <a:schemeClr val="tx1"/>
                </a:solidFill>
                <a:latin typeface="Lato" charset="0"/>
                <a:ea typeface="Lato" charset="0"/>
                <a:cs typeface="Poppins SemiBold" panose="02000000000000000000" pitchFamily="2" charset="0"/>
              </a:rPr>
            </a:fld>
            <a:endParaRPr lang="ru-RU" sz="1000" dirty="0">
              <a:solidFill>
                <a:srgbClr val="0000ED"/>
              </a:solidFill>
              <a:latin typeface="Lato" charset="0"/>
              <a:ea typeface="Lato" charset="0"/>
              <a:cs typeface="Lato" charset="0"/>
            </a:endParaRPr>
          </a:p>
        </p:txBody>
      </p:sp>
      <p:cxnSp>
        <p:nvCxnSpPr>
          <p:cNvPr id="8" name="Прямая соединительная линия 7"/>
          <p:cNvCxnSpPr/>
          <p:nvPr userDrawn="1"/>
        </p:nvCxnSpPr>
        <p:spPr>
          <a:xfrm flipH="1">
            <a:off x="11547515" y="1717278"/>
            <a:ext cx="3416" cy="472239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 userDrawn="1"/>
        </p:nvSpPr>
        <p:spPr>
          <a:xfrm>
            <a:off x="9818122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0378490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097499" cy="68580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1"/>
          </p:nvPr>
        </p:nvSpPr>
        <p:spPr>
          <a:xfrm>
            <a:off x="3097499" y="0"/>
            <a:ext cx="3001963" cy="68580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6"/>
          <p:cNvSpPr>
            <a:spLocks noGrp="1"/>
          </p:cNvSpPr>
          <p:nvPr>
            <p:ph type="pic" sz="quarter" idx="12"/>
          </p:nvPr>
        </p:nvSpPr>
        <p:spPr>
          <a:xfrm>
            <a:off x="6099462" y="0"/>
            <a:ext cx="3117871" cy="68580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6"/>
          <p:cNvSpPr>
            <a:spLocks noGrp="1"/>
          </p:cNvSpPr>
          <p:nvPr>
            <p:ph type="pic" sz="quarter" idx="13"/>
          </p:nvPr>
        </p:nvSpPr>
        <p:spPr>
          <a:xfrm>
            <a:off x="9217333" y="0"/>
            <a:ext cx="2974667" cy="6858000"/>
          </a:xfr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3A474-A970-4111-AB00-CC07202BC5E5}" type="datetimeFigureOut">
              <a:rPr lang="ru-RU" smtClean="0"/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01CDA-C83E-414C-808C-D7CCDDEE9763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/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3048000" cy="34290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9" name="Рисунок 6"/>
          <p:cNvSpPr>
            <a:spLocks noGrp="1"/>
          </p:cNvSpPr>
          <p:nvPr>
            <p:ph type="pic" sz="quarter" idx="11"/>
          </p:nvPr>
        </p:nvSpPr>
        <p:spPr>
          <a:xfrm>
            <a:off x="9144000" y="0"/>
            <a:ext cx="3048000" cy="34290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6"/>
          <p:cNvSpPr>
            <a:spLocks noGrp="1"/>
          </p:cNvSpPr>
          <p:nvPr>
            <p:ph type="pic" sz="quarter" idx="12"/>
          </p:nvPr>
        </p:nvSpPr>
        <p:spPr>
          <a:xfrm>
            <a:off x="6096000" y="3429000"/>
            <a:ext cx="3048000" cy="34290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6"/>
          <p:cNvSpPr>
            <a:spLocks noGrp="1"/>
          </p:cNvSpPr>
          <p:nvPr>
            <p:ph type="pic" sz="quarter" idx="13"/>
          </p:nvPr>
        </p:nvSpPr>
        <p:spPr>
          <a:xfrm>
            <a:off x="9144000" y="3429000"/>
            <a:ext cx="3048000" cy="34290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531011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77965" y="225267"/>
            <a:ext cx="159022" cy="160799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210908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2242850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/>
          <p:cNvSpPr>
            <a:spLocks noGrp="1"/>
          </p:cNvSpPr>
          <p:nvPr>
            <p:ph type="pic" sz="quarter" idx="10"/>
          </p:nvPr>
        </p:nvSpPr>
        <p:spPr>
          <a:xfrm>
            <a:off x="1603238" y="0"/>
            <a:ext cx="5070277" cy="6858000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21" name="TextBox 20"/>
          <p:cNvSpPr txBox="1"/>
          <p:nvPr userDrawn="1"/>
        </p:nvSpPr>
        <p:spPr>
          <a:xfrm>
            <a:off x="10378490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11323951" y="1180287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9B6D55-4680-4DC5-B665-330CCBA60EFE}" type="slidenum">
              <a:rPr lang="ru-RU" sz="1800" b="1" baseline="0" smtClean="0">
                <a:solidFill>
                  <a:schemeClr val="tx1"/>
                </a:solidFill>
                <a:latin typeface="Lato" charset="0"/>
                <a:ea typeface="Lato" charset="0"/>
                <a:cs typeface="Poppins SemiBold" panose="02000000000000000000" pitchFamily="2" charset="0"/>
              </a:rPr>
            </a:fld>
            <a:endParaRPr lang="ru-RU" sz="1000" dirty="0">
              <a:solidFill>
                <a:srgbClr val="0000ED"/>
              </a:solidFill>
              <a:latin typeface="Lato" charset="0"/>
              <a:ea typeface="Lato" charset="0"/>
              <a:cs typeface="Lato" charset="0"/>
            </a:endParaRPr>
          </a:p>
        </p:txBody>
      </p:sp>
      <p:cxnSp>
        <p:nvCxnSpPr>
          <p:cNvPr id="23" name="Прямая соединительная линия 22"/>
          <p:cNvCxnSpPr/>
          <p:nvPr userDrawn="1"/>
        </p:nvCxnSpPr>
        <p:spPr>
          <a:xfrm flipH="1">
            <a:off x="11547515" y="1717278"/>
            <a:ext cx="3416" cy="472239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 userDrawn="1"/>
        </p:nvSpPr>
        <p:spPr>
          <a:xfrm>
            <a:off x="9818122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Рисунок 8"/>
          <p:cNvSpPr>
            <a:spLocks noGrp="1"/>
          </p:cNvSpPr>
          <p:nvPr>
            <p:ph type="pic" sz="quarter" idx="14"/>
          </p:nvPr>
        </p:nvSpPr>
        <p:spPr>
          <a:xfrm>
            <a:off x="1474903" y="2178706"/>
            <a:ext cx="2068204" cy="1979207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5274300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531011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77965" y="225267"/>
            <a:ext cx="159022" cy="160799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>
            <a:off x="9818122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sp>
        <p:nvSpPr>
          <p:cNvPr id="19" name="Рисунок 8"/>
          <p:cNvSpPr>
            <a:spLocks noGrp="1"/>
          </p:cNvSpPr>
          <p:nvPr>
            <p:ph type="pic" sz="quarter" idx="15"/>
          </p:nvPr>
        </p:nvSpPr>
        <p:spPr>
          <a:xfrm>
            <a:off x="4893440" y="2178706"/>
            <a:ext cx="2068204" cy="1979207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21" name="Рисунок 8"/>
          <p:cNvSpPr>
            <a:spLocks noGrp="1"/>
          </p:cNvSpPr>
          <p:nvPr>
            <p:ph type="pic" sz="quarter" idx="16"/>
          </p:nvPr>
        </p:nvSpPr>
        <p:spPr>
          <a:xfrm>
            <a:off x="8311976" y="2197756"/>
            <a:ext cx="2068204" cy="1979207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Рисунок 1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2571750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5274300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10378490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1323951" y="1180287"/>
            <a:ext cx="5886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Lato" charset="0"/>
                <a:ea typeface="Lato" charset="0"/>
                <a:cs typeface="Lato" charset="0"/>
              </a:rPr>
              <a:t>0</a:t>
            </a:r>
            <a:fld id="{149B6D55-4680-4DC5-B665-330CCBA60EFE}" type="slidenum">
              <a:rPr lang="ru-RU" sz="1800" b="1" baseline="0" dirty="0" smtClean="0">
                <a:solidFill>
                  <a:schemeClr val="tx1"/>
                </a:solidFill>
                <a:latin typeface="Lato" charset="0"/>
                <a:ea typeface="Lato" charset="0"/>
                <a:cs typeface="Poppins SemiBold" panose="02000000000000000000" pitchFamily="2" charset="0"/>
              </a:rPr>
            </a:fld>
            <a:endParaRPr lang="ru-RU" sz="1000" dirty="0">
              <a:solidFill>
                <a:srgbClr val="0000ED"/>
              </a:solidFill>
              <a:latin typeface="Lato" charset="0"/>
              <a:ea typeface="Lato" charset="0"/>
              <a:cs typeface="Lato" charset="0"/>
            </a:endParaRPr>
          </a:p>
        </p:txBody>
      </p:sp>
      <p:cxnSp>
        <p:nvCxnSpPr>
          <p:cNvPr id="9" name="Прямая соединительная линия 8"/>
          <p:cNvCxnSpPr/>
          <p:nvPr userDrawn="1"/>
        </p:nvCxnSpPr>
        <p:spPr>
          <a:xfrm flipH="1">
            <a:off x="11547515" y="1717278"/>
            <a:ext cx="3416" cy="472239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6064723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0994788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841742" y="225267"/>
            <a:ext cx="159022" cy="160799"/>
          </a:xfrm>
          <a:prstGeom prst="rect">
            <a:avLst/>
          </a:prstGeom>
        </p:spPr>
      </p:pic>
      <p:sp>
        <p:nvSpPr>
          <p:cNvPr id="13" name="Рисунок 10"/>
          <p:cNvSpPr>
            <a:spLocks noGrp="1"/>
          </p:cNvSpPr>
          <p:nvPr>
            <p:ph type="pic" sz="quarter" idx="11"/>
          </p:nvPr>
        </p:nvSpPr>
        <p:spPr>
          <a:xfrm>
            <a:off x="0" y="-11113"/>
            <a:ext cx="7455584" cy="6888163"/>
          </a:xfrm>
          <a:custGeom>
            <a:avLst/>
            <a:gdLst>
              <a:gd name="connsiteX0" fmla="*/ 0 w 7455584"/>
              <a:gd name="connsiteY0" fmla="*/ 0 h 6888163"/>
              <a:gd name="connsiteX1" fmla="*/ 7455584 w 7455584"/>
              <a:gd name="connsiteY1" fmla="*/ 0 h 6888163"/>
              <a:gd name="connsiteX2" fmla="*/ 7455584 w 7455584"/>
              <a:gd name="connsiteY2" fmla="*/ 6888163 h 6888163"/>
              <a:gd name="connsiteX3" fmla="*/ 0 w 7455584"/>
              <a:gd name="connsiteY3" fmla="*/ 6888163 h 6888163"/>
              <a:gd name="connsiteX4" fmla="*/ 0 w 7455584"/>
              <a:gd name="connsiteY4" fmla="*/ 0 h 6888163"/>
              <a:gd name="connsiteX0-1" fmla="*/ 0 w 7455584"/>
              <a:gd name="connsiteY0-2" fmla="*/ 0 h 6888163"/>
              <a:gd name="connsiteX1-3" fmla="*/ 4574161 w 7455584"/>
              <a:gd name="connsiteY1-4" fmla="*/ 0 h 6888163"/>
              <a:gd name="connsiteX2-5" fmla="*/ 7455584 w 7455584"/>
              <a:gd name="connsiteY2-6" fmla="*/ 6888163 h 6888163"/>
              <a:gd name="connsiteX3-7" fmla="*/ 0 w 7455584"/>
              <a:gd name="connsiteY3-8" fmla="*/ 6888163 h 6888163"/>
              <a:gd name="connsiteX4-9" fmla="*/ 0 w 7455584"/>
              <a:gd name="connsiteY4-10" fmla="*/ 0 h 688816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455584" h="6888163">
                <a:moveTo>
                  <a:pt x="0" y="0"/>
                </a:moveTo>
                <a:lnTo>
                  <a:pt x="4574161" y="0"/>
                </a:lnTo>
                <a:lnTo>
                  <a:pt x="7455584" y="6888163"/>
                </a:lnTo>
                <a:lnTo>
                  <a:pt x="0" y="6888163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2"/>
          <p:cNvSpPr>
            <a:spLocks noGrp="1"/>
          </p:cNvSpPr>
          <p:nvPr>
            <p:ph type="pic" sz="quarter" idx="10"/>
          </p:nvPr>
        </p:nvSpPr>
        <p:spPr>
          <a:xfrm>
            <a:off x="7283472" y="1752598"/>
            <a:ext cx="2197768" cy="2197768"/>
          </a:xfrm>
          <a:prstGeom prst="ellipse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2"/>
          </p:nvPr>
        </p:nvSpPr>
        <p:spPr>
          <a:xfrm>
            <a:off x="2846826" y="1752598"/>
            <a:ext cx="2197768" cy="2197768"/>
          </a:xfrm>
          <a:prstGeom prst="ellipse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5274300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531011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77965" y="225267"/>
            <a:ext cx="159022" cy="160799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818122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sp>
        <p:nvSpPr>
          <p:cNvPr id="14" name="Рисунок 2"/>
          <p:cNvSpPr>
            <a:spLocks noGrp="1"/>
          </p:cNvSpPr>
          <p:nvPr>
            <p:ph type="pic" sz="quarter" idx="11"/>
          </p:nvPr>
        </p:nvSpPr>
        <p:spPr>
          <a:xfrm>
            <a:off x="4503174" y="1010888"/>
            <a:ext cx="3232012" cy="3232012"/>
          </a:xfrm>
          <a:prstGeom prst="ellipse">
            <a:avLst/>
          </a:prstGeo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Рисунок 2"/>
          <p:cNvSpPr>
            <a:spLocks noGrp="1"/>
          </p:cNvSpPr>
          <p:nvPr>
            <p:ph type="pic" sz="quarter" idx="10"/>
          </p:nvPr>
        </p:nvSpPr>
        <p:spPr>
          <a:xfrm>
            <a:off x="5358782" y="0"/>
            <a:ext cx="5261092" cy="6858000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24" name="TextBox 23"/>
          <p:cNvSpPr txBox="1"/>
          <p:nvPr userDrawn="1"/>
        </p:nvSpPr>
        <p:spPr>
          <a:xfrm>
            <a:off x="531011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25" name="Рисунок 24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77965" y="225267"/>
            <a:ext cx="159022" cy="160799"/>
          </a:xfrm>
          <a:prstGeom prst="rect">
            <a:avLst/>
          </a:prstGeom>
        </p:spPr>
      </p:pic>
      <p:sp>
        <p:nvSpPr>
          <p:cNvPr id="26" name="TextBox 25"/>
          <p:cNvSpPr txBox="1"/>
          <p:nvPr userDrawn="1"/>
        </p:nvSpPr>
        <p:spPr>
          <a:xfrm>
            <a:off x="210908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27" name="TextBox 26"/>
          <p:cNvSpPr txBox="1"/>
          <p:nvPr userDrawn="1"/>
        </p:nvSpPr>
        <p:spPr>
          <a:xfrm>
            <a:off x="2242850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/>
          <p:nvPr userDrawn="1"/>
        </p:nvSpPr>
        <p:spPr>
          <a:xfrm>
            <a:off x="0" y="3176337"/>
            <a:ext cx="12192000" cy="3681662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Рисунок 8"/>
          <p:cNvSpPr>
            <a:spLocks noGrp="1"/>
          </p:cNvSpPr>
          <p:nvPr>
            <p:ph type="pic" sz="quarter" idx="14"/>
          </p:nvPr>
        </p:nvSpPr>
        <p:spPr>
          <a:xfrm>
            <a:off x="1474903" y="2178706"/>
            <a:ext cx="2068204" cy="1979207"/>
          </a:xfrm>
          <a:prstGeom prst="diamond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5274300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/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/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531011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77965" y="225267"/>
            <a:ext cx="159022" cy="160799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9818122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sp>
        <p:nvSpPr>
          <p:cNvPr id="15" name="Рисунок 8"/>
          <p:cNvSpPr>
            <a:spLocks noGrp="1"/>
          </p:cNvSpPr>
          <p:nvPr>
            <p:ph type="pic" sz="quarter" idx="15"/>
          </p:nvPr>
        </p:nvSpPr>
        <p:spPr>
          <a:xfrm>
            <a:off x="4893440" y="2178706"/>
            <a:ext cx="2068204" cy="1979207"/>
          </a:xfrm>
          <a:prstGeom prst="diamond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8"/>
          <p:cNvSpPr>
            <a:spLocks noGrp="1"/>
          </p:cNvSpPr>
          <p:nvPr>
            <p:ph type="pic" sz="quarter" idx="16"/>
          </p:nvPr>
        </p:nvSpPr>
        <p:spPr>
          <a:xfrm>
            <a:off x="8311976" y="2197756"/>
            <a:ext cx="2068204" cy="1979207"/>
          </a:xfrm>
          <a:prstGeom prst="diamond">
            <a:avLst/>
          </a:prstGeo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/>
          <p:nvPr userDrawn="1"/>
        </p:nvSpPr>
        <p:spPr>
          <a:xfrm>
            <a:off x="4326340" y="0"/>
            <a:ext cx="5349922" cy="6857999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9676262" y="0"/>
            <a:ext cx="2515737" cy="68580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531011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77965" y="225267"/>
            <a:ext cx="159022" cy="160799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210908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5929073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0" dirty="0">
                <a:solidFill>
                  <a:schemeClr val="bg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bg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sp>
        <p:nvSpPr>
          <p:cNvPr id="5" name="Рисунок 4"/>
          <p:cNvSpPr>
            <a:spLocks noGrp="1"/>
          </p:cNvSpPr>
          <p:nvPr>
            <p:ph type="pic" sz="quarter" idx="11"/>
          </p:nvPr>
        </p:nvSpPr>
        <p:spPr>
          <a:xfrm>
            <a:off x="5941385" y="1584251"/>
            <a:ext cx="2148515" cy="3775149"/>
          </a:xfr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5999" cy="68580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1"/>
          </p:nvPr>
        </p:nvSpPr>
        <p:spPr>
          <a:xfrm>
            <a:off x="6096002" y="0"/>
            <a:ext cx="6095998" cy="6858000"/>
          </a:xfr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/>
          <p:cNvSpPr>
            <a:spLocks noGrp="1"/>
          </p:cNvSpPr>
          <p:nvPr>
            <p:ph type="pic" sz="quarter" idx="10"/>
          </p:nvPr>
        </p:nvSpPr>
        <p:spPr>
          <a:xfrm>
            <a:off x="3423683" y="2870791"/>
            <a:ext cx="3610625" cy="2094614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11"/>
          <p:cNvSpPr>
            <a:spLocks noGrp="1"/>
          </p:cNvSpPr>
          <p:nvPr>
            <p:ph type="pic" sz="quarter" idx="11"/>
          </p:nvPr>
        </p:nvSpPr>
        <p:spPr>
          <a:xfrm>
            <a:off x="6161038" y="0"/>
            <a:ext cx="6030962" cy="6857999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531011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77965" y="225267"/>
            <a:ext cx="159022" cy="160799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210908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2242850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6"/>
          <p:cNvSpPr>
            <a:spLocks noGrp="1"/>
          </p:cNvSpPr>
          <p:nvPr>
            <p:ph type="pic" sz="quarter" idx="10"/>
          </p:nvPr>
        </p:nvSpPr>
        <p:spPr>
          <a:xfrm>
            <a:off x="4928719" y="2721933"/>
            <a:ext cx="3610625" cy="2094614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4" name="Рисунок 11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30962" cy="6857999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0378490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1323951" y="1180287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9B6D55-4680-4DC5-B665-330CCBA60EFE}" type="slidenum">
              <a:rPr lang="ru-RU" sz="1800" b="1" baseline="0" smtClean="0">
                <a:solidFill>
                  <a:schemeClr val="tx1"/>
                </a:solidFill>
                <a:latin typeface="Lato" charset="0"/>
                <a:ea typeface="Lato" charset="0"/>
                <a:cs typeface="Poppins SemiBold" panose="02000000000000000000" pitchFamily="2" charset="0"/>
              </a:rPr>
            </a:fld>
            <a:endParaRPr lang="ru-RU" sz="1000" dirty="0">
              <a:solidFill>
                <a:srgbClr val="0000ED"/>
              </a:solidFill>
              <a:latin typeface="Lato" charset="0"/>
              <a:ea typeface="Lato" charset="0"/>
              <a:cs typeface="Lato" charset="0"/>
            </a:endParaRPr>
          </a:p>
        </p:txBody>
      </p:sp>
      <p:cxnSp>
        <p:nvCxnSpPr>
          <p:cNvPr id="17" name="Прямая соединительная линия 16"/>
          <p:cNvCxnSpPr/>
          <p:nvPr userDrawn="1"/>
        </p:nvCxnSpPr>
        <p:spPr>
          <a:xfrm flipH="1">
            <a:off x="11547515" y="1717278"/>
            <a:ext cx="3416" cy="472239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 userDrawn="1"/>
        </p:nvSpPr>
        <p:spPr>
          <a:xfrm>
            <a:off x="10994788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841742" y="225267"/>
            <a:ext cx="159022" cy="160799"/>
          </a:xfrm>
          <a:prstGeom prst="rect">
            <a:avLst/>
          </a:prstGeom>
        </p:spPr>
      </p:pic>
      <p:sp>
        <p:nvSpPr>
          <p:cNvPr id="20" name="TextBox 19"/>
          <p:cNvSpPr txBox="1"/>
          <p:nvPr userDrawn="1"/>
        </p:nvSpPr>
        <p:spPr>
          <a:xfrm>
            <a:off x="6857380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531011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77965" y="225267"/>
            <a:ext cx="159022" cy="160799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9818122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sp>
        <p:nvSpPr>
          <p:cNvPr id="15" name="Рисунок 2"/>
          <p:cNvSpPr>
            <a:spLocks noGrp="1"/>
          </p:cNvSpPr>
          <p:nvPr>
            <p:ph type="pic" sz="quarter" idx="10"/>
          </p:nvPr>
        </p:nvSpPr>
        <p:spPr>
          <a:xfrm>
            <a:off x="7283472" y="1557393"/>
            <a:ext cx="2197768" cy="2197768"/>
          </a:xfrm>
          <a:prstGeom prst="diamond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/>
          <p:cNvSpPr>
            <a:spLocks noGrp="1"/>
          </p:cNvSpPr>
          <p:nvPr>
            <p:ph type="pic" sz="quarter" idx="12"/>
          </p:nvPr>
        </p:nvSpPr>
        <p:spPr>
          <a:xfrm>
            <a:off x="2840211" y="1557393"/>
            <a:ext cx="2197768" cy="2197768"/>
          </a:xfrm>
          <a:prstGeom prst="diamond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5274300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21" name="Рисунок 2"/>
          <p:cNvSpPr>
            <a:spLocks noGrp="1"/>
          </p:cNvSpPr>
          <p:nvPr>
            <p:ph type="pic" sz="quarter" idx="11"/>
          </p:nvPr>
        </p:nvSpPr>
        <p:spPr>
          <a:xfrm>
            <a:off x="4504229" y="1044929"/>
            <a:ext cx="3232012" cy="3232012"/>
          </a:xfrm>
          <a:prstGeom prst="diamond">
            <a:avLst/>
          </a:prstGeo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Рисунок 9"/>
          <p:cNvSpPr>
            <a:spLocks noGrp="1"/>
          </p:cNvSpPr>
          <p:nvPr>
            <p:ph type="pic" sz="quarter" idx="10"/>
          </p:nvPr>
        </p:nvSpPr>
        <p:spPr>
          <a:xfrm>
            <a:off x="6112040" y="0"/>
            <a:ext cx="3116182" cy="2751895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11"/>
          <p:cNvSpPr>
            <a:spLocks noGrp="1"/>
          </p:cNvSpPr>
          <p:nvPr>
            <p:ph type="pic" sz="quarter" idx="11"/>
          </p:nvPr>
        </p:nvSpPr>
        <p:spPr>
          <a:xfrm>
            <a:off x="0" y="4174958"/>
            <a:ext cx="6112039" cy="2683041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531011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77965" y="225267"/>
            <a:ext cx="159022" cy="160799"/>
          </a:xfrm>
          <a:prstGeom prst="rect">
            <a:avLst/>
          </a:prstGeom>
        </p:spPr>
      </p:pic>
      <p:sp>
        <p:nvSpPr>
          <p:cNvPr id="11" name="Рисунок 9"/>
          <p:cNvSpPr>
            <a:spLocks noGrp="1"/>
          </p:cNvSpPr>
          <p:nvPr>
            <p:ph type="pic" sz="quarter" idx="12"/>
          </p:nvPr>
        </p:nvSpPr>
        <p:spPr>
          <a:xfrm>
            <a:off x="9218696" y="-1"/>
            <a:ext cx="2973303" cy="2751895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5" name="Рисунок 9"/>
          <p:cNvSpPr>
            <a:spLocks noGrp="1"/>
          </p:cNvSpPr>
          <p:nvPr>
            <p:ph type="pic" sz="quarter" idx="13"/>
          </p:nvPr>
        </p:nvSpPr>
        <p:spPr>
          <a:xfrm>
            <a:off x="6112040" y="2751898"/>
            <a:ext cx="3116182" cy="1423059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9"/>
          <p:cNvSpPr>
            <a:spLocks noGrp="1"/>
          </p:cNvSpPr>
          <p:nvPr>
            <p:ph type="pic" sz="quarter" idx="14"/>
          </p:nvPr>
        </p:nvSpPr>
        <p:spPr>
          <a:xfrm>
            <a:off x="9228222" y="2751897"/>
            <a:ext cx="2963778" cy="4106102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7" name="Рисунок 9"/>
          <p:cNvSpPr>
            <a:spLocks noGrp="1"/>
          </p:cNvSpPr>
          <p:nvPr>
            <p:ph type="pic" sz="quarter" idx="15"/>
          </p:nvPr>
        </p:nvSpPr>
        <p:spPr>
          <a:xfrm>
            <a:off x="6112040" y="4174957"/>
            <a:ext cx="3116182" cy="2683043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Рисунок 11"/>
          <p:cNvSpPr>
            <a:spLocks noGrp="1"/>
          </p:cNvSpPr>
          <p:nvPr>
            <p:ph type="pic" sz="quarter" idx="10"/>
          </p:nvPr>
        </p:nvSpPr>
        <p:spPr>
          <a:xfrm>
            <a:off x="7784432" y="0"/>
            <a:ext cx="4407568" cy="6857999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531011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210908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77965" y="225267"/>
            <a:ext cx="159022" cy="1607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531011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77965" y="225267"/>
            <a:ext cx="159022" cy="160799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210908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9544402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1"/>
          </p:nvPr>
        </p:nvSpPr>
        <p:spPr>
          <a:xfrm>
            <a:off x="5059925" y="1733550"/>
            <a:ext cx="2072150" cy="3625850"/>
          </a:xfr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10378490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1323951" y="1180287"/>
            <a:ext cx="6431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Lato" charset="0"/>
                <a:ea typeface="Lato" charset="0"/>
                <a:cs typeface="Lato" charset="0"/>
              </a:rPr>
              <a:t>0</a:t>
            </a:r>
            <a:fld id="{149B6D55-4680-4DC5-B665-330CCBA60EFE}" type="slidenum">
              <a:rPr lang="ru-RU" sz="1800" b="1" baseline="0" dirty="0" smtClean="0">
                <a:solidFill>
                  <a:schemeClr val="tx1"/>
                </a:solidFill>
                <a:latin typeface="Lato" charset="0"/>
                <a:ea typeface="Lato" charset="0"/>
                <a:cs typeface="Poppins SemiBold" panose="02000000000000000000" pitchFamily="2" charset="0"/>
              </a:rPr>
            </a:fld>
            <a:r>
              <a:rPr lang="en-US" sz="1800" dirty="0">
                <a:solidFill>
                  <a:srgbClr val="0000ED"/>
                </a:solidFill>
                <a:latin typeface="Lato" charset="0"/>
                <a:ea typeface="Lato" charset="0"/>
                <a:cs typeface="Lato" charset="0"/>
              </a:rPr>
              <a:t>.</a:t>
            </a:r>
            <a:endParaRPr lang="ru-RU" sz="1000" dirty="0">
              <a:solidFill>
                <a:srgbClr val="0000ED"/>
              </a:solidFill>
              <a:latin typeface="Lato" charset="0"/>
              <a:ea typeface="Lato" charset="0"/>
              <a:cs typeface="Lato" charset="0"/>
            </a:endParaRPr>
          </a:p>
        </p:txBody>
      </p:sp>
      <p:cxnSp>
        <p:nvCxnSpPr>
          <p:cNvPr id="9" name="Прямая соединительная линия 8"/>
          <p:cNvCxnSpPr/>
          <p:nvPr userDrawn="1"/>
        </p:nvCxnSpPr>
        <p:spPr>
          <a:xfrm flipH="1">
            <a:off x="11547515" y="1717278"/>
            <a:ext cx="3416" cy="472239"/>
          </a:xfrm>
          <a:prstGeom prst="line">
            <a:avLst/>
          </a:prstGeom>
          <a:ln w="19050">
            <a:solidFill>
              <a:srgbClr val="0000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6064723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0994788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841742" y="225267"/>
            <a:ext cx="159022" cy="160799"/>
          </a:xfrm>
          <a:prstGeom prst="rect">
            <a:avLst/>
          </a:prstGeom>
        </p:spPr>
      </p:pic>
      <p:sp>
        <p:nvSpPr>
          <p:cNvPr id="13" name="Рисунок 10"/>
          <p:cNvSpPr>
            <a:spLocks noGrp="1"/>
          </p:cNvSpPr>
          <p:nvPr>
            <p:ph type="pic" sz="quarter" idx="11"/>
          </p:nvPr>
        </p:nvSpPr>
        <p:spPr>
          <a:xfrm>
            <a:off x="0" y="-11113"/>
            <a:ext cx="7455584" cy="6888163"/>
          </a:xfrm>
          <a:custGeom>
            <a:avLst/>
            <a:gdLst>
              <a:gd name="connsiteX0" fmla="*/ 0 w 7455584"/>
              <a:gd name="connsiteY0" fmla="*/ 0 h 6888163"/>
              <a:gd name="connsiteX1" fmla="*/ 7455584 w 7455584"/>
              <a:gd name="connsiteY1" fmla="*/ 0 h 6888163"/>
              <a:gd name="connsiteX2" fmla="*/ 7455584 w 7455584"/>
              <a:gd name="connsiteY2" fmla="*/ 6888163 h 6888163"/>
              <a:gd name="connsiteX3" fmla="*/ 0 w 7455584"/>
              <a:gd name="connsiteY3" fmla="*/ 6888163 h 6888163"/>
              <a:gd name="connsiteX4" fmla="*/ 0 w 7455584"/>
              <a:gd name="connsiteY4" fmla="*/ 0 h 6888163"/>
              <a:gd name="connsiteX0-1" fmla="*/ 0 w 7455584"/>
              <a:gd name="connsiteY0-2" fmla="*/ 0 h 6888163"/>
              <a:gd name="connsiteX1-3" fmla="*/ 4574161 w 7455584"/>
              <a:gd name="connsiteY1-4" fmla="*/ 0 h 6888163"/>
              <a:gd name="connsiteX2-5" fmla="*/ 7455584 w 7455584"/>
              <a:gd name="connsiteY2-6" fmla="*/ 6888163 h 6888163"/>
              <a:gd name="connsiteX3-7" fmla="*/ 0 w 7455584"/>
              <a:gd name="connsiteY3-8" fmla="*/ 6888163 h 6888163"/>
              <a:gd name="connsiteX4-9" fmla="*/ 0 w 7455584"/>
              <a:gd name="connsiteY4-10" fmla="*/ 0 h 688816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455584" h="6888163">
                <a:moveTo>
                  <a:pt x="0" y="0"/>
                </a:moveTo>
                <a:lnTo>
                  <a:pt x="4574161" y="0"/>
                </a:lnTo>
                <a:lnTo>
                  <a:pt x="7455584" y="6888163"/>
                </a:lnTo>
                <a:lnTo>
                  <a:pt x="0" y="6888163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ый треугольник 11"/>
          <p:cNvSpPr/>
          <p:nvPr userDrawn="1"/>
        </p:nvSpPr>
        <p:spPr>
          <a:xfrm>
            <a:off x="0" y="1150486"/>
            <a:ext cx="6458246" cy="5711588"/>
          </a:xfrm>
          <a:custGeom>
            <a:avLst/>
            <a:gdLst>
              <a:gd name="connsiteX0" fmla="*/ 0 w 5380074"/>
              <a:gd name="connsiteY0" fmla="*/ 6858000 h 6858000"/>
              <a:gd name="connsiteX1" fmla="*/ 0 w 5380074"/>
              <a:gd name="connsiteY1" fmla="*/ 0 h 6858000"/>
              <a:gd name="connsiteX2" fmla="*/ 5380074 w 5380074"/>
              <a:gd name="connsiteY2" fmla="*/ 6858000 h 6858000"/>
              <a:gd name="connsiteX3" fmla="*/ 0 w 5380074"/>
              <a:gd name="connsiteY3" fmla="*/ 6858000 h 6858000"/>
              <a:gd name="connsiteX0-1" fmla="*/ 0 w 5380074"/>
              <a:gd name="connsiteY0-2" fmla="*/ 5697940 h 6858000"/>
              <a:gd name="connsiteX1-3" fmla="*/ 0 w 5380074"/>
              <a:gd name="connsiteY1-4" fmla="*/ 0 h 6858000"/>
              <a:gd name="connsiteX2-5" fmla="*/ 5380074 w 5380074"/>
              <a:gd name="connsiteY2-6" fmla="*/ 6858000 h 6858000"/>
              <a:gd name="connsiteX3-7" fmla="*/ 0 w 5380074"/>
              <a:gd name="connsiteY3-8" fmla="*/ 5697940 h 6858000"/>
              <a:gd name="connsiteX0-9" fmla="*/ 0 w 4902402"/>
              <a:gd name="connsiteY0-10" fmla="*/ 5697940 h 5725236"/>
              <a:gd name="connsiteX1-11" fmla="*/ 0 w 4902402"/>
              <a:gd name="connsiteY1-12" fmla="*/ 0 h 5725236"/>
              <a:gd name="connsiteX2-13" fmla="*/ 4902402 w 4902402"/>
              <a:gd name="connsiteY2-14" fmla="*/ 5725236 h 5725236"/>
              <a:gd name="connsiteX3-15" fmla="*/ 0 w 4902402"/>
              <a:gd name="connsiteY3-16" fmla="*/ 5697940 h 5725236"/>
              <a:gd name="connsiteX0-17" fmla="*/ 0 w 6458246"/>
              <a:gd name="connsiteY0-18" fmla="*/ 5697940 h 5711588"/>
              <a:gd name="connsiteX1-19" fmla="*/ 0 w 6458246"/>
              <a:gd name="connsiteY1-20" fmla="*/ 0 h 5711588"/>
              <a:gd name="connsiteX2-21" fmla="*/ 6458246 w 6458246"/>
              <a:gd name="connsiteY2-22" fmla="*/ 5711588 h 5711588"/>
              <a:gd name="connsiteX3-23" fmla="*/ 0 w 6458246"/>
              <a:gd name="connsiteY3-24" fmla="*/ 5697940 h 57115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6458246" h="5711588">
                <a:moveTo>
                  <a:pt x="0" y="5697940"/>
                </a:moveTo>
                <a:lnTo>
                  <a:pt x="0" y="0"/>
                </a:lnTo>
                <a:lnTo>
                  <a:pt x="6458246" y="5711588"/>
                </a:lnTo>
                <a:lnTo>
                  <a:pt x="0" y="569794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араллелограмм 17"/>
          <p:cNvSpPr/>
          <p:nvPr userDrawn="1"/>
        </p:nvSpPr>
        <p:spPr>
          <a:xfrm>
            <a:off x="-5118" y="-9527"/>
            <a:ext cx="5385192" cy="6872928"/>
          </a:xfrm>
          <a:custGeom>
            <a:avLst/>
            <a:gdLst>
              <a:gd name="connsiteX0" fmla="*/ 0 w 7099692"/>
              <a:gd name="connsiteY0" fmla="*/ 6858000 h 6858000"/>
              <a:gd name="connsiteX1" fmla="*/ 1714500 w 7099692"/>
              <a:gd name="connsiteY1" fmla="*/ 0 h 6858000"/>
              <a:gd name="connsiteX2" fmla="*/ 7099692 w 7099692"/>
              <a:gd name="connsiteY2" fmla="*/ 0 h 6858000"/>
              <a:gd name="connsiteX3" fmla="*/ 5385192 w 7099692"/>
              <a:gd name="connsiteY3" fmla="*/ 6858000 h 6858000"/>
              <a:gd name="connsiteX4" fmla="*/ 0 w 7099692"/>
              <a:gd name="connsiteY4" fmla="*/ 6858000 h 6858000"/>
              <a:gd name="connsiteX0-1" fmla="*/ 5118 w 5385192"/>
              <a:gd name="connsiteY0-2" fmla="*/ 6844353 h 6858000"/>
              <a:gd name="connsiteX1-3" fmla="*/ 0 w 5385192"/>
              <a:gd name="connsiteY1-4" fmla="*/ 0 h 6858000"/>
              <a:gd name="connsiteX2-5" fmla="*/ 5385192 w 5385192"/>
              <a:gd name="connsiteY2-6" fmla="*/ 0 h 6858000"/>
              <a:gd name="connsiteX3-7" fmla="*/ 3670692 w 5385192"/>
              <a:gd name="connsiteY3-8" fmla="*/ 6858000 h 6858000"/>
              <a:gd name="connsiteX4-9" fmla="*/ 5118 w 5385192"/>
              <a:gd name="connsiteY4-10" fmla="*/ 6844353 h 6858000"/>
              <a:gd name="connsiteX0-11" fmla="*/ 5118 w 5385192"/>
              <a:gd name="connsiteY0-12" fmla="*/ 6844353 h 6871648"/>
              <a:gd name="connsiteX1-13" fmla="*/ 0 w 5385192"/>
              <a:gd name="connsiteY1-14" fmla="*/ 0 h 6871648"/>
              <a:gd name="connsiteX2-15" fmla="*/ 5385192 w 5385192"/>
              <a:gd name="connsiteY2-16" fmla="*/ 0 h 6871648"/>
              <a:gd name="connsiteX3-17" fmla="*/ 2633462 w 5385192"/>
              <a:gd name="connsiteY3-18" fmla="*/ 6871648 h 6871648"/>
              <a:gd name="connsiteX4-19" fmla="*/ 5118 w 5385192"/>
              <a:gd name="connsiteY4-20" fmla="*/ 6844353 h 6871648"/>
              <a:gd name="connsiteX0-21" fmla="*/ 0 w 5389599"/>
              <a:gd name="connsiteY0-22" fmla="*/ 6853878 h 6871648"/>
              <a:gd name="connsiteX1-23" fmla="*/ 4407 w 5389599"/>
              <a:gd name="connsiteY1-24" fmla="*/ 0 h 6871648"/>
              <a:gd name="connsiteX2-25" fmla="*/ 5389599 w 5389599"/>
              <a:gd name="connsiteY2-26" fmla="*/ 0 h 6871648"/>
              <a:gd name="connsiteX3-27" fmla="*/ 2637869 w 5389599"/>
              <a:gd name="connsiteY3-28" fmla="*/ 6871648 h 6871648"/>
              <a:gd name="connsiteX4-29" fmla="*/ 0 w 5389599"/>
              <a:gd name="connsiteY4-30" fmla="*/ 6853878 h 6871648"/>
              <a:gd name="connsiteX0-31" fmla="*/ 24168 w 5385192"/>
              <a:gd name="connsiteY0-32" fmla="*/ 6872928 h 6872928"/>
              <a:gd name="connsiteX1-33" fmla="*/ 0 w 5385192"/>
              <a:gd name="connsiteY1-34" fmla="*/ 0 h 6872928"/>
              <a:gd name="connsiteX2-35" fmla="*/ 5385192 w 5385192"/>
              <a:gd name="connsiteY2-36" fmla="*/ 0 h 6872928"/>
              <a:gd name="connsiteX3-37" fmla="*/ 2633462 w 5385192"/>
              <a:gd name="connsiteY3-38" fmla="*/ 6871648 h 6872928"/>
              <a:gd name="connsiteX4-39" fmla="*/ 24168 w 5385192"/>
              <a:gd name="connsiteY4-40" fmla="*/ 6872928 h 687292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385192" h="6872928">
                <a:moveTo>
                  <a:pt x="24168" y="6872928"/>
                </a:moveTo>
                <a:lnTo>
                  <a:pt x="0" y="0"/>
                </a:lnTo>
                <a:lnTo>
                  <a:pt x="5385192" y="0"/>
                </a:lnTo>
                <a:lnTo>
                  <a:pt x="2633462" y="6871648"/>
                </a:lnTo>
                <a:lnTo>
                  <a:pt x="24168" y="6872928"/>
                </a:lnTo>
                <a:close/>
              </a:path>
            </a:pathLst>
          </a:custGeom>
          <a:solidFill>
            <a:schemeClr val="bg1">
              <a:lumMod val="75000"/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10378490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5" name="Прямоугольник 4"/>
          <p:cNvSpPr/>
          <p:nvPr userDrawn="1"/>
        </p:nvSpPr>
        <p:spPr>
          <a:xfrm>
            <a:off x="11323951" y="1180287"/>
            <a:ext cx="6431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Lato" charset="0"/>
                <a:ea typeface="Lato" charset="0"/>
                <a:cs typeface="Lato" charset="0"/>
              </a:rPr>
              <a:t>0</a:t>
            </a:r>
            <a:fld id="{149B6D55-4680-4DC5-B665-330CCBA60EFE}" type="slidenum">
              <a:rPr lang="ru-RU" sz="1800" b="1" baseline="0" dirty="0" smtClean="0">
                <a:solidFill>
                  <a:schemeClr val="tx1"/>
                </a:solidFill>
                <a:latin typeface="Lato" charset="0"/>
                <a:ea typeface="Lato" charset="0"/>
                <a:cs typeface="Poppins SemiBold" panose="02000000000000000000" pitchFamily="2" charset="0"/>
              </a:rPr>
            </a:fld>
            <a:r>
              <a:rPr lang="en-US" sz="1800" dirty="0">
                <a:solidFill>
                  <a:srgbClr val="0000ED"/>
                </a:solidFill>
                <a:latin typeface="Lato" charset="0"/>
                <a:ea typeface="Lato" charset="0"/>
                <a:cs typeface="Lato" charset="0"/>
              </a:rPr>
              <a:t>.</a:t>
            </a:r>
            <a:endParaRPr lang="ru-RU" sz="1000" dirty="0">
              <a:solidFill>
                <a:srgbClr val="0000ED"/>
              </a:solidFill>
              <a:latin typeface="Lato" charset="0"/>
              <a:ea typeface="Lato" charset="0"/>
              <a:cs typeface="Lato" charset="0"/>
            </a:endParaRPr>
          </a:p>
        </p:txBody>
      </p:sp>
      <p:cxnSp>
        <p:nvCxnSpPr>
          <p:cNvPr id="6" name="Прямая соединительная линия 5"/>
          <p:cNvCxnSpPr/>
          <p:nvPr userDrawn="1"/>
        </p:nvCxnSpPr>
        <p:spPr>
          <a:xfrm flipH="1">
            <a:off x="11547515" y="1717278"/>
            <a:ext cx="3416" cy="472239"/>
          </a:xfrm>
          <a:prstGeom prst="line">
            <a:avLst/>
          </a:prstGeom>
          <a:ln w="19050">
            <a:solidFill>
              <a:srgbClr val="0000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531011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77965" y="225267"/>
            <a:ext cx="159022" cy="160799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9818122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sp>
        <p:nvSpPr>
          <p:cNvPr id="14" name="Рисунок 13"/>
          <p:cNvSpPr>
            <a:spLocks noGrp="1"/>
          </p:cNvSpPr>
          <p:nvPr>
            <p:ph type="pic" sz="quarter" idx="10"/>
          </p:nvPr>
        </p:nvSpPr>
        <p:spPr>
          <a:xfrm>
            <a:off x="6049743" y="1675130"/>
            <a:ext cx="4419600" cy="3503613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531011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77965" y="225267"/>
            <a:ext cx="159022" cy="160799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9818122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5274300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5" name="Рисунок 4"/>
          <p:cNvSpPr>
            <a:spLocks noGrp="1"/>
          </p:cNvSpPr>
          <p:nvPr>
            <p:ph type="pic" sz="quarter" idx="10"/>
          </p:nvPr>
        </p:nvSpPr>
        <p:spPr>
          <a:xfrm>
            <a:off x="5422791" y="2535251"/>
            <a:ext cx="1435210" cy="2506649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9" name="Рисунок 4"/>
          <p:cNvSpPr>
            <a:spLocks noGrp="1"/>
          </p:cNvSpPr>
          <p:nvPr>
            <p:ph type="pic" sz="quarter" idx="11"/>
          </p:nvPr>
        </p:nvSpPr>
        <p:spPr>
          <a:xfrm>
            <a:off x="7654305" y="1375649"/>
            <a:ext cx="1432546" cy="25146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0" name="Рисунок 4"/>
          <p:cNvSpPr>
            <a:spLocks noGrp="1"/>
          </p:cNvSpPr>
          <p:nvPr>
            <p:ph type="pic" sz="quarter" idx="12"/>
          </p:nvPr>
        </p:nvSpPr>
        <p:spPr>
          <a:xfrm>
            <a:off x="9810171" y="2527300"/>
            <a:ext cx="1425022" cy="2514600"/>
          </a:xfr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531011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77965" y="225267"/>
            <a:ext cx="159022" cy="160799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210908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8053137" y="0"/>
            <a:ext cx="4138863" cy="68580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5" name="Рисунок 4"/>
          <p:cNvSpPr>
            <a:spLocks noGrp="1"/>
          </p:cNvSpPr>
          <p:nvPr>
            <p:ph type="pic" sz="quarter" idx="11"/>
          </p:nvPr>
        </p:nvSpPr>
        <p:spPr>
          <a:xfrm>
            <a:off x="1208598" y="1614114"/>
            <a:ext cx="2592125" cy="3458817"/>
          </a:xfr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1"/>
          </p:nvPr>
        </p:nvSpPr>
        <p:spPr>
          <a:xfrm>
            <a:off x="757104" y="1491578"/>
            <a:ext cx="2020887" cy="2020888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8"/>
          <p:cNvSpPr>
            <a:spLocks noGrp="1"/>
          </p:cNvSpPr>
          <p:nvPr>
            <p:ph type="pic" sz="quarter" idx="12"/>
          </p:nvPr>
        </p:nvSpPr>
        <p:spPr>
          <a:xfrm>
            <a:off x="757103" y="4306967"/>
            <a:ext cx="2020887" cy="2020888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8"/>
          <p:cNvSpPr>
            <a:spLocks noGrp="1"/>
          </p:cNvSpPr>
          <p:nvPr>
            <p:ph type="pic" sz="quarter" idx="13"/>
          </p:nvPr>
        </p:nvSpPr>
        <p:spPr>
          <a:xfrm>
            <a:off x="6789820" y="1491578"/>
            <a:ext cx="1981033" cy="2020888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8"/>
          <p:cNvSpPr>
            <a:spLocks noGrp="1"/>
          </p:cNvSpPr>
          <p:nvPr>
            <p:ph type="pic" sz="quarter" idx="14"/>
          </p:nvPr>
        </p:nvSpPr>
        <p:spPr>
          <a:xfrm>
            <a:off x="6789819" y="4306967"/>
            <a:ext cx="1981033" cy="2020888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/>
          <p:cNvSpPr/>
          <p:nvPr userDrawn="1"/>
        </p:nvSpPr>
        <p:spPr>
          <a:xfrm>
            <a:off x="0" y="0"/>
            <a:ext cx="4555957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9818122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5274300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5468348" y="1609725"/>
            <a:ext cx="2600325" cy="3457576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531011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bg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bg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bg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 cstate="screen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lum bright="70000" contrast="-70000"/>
          </a:blip>
          <a:stretch>
            <a:fillRect/>
          </a:stretch>
        </p:blipFill>
        <p:spPr>
          <a:xfrm>
            <a:off x="377965" y="225267"/>
            <a:ext cx="159022" cy="1607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 userDrawn="1"/>
        </p:nvSpPr>
        <p:spPr>
          <a:xfrm>
            <a:off x="3705727" y="0"/>
            <a:ext cx="8486274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9818122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i="0" dirty="0">
                <a:solidFill>
                  <a:schemeClr val="bg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bg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31011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77965" y="225267"/>
            <a:ext cx="159022" cy="160799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210908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14" name="Рисунок 13"/>
          <p:cNvSpPr>
            <a:spLocks noGrp="1"/>
          </p:cNvSpPr>
          <p:nvPr>
            <p:ph type="pic" sz="quarter" idx="10"/>
          </p:nvPr>
        </p:nvSpPr>
        <p:spPr>
          <a:xfrm>
            <a:off x="6644641" y="3396342"/>
            <a:ext cx="2751908" cy="3461658"/>
          </a:xfr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/>
          <p:cNvSpPr>
            <a:spLocks noGrp="1"/>
          </p:cNvSpPr>
          <p:nvPr>
            <p:ph type="pic" sz="quarter" idx="10"/>
          </p:nvPr>
        </p:nvSpPr>
        <p:spPr>
          <a:xfrm>
            <a:off x="3916906" y="941694"/>
            <a:ext cx="2469427" cy="5022141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1"/>
          </p:nvPr>
        </p:nvSpPr>
        <p:spPr>
          <a:xfrm>
            <a:off x="6564572" y="3220873"/>
            <a:ext cx="2552131" cy="1173706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8"/>
          <p:cNvSpPr>
            <a:spLocks noGrp="1"/>
          </p:cNvSpPr>
          <p:nvPr>
            <p:ph type="pic" sz="quarter" idx="12"/>
          </p:nvPr>
        </p:nvSpPr>
        <p:spPr>
          <a:xfrm>
            <a:off x="6564572" y="941695"/>
            <a:ext cx="4245143" cy="2060812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8"/>
          <p:cNvSpPr>
            <a:spLocks noGrp="1"/>
          </p:cNvSpPr>
          <p:nvPr>
            <p:ph type="pic" sz="quarter" idx="13"/>
          </p:nvPr>
        </p:nvSpPr>
        <p:spPr>
          <a:xfrm>
            <a:off x="9294942" y="3220872"/>
            <a:ext cx="1514641" cy="2742964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0378490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1323951" y="1180287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9B6D55-4680-4DC5-B665-330CCBA60EFE}" type="slidenum">
              <a:rPr lang="ru-RU" sz="1800" b="1" baseline="0" smtClean="0">
                <a:solidFill>
                  <a:schemeClr val="tx1"/>
                </a:solidFill>
                <a:latin typeface="Lato" charset="0"/>
                <a:ea typeface="Lato" charset="0"/>
                <a:cs typeface="Poppins SemiBold" panose="02000000000000000000" pitchFamily="2" charset="0"/>
              </a:rPr>
            </a:fld>
            <a:endParaRPr lang="ru-RU" sz="1000" dirty="0">
              <a:solidFill>
                <a:srgbClr val="0000ED"/>
              </a:solidFill>
              <a:latin typeface="Lato" charset="0"/>
              <a:ea typeface="Lato" charset="0"/>
              <a:cs typeface="Lato" charset="0"/>
            </a:endParaRPr>
          </a:p>
        </p:txBody>
      </p:sp>
      <p:cxnSp>
        <p:nvCxnSpPr>
          <p:cNvPr id="17" name="Прямая соединительная линия 16"/>
          <p:cNvCxnSpPr/>
          <p:nvPr userDrawn="1"/>
        </p:nvCxnSpPr>
        <p:spPr>
          <a:xfrm flipH="1">
            <a:off x="11547515" y="1717278"/>
            <a:ext cx="3416" cy="472239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 userDrawn="1"/>
        </p:nvSpPr>
        <p:spPr>
          <a:xfrm>
            <a:off x="9818122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sp>
        <p:nvSpPr>
          <p:cNvPr id="20" name="Рисунок 8"/>
          <p:cNvSpPr>
            <a:spLocks noGrp="1"/>
          </p:cNvSpPr>
          <p:nvPr>
            <p:ph type="pic" sz="quarter" idx="14"/>
          </p:nvPr>
        </p:nvSpPr>
        <p:spPr>
          <a:xfrm>
            <a:off x="6564572" y="4612945"/>
            <a:ext cx="2552131" cy="1350890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21" name="TextBox 20"/>
          <p:cNvSpPr txBox="1"/>
          <p:nvPr userDrawn="1"/>
        </p:nvSpPr>
        <p:spPr>
          <a:xfrm>
            <a:off x="531011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22" name="Рисунок 2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77965" y="225267"/>
            <a:ext cx="159022" cy="1607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2"/>
          <p:cNvSpPr>
            <a:spLocks noGrp="1"/>
          </p:cNvSpPr>
          <p:nvPr>
            <p:ph type="pic" sz="quarter" idx="10"/>
          </p:nvPr>
        </p:nvSpPr>
        <p:spPr>
          <a:xfrm>
            <a:off x="6561138" y="785813"/>
            <a:ext cx="4138612" cy="243865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10378490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11323951" y="1180287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9B6D55-4680-4DC5-B665-330CCBA60EFE}" type="slidenum">
              <a:rPr lang="ru-RU" sz="1800" b="1" baseline="0" smtClean="0">
                <a:solidFill>
                  <a:schemeClr val="tx1"/>
                </a:solidFill>
                <a:latin typeface="Lato" charset="0"/>
                <a:ea typeface="Lato" charset="0"/>
                <a:cs typeface="Poppins SemiBold" panose="02000000000000000000" pitchFamily="2" charset="0"/>
              </a:rPr>
            </a:fld>
            <a:endParaRPr lang="ru-RU" sz="1000" dirty="0">
              <a:solidFill>
                <a:srgbClr val="0000ED"/>
              </a:solidFill>
              <a:latin typeface="Lato" charset="0"/>
              <a:ea typeface="Lato" charset="0"/>
              <a:cs typeface="Lato" charset="0"/>
            </a:endParaRPr>
          </a:p>
        </p:txBody>
      </p:sp>
      <p:cxnSp>
        <p:nvCxnSpPr>
          <p:cNvPr id="10" name="Прямая соединительная линия 9"/>
          <p:cNvCxnSpPr/>
          <p:nvPr userDrawn="1"/>
        </p:nvCxnSpPr>
        <p:spPr>
          <a:xfrm flipH="1">
            <a:off x="11547515" y="1717278"/>
            <a:ext cx="3416" cy="472239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9818122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531011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PIXEL</a:t>
            </a:r>
            <a:r>
              <a:rPr lang="en-US" sz="800" b="1" i="0" baseline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 VISION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77965" y="225267"/>
            <a:ext cx="159022" cy="1607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084513" cy="68580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10378490" y="6320641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b="0" i="0" dirty="0">
                <a:solidFill>
                  <a:schemeClr val="bg1">
                    <a:lumMod val="65000"/>
                  </a:schemeClr>
                </a:solidFill>
                <a:latin typeface="Poppins SemiBold" panose="02000000000000000000" pitchFamily="2" charset="0"/>
                <a:ea typeface="Lato" charset="0"/>
                <a:cs typeface="Poppins SemiBold" panose="02000000000000000000" pitchFamily="2" charset="0"/>
              </a:rPr>
              <a:t>www.floraladdress.com</a:t>
            </a:r>
            <a:endParaRPr lang="ru-RU" sz="1000" b="0" i="0" dirty="0">
              <a:solidFill>
                <a:schemeClr val="bg1">
                  <a:lumMod val="65000"/>
                </a:schemeClr>
              </a:solidFill>
              <a:latin typeface="Lato" charset="0"/>
              <a:ea typeface="Lato" charset="0"/>
              <a:cs typeface="Poppins SemiBold" panose="02000000000000000000" pitchFamily="2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9818122" y="225267"/>
            <a:ext cx="214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i="0" dirty="0">
                <a:solidFill>
                  <a:schemeClr val="tx1"/>
                </a:solidFill>
                <a:latin typeface="Poppins SemiBold" panose="02000000000000000000" pitchFamily="2" charset="0"/>
                <a:ea typeface="Karla" pitchFamily="2" charset="0"/>
                <a:cs typeface="Poppins SemiBold" panose="02000000000000000000" pitchFamily="2" charset="0"/>
              </a:rPr>
              <a:t>SLIDE SECTION</a:t>
            </a:r>
            <a:endParaRPr lang="ru-RU" sz="800" b="1" i="0" dirty="0">
              <a:solidFill>
                <a:schemeClr val="tx1"/>
              </a:solidFill>
              <a:ea typeface="Karla" pitchFamily="2" charset="0"/>
              <a:cs typeface="Poppins SemiBold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6A0B-D013-4F07-80AC-CA47C8F94C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80BA7-3816-42AE-A7C0-0A497978291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6A0B-D013-4F07-80AC-CA47C8F94C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80BA7-3816-42AE-A7C0-0A497978291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318000" y="2971800"/>
            <a:ext cx="35560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感谢您下载包图网平台上提供的</a:t>
            </a:r>
            <a:r>
              <a:rPr lang="en-US" altLang="zh-CN" sz="3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PPT</a:t>
            </a:r>
            <a:r>
              <a:rPr lang="zh-CN" altLang="en-US" sz="3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作品，为了您和包图网以及原创作者的利益，请勿复制、传播、销售，否则将承担法律责任！包图网将对作品进行维权，按照传播下载次数进行十倍的索取赔偿！</a:t>
            </a:r>
            <a:endParaRPr lang="zh-CN" altLang="en-US" sz="3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ibaotu.com</a:t>
            </a:r>
            <a:endParaRPr lang="en-US" altLang="zh-CN" sz="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318000" y="2971800"/>
            <a:ext cx="35560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感谢您下载包图网平台上提供的</a:t>
            </a:r>
            <a:r>
              <a:rPr lang="en-US" altLang="zh-CN" sz="3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PPT</a:t>
            </a:r>
            <a:r>
              <a:rPr lang="zh-CN" altLang="en-US" sz="3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作品，为了您和包图网以及原创作者的利益，请勿复制、传播、销售，否则将承担法律责任！包图网将对作品进行维权，按照传播下载次数进行十倍的索取赔偿！</a:t>
            </a:r>
            <a:endParaRPr lang="zh-CN" altLang="en-US" sz="3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ibaotu.com</a:t>
            </a:r>
            <a:endParaRPr lang="en-US" altLang="zh-CN" sz="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318000" y="2971800"/>
            <a:ext cx="35560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感谢您下载包图网平台上提供的</a:t>
            </a:r>
            <a:r>
              <a:rPr lang="en-US" altLang="zh-CN" sz="3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PPT</a:t>
            </a:r>
            <a:r>
              <a:rPr lang="zh-CN" altLang="en-US" sz="3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作品，为了您和包图网以及原创作者的利益，请勿复制、传播、销售，否则将承担法律责任！包图网将对作品进行维权，按照传播下载次数进行十倍的索取赔偿！</a:t>
            </a:r>
            <a:endParaRPr lang="zh-CN" altLang="en-US" sz="3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ibaotu.com</a:t>
            </a:r>
            <a:endParaRPr lang="en-US" altLang="zh-CN" sz="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A284B-1681-47CA-9C9F-406CC46CBB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F4453-ACCD-4A0E-87F0-35BA438AA3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5" Type="http://schemas.openxmlformats.org/officeDocument/2006/relationships/theme" Target="../theme/theme2.xml"/><Relationship Id="rId54" Type="http://schemas.openxmlformats.org/officeDocument/2006/relationships/slideLayout" Target="../slideLayouts/slideLayout65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" Type="http://schemas.openxmlformats.org/officeDocument/2006/relationships/slideLayout" Target="../slideLayouts/slideLayout16.xml"/><Relationship Id="rId49" Type="http://schemas.openxmlformats.org/officeDocument/2006/relationships/slideLayout" Target="../slideLayouts/slideLayout6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15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" Type="http://schemas.openxmlformats.org/officeDocument/2006/relationships/slideLayout" Target="../slideLayouts/slideLayout14.xml"/><Relationship Id="rId29" Type="http://schemas.openxmlformats.org/officeDocument/2006/relationships/slideLayout" Target="../slideLayouts/slideLayout40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/Relationships>
</file>

<file path=ppt/slideMasters/_rels/slideMaster4.xml.rels><?xml version="1.0" encoding="UTF-8" standalone="yes"?>
<Relationships xmlns="http://schemas.openxmlformats.org/package/2006/relationships"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71.xml"/><Relationship Id="rId3" Type="http://schemas.openxmlformats.org/officeDocument/2006/relationships/slideLayout" Target="../slideLayouts/slideLayout70.xml"/><Relationship Id="rId2" Type="http://schemas.openxmlformats.org/officeDocument/2006/relationships/slideLayout" Target="../slideLayouts/slideLayout69.xml"/><Relationship Id="rId1" Type="http://schemas.openxmlformats.org/officeDocument/2006/relationships/slideLayout" Target="../slideLayouts/slideLayout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D3A474-A970-4111-AB00-CC07202BC5E5}" type="datetimeFigureOut">
              <a:rPr lang="ru-RU" smtClean="0"/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01CDA-C83E-414C-808C-D7CCDDEE9763}" type="slidenum">
              <a:rPr lang="ru-RU" smtClean="0"/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F96A0B-D013-4F07-80AC-CA47C8F94C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80BA7-3816-42AE-A7C0-0A497978291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318000" y="2971800"/>
            <a:ext cx="35560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感谢您下载包图网平台上提供的</a:t>
            </a:r>
            <a:r>
              <a:rPr lang="en-US" altLang="zh-CN" sz="3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PPT</a:t>
            </a:r>
            <a:r>
              <a:rPr lang="zh-CN" altLang="en-US" sz="3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作品，为了您和包图网以及原创作者的利益，请勿复制、传播、销售，否则将承担法律责任！包图网将对作品进行维权，按照传播下载次数进行十倍的索取赔偿！</a:t>
            </a:r>
            <a:endParaRPr lang="zh-CN" altLang="en-US" sz="3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ibaotu.com</a:t>
            </a:r>
            <a:endParaRPr lang="en-US" altLang="zh-CN" sz="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image" Target="../media/image6.png"/><Relationship Id="rId21" Type="http://schemas.openxmlformats.org/officeDocument/2006/relationships/notesSlide" Target="../notesSlides/notesSlide2.xml"/><Relationship Id="rId20" Type="http://schemas.openxmlformats.org/officeDocument/2006/relationships/slideLayout" Target="../slideLayouts/slideLayout67.xml"/><Relationship Id="rId2" Type="http://schemas.microsoft.com/office/2007/relationships/hdphoto" Target="../media/image5.wdp"/><Relationship Id="rId19" Type="http://schemas.openxmlformats.org/officeDocument/2006/relationships/tags" Target="../tags/tag22.xml"/><Relationship Id="rId18" Type="http://schemas.openxmlformats.org/officeDocument/2006/relationships/tags" Target="../tags/tag21.xml"/><Relationship Id="rId17" Type="http://schemas.openxmlformats.org/officeDocument/2006/relationships/tags" Target="../tags/tag20.xml"/><Relationship Id="rId16" Type="http://schemas.openxmlformats.org/officeDocument/2006/relationships/tags" Target="../tags/tag19.xml"/><Relationship Id="rId15" Type="http://schemas.openxmlformats.org/officeDocument/2006/relationships/tags" Target="../tags/tag18.xml"/><Relationship Id="rId14" Type="http://schemas.openxmlformats.org/officeDocument/2006/relationships/tags" Target="../tags/tag17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69.xml"/><Relationship Id="rId4" Type="http://schemas.microsoft.com/office/2007/relationships/hdphoto" Target="../media/image10.wdp"/><Relationship Id="rId3" Type="http://schemas.openxmlformats.org/officeDocument/2006/relationships/image" Target="../media/image9.png"/><Relationship Id="rId2" Type="http://schemas.microsoft.com/office/2007/relationships/hdphoto" Target="../media/image8.wdp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70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70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69.xml"/><Relationship Id="rId4" Type="http://schemas.microsoft.com/office/2007/relationships/hdphoto" Target="../media/image10.wdp"/><Relationship Id="rId3" Type="http://schemas.openxmlformats.org/officeDocument/2006/relationships/image" Target="../media/image9.png"/><Relationship Id="rId2" Type="http://schemas.microsoft.com/office/2007/relationships/hdphoto" Target="../media/image8.wdp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70.xml"/><Relationship Id="rId6" Type="http://schemas.openxmlformats.org/officeDocument/2006/relationships/image" Target="../media/image11.png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70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image" Target="../media/image11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70.xml"/><Relationship Id="rId6" Type="http://schemas.openxmlformats.org/officeDocument/2006/relationships/image" Target="../media/image12.png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69.xml"/><Relationship Id="rId4" Type="http://schemas.microsoft.com/office/2007/relationships/hdphoto" Target="../media/image10.wdp"/><Relationship Id="rId3" Type="http://schemas.openxmlformats.org/officeDocument/2006/relationships/image" Target="../media/image9.png"/><Relationship Id="rId2" Type="http://schemas.microsoft.com/office/2007/relationships/hdphoto" Target="../media/image8.wdp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70.xml"/><Relationship Id="rId6" Type="http://schemas.openxmlformats.org/officeDocument/2006/relationships/image" Target="../media/image13.png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emf"/><Relationship Id="rId8" Type="http://schemas.openxmlformats.org/officeDocument/2006/relationships/oleObject" Target="../embeddings/oleObject2.bin"/><Relationship Id="rId7" Type="http://schemas.openxmlformats.org/officeDocument/2006/relationships/image" Target="../media/image14.emf"/><Relationship Id="rId6" Type="http://schemas.openxmlformats.org/officeDocument/2006/relationships/oleObject" Target="../embeddings/oleObject1.bin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2" Type="http://schemas.openxmlformats.org/officeDocument/2006/relationships/notesSlide" Target="../notesSlides/notesSlide12.xml"/><Relationship Id="rId11" Type="http://schemas.openxmlformats.org/officeDocument/2006/relationships/vmlDrawing" Target="../drawings/vmlDrawing1.vml"/><Relationship Id="rId10" Type="http://schemas.openxmlformats.org/officeDocument/2006/relationships/slideLayout" Target="../slideLayouts/slideLayout70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emf"/><Relationship Id="rId8" Type="http://schemas.openxmlformats.org/officeDocument/2006/relationships/oleObject" Target="../embeddings/oleObject4.bin"/><Relationship Id="rId7" Type="http://schemas.openxmlformats.org/officeDocument/2006/relationships/image" Target="../media/image16.emf"/><Relationship Id="rId6" Type="http://schemas.openxmlformats.org/officeDocument/2006/relationships/oleObject" Target="../embeddings/oleObject3.bin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2" Type="http://schemas.openxmlformats.org/officeDocument/2006/relationships/notesSlide" Target="../notesSlides/notesSlide13.xml"/><Relationship Id="rId31" Type="http://schemas.openxmlformats.org/officeDocument/2006/relationships/vmlDrawing" Target="../drawings/vmlDrawing2.vml"/><Relationship Id="rId30" Type="http://schemas.openxmlformats.org/officeDocument/2006/relationships/slideLayout" Target="../slideLayouts/slideLayout70.xml"/><Relationship Id="rId3" Type="http://schemas.openxmlformats.org/officeDocument/2006/relationships/tags" Target="../tags/tag52.xml"/><Relationship Id="rId29" Type="http://schemas.openxmlformats.org/officeDocument/2006/relationships/image" Target="../media/image27.emf"/><Relationship Id="rId28" Type="http://schemas.openxmlformats.org/officeDocument/2006/relationships/oleObject" Target="../embeddings/oleObject14.bin"/><Relationship Id="rId27" Type="http://schemas.openxmlformats.org/officeDocument/2006/relationships/image" Target="../media/image26.emf"/><Relationship Id="rId26" Type="http://schemas.openxmlformats.org/officeDocument/2006/relationships/oleObject" Target="../embeddings/oleObject13.bin"/><Relationship Id="rId25" Type="http://schemas.openxmlformats.org/officeDocument/2006/relationships/image" Target="../media/image25.emf"/><Relationship Id="rId24" Type="http://schemas.openxmlformats.org/officeDocument/2006/relationships/oleObject" Target="../embeddings/oleObject12.bin"/><Relationship Id="rId23" Type="http://schemas.openxmlformats.org/officeDocument/2006/relationships/image" Target="../media/image24.emf"/><Relationship Id="rId22" Type="http://schemas.openxmlformats.org/officeDocument/2006/relationships/oleObject" Target="../embeddings/oleObject11.bin"/><Relationship Id="rId21" Type="http://schemas.openxmlformats.org/officeDocument/2006/relationships/image" Target="../media/image23.emf"/><Relationship Id="rId20" Type="http://schemas.openxmlformats.org/officeDocument/2006/relationships/oleObject" Target="../embeddings/oleObject10.bin"/><Relationship Id="rId2" Type="http://schemas.openxmlformats.org/officeDocument/2006/relationships/tags" Target="../tags/tag51.xml"/><Relationship Id="rId19" Type="http://schemas.openxmlformats.org/officeDocument/2006/relationships/image" Target="../media/image22.emf"/><Relationship Id="rId18" Type="http://schemas.openxmlformats.org/officeDocument/2006/relationships/oleObject" Target="../embeddings/oleObject9.bin"/><Relationship Id="rId17" Type="http://schemas.openxmlformats.org/officeDocument/2006/relationships/image" Target="../media/image21.emf"/><Relationship Id="rId16" Type="http://schemas.openxmlformats.org/officeDocument/2006/relationships/oleObject" Target="../embeddings/oleObject8.bin"/><Relationship Id="rId15" Type="http://schemas.openxmlformats.org/officeDocument/2006/relationships/image" Target="../media/image20.emf"/><Relationship Id="rId14" Type="http://schemas.openxmlformats.org/officeDocument/2006/relationships/oleObject" Target="../embeddings/oleObject7.bin"/><Relationship Id="rId13" Type="http://schemas.openxmlformats.org/officeDocument/2006/relationships/image" Target="../media/image19.emf"/><Relationship Id="rId12" Type="http://schemas.openxmlformats.org/officeDocument/2006/relationships/oleObject" Target="../embeddings/oleObject6.bin"/><Relationship Id="rId11" Type="http://schemas.openxmlformats.org/officeDocument/2006/relationships/image" Target="../media/image18.emf"/><Relationship Id="rId10" Type="http://schemas.openxmlformats.org/officeDocument/2006/relationships/oleObject" Target="../embeddings/oleObject5.bin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70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69.xml"/><Relationship Id="rId4" Type="http://schemas.microsoft.com/office/2007/relationships/hdphoto" Target="../media/image10.wdp"/><Relationship Id="rId3" Type="http://schemas.openxmlformats.org/officeDocument/2006/relationships/image" Target="../media/image9.png"/><Relationship Id="rId2" Type="http://schemas.microsoft.com/office/2007/relationships/hdphoto" Target="../media/image8.wdp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70.xml"/><Relationship Id="rId6" Type="http://schemas.openxmlformats.org/officeDocument/2006/relationships/image" Target="../media/image28.png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70.xml"/><Relationship Id="rId6" Type="http://schemas.openxmlformats.org/officeDocument/2006/relationships/image" Target="../media/image29.png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7" Type="http://schemas.openxmlformats.org/officeDocument/2006/relationships/slideLayout" Target="../slideLayouts/slideLayout70.xml"/><Relationship Id="rId6" Type="http://schemas.openxmlformats.org/officeDocument/2006/relationships/image" Target="../media/image30.png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1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microsoft.com/office/2007/relationships/hdphoto" Target="../media/image34.wdp"/><Relationship Id="rId5" Type="http://schemas.openxmlformats.org/officeDocument/2006/relationships/image" Target="../media/image33.png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microsoft.com/office/2007/relationships/hdphoto" Target="../media/image32.wdp"/><Relationship Id="rId10" Type="http://schemas.openxmlformats.org/officeDocument/2006/relationships/notesSlide" Target="../notesSlides/notesSlide19.xml"/><Relationship Id="rId1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-24543" y="1689582"/>
            <a:ext cx="12090639" cy="2365583"/>
            <a:chOff x="-24543" y="1910303"/>
            <a:chExt cx="12090639" cy="2180849"/>
          </a:xfrm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-24543" y="1910303"/>
              <a:ext cx="11914437" cy="2180849"/>
            </a:xfrm>
            <a:prstGeom prst="rect">
              <a:avLst/>
            </a:prstGeom>
            <a:solidFill>
              <a:srgbClr val="E0DFCC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 </a:t>
              </a:r>
              <a:endParaRPr lang="zh-CN" altLang="en-US" sz="1050" dirty="0"/>
            </a:p>
          </p:txBody>
        </p:sp>
        <p:sp>
          <p:nvSpPr>
            <p:cNvPr id="5" name="矩形 4"/>
            <p:cNvSpPr/>
            <p:nvPr/>
          </p:nvSpPr>
          <p:spPr>
            <a:xfrm>
              <a:off x="0" y="2157186"/>
              <a:ext cx="11847417" cy="1721131"/>
            </a:xfrm>
            <a:prstGeom prst="rect">
              <a:avLst/>
            </a:prstGeom>
            <a:solidFill>
              <a:srgbClr val="DD76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/>
            </a:p>
            <a:p>
              <a:pPr algn="ctr"/>
              <a:endParaRPr lang="zh-CN" altLang="en-US" sz="105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275425" y="2431970"/>
              <a:ext cx="11629121" cy="918210"/>
            </a:xfrm>
            <a:prstGeom prst="rect">
              <a:avLst/>
            </a:prstGeom>
            <a:noFill/>
          </p:spPr>
          <p:txBody>
            <a:bodyPr wrap="square" rtlCol="0">
              <a:noAutofit/>
              <a:scene3d>
                <a:camera prst="orthographicFront"/>
                <a:lightRig rig="threePt" dir="t"/>
              </a:scene3d>
            </a:bodyPr>
            <a:lstStyle/>
            <a:p>
              <a:pPr algn="ctr"/>
              <a:r>
                <a:rPr lang="zh-CN" altLang="en-US" sz="5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数据库系统实践汇报</a:t>
              </a:r>
              <a:endParaRPr lang="en-US" altLang="zh-CN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矩形 19"/>
            <p:cNvSpPr/>
            <p:nvPr>
              <p:custDataLst>
                <p:tags r:id="rId3"/>
              </p:custDataLst>
            </p:nvPr>
          </p:nvSpPr>
          <p:spPr>
            <a:xfrm>
              <a:off x="395230" y="3296579"/>
              <a:ext cx="3439116" cy="274320"/>
            </a:xfrm>
            <a:prstGeom prst="rect">
              <a:avLst/>
            </a:prstGeom>
          </p:spPr>
          <p:txBody>
            <a:bodyPr wrap="square" lIns="91397" tIns="45699" rIns="91397" bIns="45699">
              <a:spAutoFit/>
            </a:bodyPr>
            <a:lstStyle/>
            <a:p>
              <a:pPr algn="dist"/>
              <a:r>
                <a:rPr sz="1200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  <a:sym typeface="微软雅黑" panose="020B0503020204020204" charset="-122"/>
                </a:rPr>
                <a:t>Central South University</a:t>
              </a:r>
              <a:endParaRPr lang="en-US" altLang="zh-CN" sz="1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sym typeface="微软雅黑" panose="020B0503020204020204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1847417" y="2157186"/>
              <a:ext cx="218679" cy="1721131"/>
            </a:xfrm>
            <a:prstGeom prst="rect">
              <a:avLst/>
            </a:prstGeom>
            <a:solidFill>
              <a:srgbClr val="DDDC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/>
            </a:p>
            <a:p>
              <a:pPr algn="ctr"/>
              <a:endParaRPr lang="zh-CN" altLang="en-US" sz="1050"/>
            </a:p>
          </p:txBody>
        </p:sp>
      </p:grpSp>
      <p:sp>
        <p:nvSpPr>
          <p:cNvPr id="22" name="矩形 21"/>
          <p:cNvSpPr/>
          <p:nvPr>
            <p:custDataLst>
              <p:tags r:id="rId4"/>
            </p:custDataLst>
          </p:nvPr>
        </p:nvSpPr>
        <p:spPr>
          <a:xfrm>
            <a:off x="3681298" y="4874499"/>
            <a:ext cx="4502753" cy="899281"/>
          </a:xfrm>
          <a:prstGeom prst="rect">
            <a:avLst/>
          </a:prstGeom>
          <a:solidFill>
            <a:srgbClr val="E0DFCC">
              <a:alpha val="95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/>
          </a:p>
        </p:txBody>
      </p:sp>
      <p:grpSp>
        <p:nvGrpSpPr>
          <p:cNvPr id="4" name="组合 3"/>
          <p:cNvGrpSpPr/>
          <p:nvPr/>
        </p:nvGrpSpPr>
        <p:grpSpPr>
          <a:xfrm>
            <a:off x="3797792" y="4850094"/>
            <a:ext cx="4282036" cy="877332"/>
            <a:chOff x="4845858" y="3062227"/>
            <a:chExt cx="4282036" cy="877332"/>
          </a:xfrm>
        </p:grpSpPr>
        <p:sp>
          <p:nvSpPr>
            <p:cNvPr id="21" name="20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845858" y="3062227"/>
              <a:ext cx="4282036" cy="553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400"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汇报人</a:t>
              </a:r>
              <a:r>
                <a:rPr lang="zh-CN" altLang="en-US" sz="2400" dirty="0"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：</a:t>
              </a:r>
              <a:r>
                <a:rPr lang="zh-CN" altLang="en-US" sz="2400" b="1" dirty="0"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吴子健</a:t>
              </a:r>
              <a:endPara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12" name="20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5193639" y="3570624"/>
              <a:ext cx="3579530" cy="368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600" dirty="0">
                  <a:latin typeface="字魂58号-创中黑" pitchFamily="2" charset="-122"/>
                  <a:ea typeface="字魂58号-创中黑" pitchFamily="2" charset="-122"/>
                  <a:cs typeface="Arial" panose="020B0604020202020204" pitchFamily="34" charset="0"/>
                  <a:sym typeface="+mn-ea"/>
                </a:rPr>
                <a:t>2026</a:t>
              </a:r>
              <a:r>
                <a:rPr lang="zh-CN" altLang="en-US" sz="1600" dirty="0">
                  <a:latin typeface="字魂58号-创中黑" pitchFamily="2" charset="-122"/>
                  <a:ea typeface="字魂58号-创中黑" pitchFamily="2" charset="-122"/>
                  <a:cs typeface="Arial" panose="020B0604020202020204" pitchFamily="34" charset="0"/>
                  <a:sym typeface="+mn-ea"/>
                </a:rPr>
                <a:t>年</a:t>
              </a:r>
              <a:r>
                <a:rPr lang="en-US" altLang="zh-CN" sz="1600" dirty="0">
                  <a:latin typeface="字魂58号-创中黑" pitchFamily="2" charset="-122"/>
                  <a:ea typeface="字魂58号-创中黑" pitchFamily="2" charset="-122"/>
                  <a:cs typeface="Arial" panose="020B0604020202020204" pitchFamily="34" charset="0"/>
                  <a:sym typeface="+mn-ea"/>
                </a:rPr>
                <a:t>1</a:t>
              </a:r>
              <a:r>
                <a:rPr lang="zh-CN" altLang="en-US" sz="1600" dirty="0">
                  <a:latin typeface="字魂58号-创中黑" pitchFamily="2" charset="-122"/>
                  <a:ea typeface="字魂58号-创中黑" pitchFamily="2" charset="-122"/>
                  <a:cs typeface="Arial" panose="020B0604020202020204" pitchFamily="34" charset="0"/>
                  <a:sym typeface="+mn-ea"/>
                </a:rPr>
                <a:t>月</a:t>
              </a:r>
              <a:r>
                <a:rPr lang="en-US" altLang="zh-CN" sz="1600" dirty="0">
                  <a:latin typeface="字魂58号-创中黑" pitchFamily="2" charset="-122"/>
                  <a:ea typeface="字魂58号-创中黑" pitchFamily="2" charset="-122"/>
                  <a:cs typeface="Arial" panose="020B0604020202020204" pitchFamily="34" charset="0"/>
                  <a:sym typeface="+mn-ea"/>
                </a:rPr>
                <a:t>5</a:t>
              </a:r>
              <a:r>
                <a:rPr lang="zh-CN" altLang="en-US" sz="1600" dirty="0">
                  <a:latin typeface="字魂58号-创中黑" pitchFamily="2" charset="-122"/>
                  <a:ea typeface="字魂58号-创中黑" pitchFamily="2" charset="-122"/>
                  <a:cs typeface="Arial" panose="020B0604020202020204" pitchFamily="34" charset="0"/>
                  <a:sym typeface="+mn-ea"/>
                </a:rPr>
                <a:t>日</a:t>
              </a:r>
              <a:endParaRPr lang="zh-CN" altLang="en-US" sz="16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endParaRPr>
            </a:p>
          </p:txBody>
        </p:sp>
      </p:grpSp>
    </p:spTree>
    <p:custDataLst>
      <p:tags r:id="rId7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157102" y="1924491"/>
            <a:ext cx="706583" cy="3338945"/>
          </a:xfrm>
          <a:custGeom>
            <a:avLst/>
            <a:gdLst>
              <a:gd name="connsiteX0" fmla="*/ 0 w 997527"/>
              <a:gd name="connsiteY0" fmla="*/ 0 h 3338945"/>
              <a:gd name="connsiteX1" fmla="*/ 997527 w 997527"/>
              <a:gd name="connsiteY1" fmla="*/ 0 h 3338945"/>
              <a:gd name="connsiteX2" fmla="*/ 997527 w 997527"/>
              <a:gd name="connsiteY2" fmla="*/ 3338945 h 3338945"/>
              <a:gd name="connsiteX3" fmla="*/ 0 w 997527"/>
              <a:gd name="connsiteY3" fmla="*/ 3338945 h 3338945"/>
              <a:gd name="connsiteX4" fmla="*/ 0 w 997527"/>
              <a:gd name="connsiteY4" fmla="*/ 0 h 3338945"/>
              <a:gd name="connsiteX0-1" fmla="*/ 13854 w 997527"/>
              <a:gd name="connsiteY0-2" fmla="*/ 457200 h 3338945"/>
              <a:gd name="connsiteX1-3" fmla="*/ 997527 w 997527"/>
              <a:gd name="connsiteY1-4" fmla="*/ 0 h 3338945"/>
              <a:gd name="connsiteX2-5" fmla="*/ 997527 w 997527"/>
              <a:gd name="connsiteY2-6" fmla="*/ 3338945 h 3338945"/>
              <a:gd name="connsiteX3-7" fmla="*/ 0 w 997527"/>
              <a:gd name="connsiteY3-8" fmla="*/ 3338945 h 3338945"/>
              <a:gd name="connsiteX4-9" fmla="*/ 13854 w 997527"/>
              <a:gd name="connsiteY4-10" fmla="*/ 457200 h 333894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97527" h="3338945">
                <a:moveTo>
                  <a:pt x="13854" y="457200"/>
                </a:moveTo>
                <a:lnTo>
                  <a:pt x="997527" y="0"/>
                </a:lnTo>
                <a:lnTo>
                  <a:pt x="997527" y="3338945"/>
                </a:lnTo>
                <a:lnTo>
                  <a:pt x="0" y="3338945"/>
                </a:lnTo>
                <a:lnTo>
                  <a:pt x="13854" y="4572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30439" y="13855"/>
            <a:ext cx="8728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600" b="0" i="0" u="none" strike="noStrike" kern="1200" cap="none" spc="0" normalizeH="0" baseline="0" noProof="0" dirty="0">
                <a:ln w="31750"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egoe UI Emoji" panose="020B0502040204020203" pitchFamily="34" charset="0"/>
                <a:ea typeface="Segoe UI Emoji" panose="020B0502040204020203" pitchFamily="34" charset="0"/>
                <a:cs typeface="Segoe UI Black" panose="020B0A02040204020203" pitchFamily="34" charset="0"/>
              </a:rPr>
              <a:t>C</a:t>
            </a:r>
            <a:endParaRPr kumimoji="0" lang="zh-CN" altLang="en-US" sz="9600" b="0" i="0" u="none" strike="noStrike" kern="1200" cap="none" spc="0" normalizeH="0" baseline="0" noProof="0" dirty="0">
              <a:ln w="31750">
                <a:solidFill>
                  <a:prstClr val="white"/>
                </a:solidFill>
              </a:ln>
              <a:solidFill>
                <a:prstClr val="white"/>
              </a:solidFill>
              <a:effectLst/>
              <a:uLnTx/>
              <a:uFillTx/>
              <a:latin typeface="Segoe UI Emoji" panose="020B0502040204020203" pitchFamily="34" charset="0"/>
              <a:ea typeface="宋体" panose="02010600030101010101" pitchFamily="2" charset="-122"/>
              <a:cs typeface="Segoe UI Black" panose="020B0A02040204020203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68984" y="547361"/>
            <a:ext cx="42533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C7680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Lucida Calligraphy" panose="03010101010101010101" pitchFamily="66" charset="0"/>
                <a:ea typeface="方正粗黑宋简体" panose="02000000000000000000" pitchFamily="2" charset="-122"/>
              </a:rPr>
              <a:t>Contents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C7680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Lucida Calligraphy" panose="03010101010101010101" pitchFamily="66" charset="0"/>
              <a:ea typeface="方正粗黑宋简体" panose="02000000000000000000" pitchFamily="2" charset="-122"/>
            </a:endParaRPr>
          </a:p>
        </p:txBody>
      </p:sp>
      <p:sp>
        <p:nvSpPr>
          <p:cNvPr id="14" name="直角三角形 13"/>
          <p:cNvSpPr/>
          <p:nvPr/>
        </p:nvSpPr>
        <p:spPr>
          <a:xfrm>
            <a:off x="-481" y="1917230"/>
            <a:ext cx="1771649" cy="4984402"/>
          </a:xfrm>
          <a:prstGeom prst="rtTriangle">
            <a:avLst/>
          </a:prstGeom>
          <a:solidFill>
            <a:schemeClr val="bg1">
              <a:lumMod val="8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直角三角形 26"/>
          <p:cNvSpPr/>
          <p:nvPr/>
        </p:nvSpPr>
        <p:spPr>
          <a:xfrm flipV="1">
            <a:off x="0" y="51355"/>
            <a:ext cx="1302326" cy="3885427"/>
          </a:xfrm>
          <a:prstGeom prst="rtTriangle">
            <a:avLst/>
          </a:prstGeom>
          <a:solidFill>
            <a:schemeClr val="bg1">
              <a:lumMod val="8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alphaModFix amt="8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Cutou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4006" y="2151255"/>
            <a:ext cx="4727983" cy="344569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</p:pic>
      <p:grpSp>
        <p:nvGrpSpPr>
          <p:cNvPr id="11" name="组合 10"/>
          <p:cNvGrpSpPr/>
          <p:nvPr/>
        </p:nvGrpSpPr>
        <p:grpSpPr>
          <a:xfrm>
            <a:off x="0" y="0"/>
            <a:ext cx="12192000" cy="723900"/>
            <a:chOff x="0" y="0"/>
            <a:chExt cx="12192000" cy="723900"/>
          </a:xfrm>
        </p:grpSpPr>
        <p:sp>
          <p:nvSpPr>
            <p:cNvPr id="28" name="任意多边形: 形状 27"/>
            <p:cNvSpPr/>
            <p:nvPr/>
          </p:nvSpPr>
          <p:spPr>
            <a:xfrm flipH="1">
              <a:off x="0" y="0"/>
              <a:ext cx="12192000" cy="723900"/>
            </a:xfrm>
            <a:custGeom>
              <a:avLst/>
              <a:gdLst>
                <a:gd name="connsiteX0" fmla="*/ 12192000 w 12192000"/>
                <a:gd name="connsiteY0" fmla="*/ 0 h 723900"/>
                <a:gd name="connsiteX1" fmla="*/ 2755900 w 12192000"/>
                <a:gd name="connsiteY1" fmla="*/ 0 h 723900"/>
                <a:gd name="connsiteX2" fmla="*/ 4 w 12192000"/>
                <a:gd name="connsiteY2" fmla="*/ 0 h 723900"/>
                <a:gd name="connsiteX3" fmla="*/ 0 w 12192000"/>
                <a:gd name="connsiteY3" fmla="*/ 0 h 723900"/>
                <a:gd name="connsiteX4" fmla="*/ 0 w 12192000"/>
                <a:gd name="connsiteY4" fmla="*/ 723900 h 723900"/>
                <a:gd name="connsiteX5" fmla="*/ 1987354 w 12192000"/>
                <a:gd name="connsiteY5" fmla="*/ 723900 h 723900"/>
                <a:gd name="connsiteX6" fmla="*/ 2038350 w 12192000"/>
                <a:gd name="connsiteY6" fmla="*/ 717550 h 723900"/>
                <a:gd name="connsiteX7" fmla="*/ 2753650 w 12192000"/>
                <a:gd name="connsiteY7" fmla="*/ 288000 h 723900"/>
                <a:gd name="connsiteX8" fmla="*/ 12192000 w 12192000"/>
                <a:gd name="connsiteY8" fmla="*/ 288000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92000" h="723900">
                  <a:moveTo>
                    <a:pt x="12192000" y="0"/>
                  </a:moveTo>
                  <a:lnTo>
                    <a:pt x="2755900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723900"/>
                  </a:lnTo>
                  <a:lnTo>
                    <a:pt x="1987354" y="723900"/>
                  </a:lnTo>
                  <a:lnTo>
                    <a:pt x="2038350" y="717550"/>
                  </a:lnTo>
                  <a:cubicBezTo>
                    <a:pt x="2497291" y="642783"/>
                    <a:pt x="2432975" y="321492"/>
                    <a:pt x="2753650" y="288000"/>
                  </a:cubicBezTo>
                  <a:cubicBezTo>
                    <a:pt x="3074325" y="254508"/>
                    <a:pt x="9045883" y="288000"/>
                    <a:pt x="12192000" y="288000"/>
                  </a:cubicBezTo>
                  <a:close/>
                </a:path>
              </a:pathLst>
            </a:cu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31" name="图片 3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07837" y="136675"/>
              <a:ext cx="1663415" cy="487234"/>
            </a:xfrm>
            <a:prstGeom prst="rect">
              <a:avLst/>
            </a:prstGeom>
          </p:spPr>
        </p:pic>
      </p:grpSp>
      <p:grpSp>
        <p:nvGrpSpPr>
          <p:cNvPr id="4" name="组合 3"/>
          <p:cNvGrpSpPr/>
          <p:nvPr>
            <p:custDataLst>
              <p:tags r:id="rId4"/>
            </p:custDataLst>
          </p:nvPr>
        </p:nvGrpSpPr>
        <p:grpSpPr>
          <a:xfrm>
            <a:off x="5575995" y="1701255"/>
            <a:ext cx="3498129" cy="900000"/>
            <a:chOff x="6770955" y="1762974"/>
            <a:chExt cx="3498129" cy="900000"/>
          </a:xfrm>
        </p:grpSpPr>
        <p:sp>
          <p:nvSpPr>
            <p:cNvPr id="15" name="椭圆 14"/>
            <p:cNvSpPr/>
            <p:nvPr>
              <p:custDataLst>
                <p:tags r:id="rId5"/>
              </p:custDataLst>
            </p:nvPr>
          </p:nvSpPr>
          <p:spPr>
            <a:xfrm>
              <a:off x="6770955" y="1762974"/>
              <a:ext cx="900000" cy="900000"/>
            </a:xfrm>
            <a:prstGeom prst="ellipse">
              <a:avLst/>
            </a:prstGeom>
            <a:gradFill>
              <a:gsLst>
                <a:gs pos="87000">
                  <a:schemeClr val="accent2">
                    <a:lumMod val="75000"/>
                  </a:schemeClr>
                </a:gs>
                <a:gs pos="14000">
                  <a:srgbClr val="ECB980"/>
                </a:gs>
                <a:gs pos="53000">
                  <a:srgbClr val="DE7705"/>
                </a:gs>
                <a:gs pos="0">
                  <a:schemeClr val="bg1">
                    <a:alpha val="88000"/>
                    <a:lumMod val="98000"/>
                  </a:schemeClr>
                </a:gs>
              </a:gsLst>
              <a:lin ang="12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Eras Bold ITC" panose="020B0907030504020204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1</a:t>
              </a:r>
              <a:endPara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ras Bold ITC" panose="020B0907030504020204" pitchFamily="34" charset="0"/>
                <a:ea typeface="宋体" panose="02010600030101010101" pitchFamily="2" charset="-122"/>
                <a:cs typeface="Segoe UI Black" panose="020B0A02040204020203" pitchFamily="34" charset="0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7792836" y="1841816"/>
              <a:ext cx="2476248" cy="755287"/>
              <a:chOff x="7792836" y="1886379"/>
              <a:chExt cx="2476248" cy="672968"/>
            </a:xfrm>
          </p:grpSpPr>
          <p:sp>
            <p:nvSpPr>
              <p:cNvPr id="34" name="文本框 33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7792836" y="1886379"/>
                <a:ext cx="1569660" cy="4113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2400" b="1" spc="300" dirty="0">
                    <a:solidFill>
                      <a:srgbClr val="44546A">
                        <a:lumMod val="50000"/>
                      </a:srgb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/>
                    <a:ea typeface="微软雅黑" panose="020B0503020204020204" charset="-122"/>
                  </a:rPr>
                  <a:t>技术架构</a:t>
                </a:r>
                <a:endParaRPr lang="zh-CN" altLang="en-US" sz="2400" b="1" spc="300" dirty="0">
                  <a:solidFill>
                    <a:srgbClr val="44546A">
                      <a:lumMod val="50000"/>
                    </a:srgb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/>
                  <a:ea typeface="微软雅黑" panose="020B0503020204020204" charset="-122"/>
                </a:endParaRPr>
              </a:p>
            </p:txBody>
          </p:sp>
          <p:sp>
            <p:nvSpPr>
              <p:cNvPr id="35" name="文本框 34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7808602" y="2257692"/>
                <a:ext cx="2460482" cy="3016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lang="en-US" altLang="zh-CN" sz="1600" spc="100" dirty="0">
                    <a:solidFill>
                      <a:prstClr val="white">
                        <a:lumMod val="75000"/>
                      </a:prstClr>
                    </a:solidFill>
                    <a:latin typeface="Arial" panose="020B0604020202020204"/>
                    <a:ea typeface="微软雅黑" panose="020B0503020204020204" charset="-122"/>
                  </a:rPr>
                  <a:t>Technical Architecture</a:t>
                </a:r>
                <a:endParaRPr kumimoji="0" lang="zh-CN" altLang="en-US" sz="1600" b="0" i="0" u="none" strike="noStrike" kern="1200" cap="none" spc="10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</p:grpSp>
      </p:grpSp>
      <p:grpSp>
        <p:nvGrpSpPr>
          <p:cNvPr id="10" name="组合 9"/>
          <p:cNvGrpSpPr/>
          <p:nvPr/>
        </p:nvGrpSpPr>
        <p:grpSpPr>
          <a:xfrm>
            <a:off x="0" y="6622627"/>
            <a:ext cx="12192000" cy="288000"/>
            <a:chOff x="0" y="6622627"/>
            <a:chExt cx="12192000" cy="288000"/>
          </a:xfrm>
        </p:grpSpPr>
        <p:sp>
          <p:nvSpPr>
            <p:cNvPr id="30" name="矩形 29"/>
            <p:cNvSpPr/>
            <p:nvPr/>
          </p:nvSpPr>
          <p:spPr>
            <a:xfrm>
              <a:off x="0" y="6622627"/>
              <a:ext cx="12192000" cy="288000"/>
            </a:xfrm>
            <a:prstGeom prst="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defTabSz="913765">
                <a:defRPr/>
              </a:pPr>
              <a:endParaRPr lang="zh-CN" altLang="en-US" sz="1000" spc="60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9635412" y="6646312"/>
              <a:ext cx="2531378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 defTabSz="913765">
                <a:defRPr/>
              </a:pPr>
              <a:r>
                <a:rPr lang="en-US" altLang="zh-CN" sz="900" b="1" spc="300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Central South University</a:t>
              </a:r>
              <a:endParaRPr lang="zh-CN" altLang="en-US" sz="900" b="1" spc="30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267689" y="6640022"/>
              <a:ext cx="204630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050" b="1" spc="600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</a:rPr>
                <a:t>知行合一 经世致用</a:t>
              </a:r>
              <a:endParaRPr lang="zh-CN" altLang="en-US" sz="1050" b="1" dirty="0"/>
            </a:p>
          </p:txBody>
        </p:sp>
      </p:grpSp>
      <p:grpSp>
        <p:nvGrpSpPr>
          <p:cNvPr id="39" name="组合 38"/>
          <p:cNvGrpSpPr/>
          <p:nvPr>
            <p:custDataLst>
              <p:tags r:id="rId8"/>
            </p:custDataLst>
          </p:nvPr>
        </p:nvGrpSpPr>
        <p:grpSpPr>
          <a:xfrm>
            <a:off x="5575995" y="2827130"/>
            <a:ext cx="4458776" cy="900000"/>
            <a:chOff x="6770955" y="1762974"/>
            <a:chExt cx="4458776" cy="900000"/>
          </a:xfrm>
        </p:grpSpPr>
        <p:sp>
          <p:nvSpPr>
            <p:cNvPr id="40" name="椭圆 39"/>
            <p:cNvSpPr/>
            <p:nvPr>
              <p:custDataLst>
                <p:tags r:id="rId9"/>
              </p:custDataLst>
            </p:nvPr>
          </p:nvSpPr>
          <p:spPr>
            <a:xfrm>
              <a:off x="6770955" y="1762974"/>
              <a:ext cx="900000" cy="900000"/>
            </a:xfrm>
            <a:prstGeom prst="ellipse">
              <a:avLst/>
            </a:prstGeom>
            <a:gradFill>
              <a:gsLst>
                <a:gs pos="87000">
                  <a:schemeClr val="accent2">
                    <a:lumMod val="75000"/>
                  </a:schemeClr>
                </a:gs>
                <a:gs pos="14000">
                  <a:srgbClr val="ECB980"/>
                </a:gs>
                <a:gs pos="53000">
                  <a:srgbClr val="DE7705"/>
                </a:gs>
                <a:gs pos="0">
                  <a:schemeClr val="bg1">
                    <a:alpha val="88000"/>
                    <a:lumMod val="98000"/>
                  </a:schemeClr>
                </a:gs>
              </a:gsLst>
              <a:lin ang="12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Eras Bold ITC" panose="020B0907030504020204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2</a:t>
              </a:r>
              <a:endPara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ras Bold ITC" panose="020B0907030504020204" pitchFamily="34" charset="0"/>
                <a:ea typeface="宋体" panose="02010600030101010101" pitchFamily="2" charset="-122"/>
                <a:cs typeface="Segoe UI Black" panose="020B0A02040204020203" pitchFamily="34" charset="0"/>
              </a:endParaRPr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7792836" y="1841816"/>
              <a:ext cx="3436895" cy="755287"/>
              <a:chOff x="7792836" y="1886379"/>
              <a:chExt cx="3436895" cy="672968"/>
            </a:xfrm>
          </p:grpSpPr>
          <p:sp>
            <p:nvSpPr>
              <p:cNvPr id="42" name="文本框 41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7792836" y="1886379"/>
                <a:ext cx="1569660" cy="4113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zh-CN" altLang="en-US" sz="2400" b="1" spc="300" dirty="0">
                    <a:solidFill>
                      <a:srgbClr val="44546A">
                        <a:lumMod val="50000"/>
                      </a:srgb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/>
                    <a:ea typeface="微软雅黑" panose="020B0503020204020204" charset="-122"/>
                  </a:rPr>
                  <a:t>实现功能</a:t>
                </a:r>
                <a:endParaRPr lang="zh-CN" altLang="en-US" sz="2400" b="1" spc="300" dirty="0">
                  <a:solidFill>
                    <a:srgbClr val="44546A">
                      <a:lumMod val="50000"/>
                    </a:srgb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/>
                  <a:ea typeface="微软雅黑" panose="020B0503020204020204" charset="-122"/>
                </a:endParaRPr>
              </a:p>
            </p:txBody>
          </p:sp>
          <p:sp>
            <p:nvSpPr>
              <p:cNvPr id="43" name="文本框 42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7808602" y="2257692"/>
                <a:ext cx="3421129" cy="3016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lang="en-US" altLang="zh-CN" sz="1600" spc="100" dirty="0">
                    <a:solidFill>
                      <a:prstClr val="white">
                        <a:lumMod val="75000"/>
                      </a:prstClr>
                    </a:solidFill>
                    <a:latin typeface="Arial" panose="020B0604020202020204"/>
                    <a:ea typeface="微软雅黑" panose="020B0503020204020204" charset="-122"/>
                  </a:rPr>
                  <a:t>Implementation of Functionality</a:t>
                </a:r>
                <a:endParaRPr kumimoji="0" lang="zh-CN" altLang="en-US" sz="1600" b="0" i="0" u="none" strike="noStrike" kern="1200" cap="none" spc="10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</p:grpSp>
      </p:grpSp>
      <p:grpSp>
        <p:nvGrpSpPr>
          <p:cNvPr id="6" name="组合 5"/>
          <p:cNvGrpSpPr/>
          <p:nvPr>
            <p:custDataLst>
              <p:tags r:id="rId12"/>
            </p:custDataLst>
          </p:nvPr>
        </p:nvGrpSpPr>
        <p:grpSpPr>
          <a:xfrm>
            <a:off x="5575995" y="3931414"/>
            <a:ext cx="2985616" cy="900000"/>
            <a:chOff x="6770955" y="1762974"/>
            <a:chExt cx="2985616" cy="900000"/>
          </a:xfrm>
        </p:grpSpPr>
        <p:sp>
          <p:nvSpPr>
            <p:cNvPr id="12" name="椭圆 11"/>
            <p:cNvSpPr/>
            <p:nvPr>
              <p:custDataLst>
                <p:tags r:id="rId13"/>
              </p:custDataLst>
            </p:nvPr>
          </p:nvSpPr>
          <p:spPr>
            <a:xfrm>
              <a:off x="6770955" y="1762974"/>
              <a:ext cx="900000" cy="900000"/>
            </a:xfrm>
            <a:prstGeom prst="ellipse">
              <a:avLst/>
            </a:prstGeom>
            <a:gradFill>
              <a:gsLst>
                <a:gs pos="87000">
                  <a:schemeClr val="accent2">
                    <a:lumMod val="75000"/>
                  </a:schemeClr>
                </a:gs>
                <a:gs pos="14000">
                  <a:srgbClr val="ECB980"/>
                </a:gs>
                <a:gs pos="53000">
                  <a:srgbClr val="DE7705"/>
                </a:gs>
                <a:gs pos="0">
                  <a:schemeClr val="bg1">
                    <a:alpha val="88000"/>
                    <a:lumMod val="98000"/>
                  </a:schemeClr>
                </a:gs>
              </a:gsLst>
              <a:lin ang="12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3600" dirty="0">
                  <a:solidFill>
                    <a:prstClr val="white"/>
                  </a:solidFill>
                  <a:latin typeface="Eras Bold ITC" panose="020B0907030504020204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3</a:t>
              </a:r>
              <a:endPara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ras Bold ITC" panose="020B0907030504020204" pitchFamily="34" charset="0"/>
                <a:ea typeface="宋体" panose="02010600030101010101" pitchFamily="2" charset="-122"/>
                <a:cs typeface="Segoe UI Black" panose="020B0A02040204020203" pitchFamily="34" charset="0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7792836" y="1841816"/>
              <a:ext cx="1963735" cy="755287"/>
              <a:chOff x="7792836" y="1886379"/>
              <a:chExt cx="1963735" cy="672968"/>
            </a:xfrm>
          </p:grpSpPr>
          <p:sp>
            <p:nvSpPr>
              <p:cNvPr id="16" name="文本框 15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7792836" y="1886379"/>
                <a:ext cx="1915909" cy="4113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zh-CN" altLang="en-US" sz="2400" b="1" spc="300" dirty="0">
                    <a:solidFill>
                      <a:srgbClr val="44546A">
                        <a:lumMod val="50000"/>
                      </a:srgb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/>
                    <a:ea typeface="微软雅黑" panose="020B0503020204020204" charset="-122"/>
                  </a:rPr>
                  <a:t>数据库设计</a:t>
                </a:r>
                <a:endParaRPr lang="zh-CN" altLang="en-US" sz="2400" b="1" spc="300" dirty="0">
                  <a:solidFill>
                    <a:srgbClr val="44546A">
                      <a:lumMod val="50000"/>
                    </a:srgb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/>
                  <a:ea typeface="微软雅黑" panose="020B0503020204020204" charset="-122"/>
                </a:endParaRPr>
              </a:p>
            </p:txBody>
          </p:sp>
          <p:sp>
            <p:nvSpPr>
              <p:cNvPr id="17" name="文本框 16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7808602" y="2257692"/>
                <a:ext cx="1947969" cy="3016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lang="en-US" altLang="zh-CN" sz="1600" spc="100" dirty="0">
                    <a:solidFill>
                      <a:prstClr val="white">
                        <a:lumMod val="75000"/>
                      </a:prstClr>
                    </a:solidFill>
                    <a:latin typeface="Arial" panose="020B0604020202020204"/>
                    <a:ea typeface="微软雅黑" panose="020B0503020204020204" charset="-122"/>
                  </a:rPr>
                  <a:t>Database Design</a:t>
                </a:r>
                <a:endParaRPr kumimoji="0" lang="zh-CN" altLang="en-US" sz="1600" b="0" i="0" u="none" strike="noStrike" kern="1200" cap="none" spc="10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</p:grpSp>
      </p:grpSp>
      <p:grpSp>
        <p:nvGrpSpPr>
          <p:cNvPr id="18" name="组合 17"/>
          <p:cNvGrpSpPr/>
          <p:nvPr>
            <p:custDataLst>
              <p:tags r:id="rId16"/>
            </p:custDataLst>
          </p:nvPr>
        </p:nvGrpSpPr>
        <p:grpSpPr>
          <a:xfrm>
            <a:off x="5575995" y="4953110"/>
            <a:ext cx="2967984" cy="900000"/>
            <a:chOff x="6770955" y="1762974"/>
            <a:chExt cx="2967984" cy="900000"/>
          </a:xfrm>
        </p:grpSpPr>
        <p:sp>
          <p:nvSpPr>
            <p:cNvPr id="19" name="椭圆 18"/>
            <p:cNvSpPr/>
            <p:nvPr>
              <p:custDataLst>
                <p:tags r:id="rId17"/>
              </p:custDataLst>
            </p:nvPr>
          </p:nvSpPr>
          <p:spPr>
            <a:xfrm>
              <a:off x="6770955" y="1762974"/>
              <a:ext cx="900000" cy="900000"/>
            </a:xfrm>
            <a:prstGeom prst="ellipse">
              <a:avLst/>
            </a:prstGeom>
            <a:gradFill>
              <a:gsLst>
                <a:gs pos="87000">
                  <a:schemeClr val="accent2">
                    <a:lumMod val="75000"/>
                  </a:schemeClr>
                </a:gs>
                <a:gs pos="14000">
                  <a:srgbClr val="ECB980"/>
                </a:gs>
                <a:gs pos="53000">
                  <a:srgbClr val="DE7705"/>
                </a:gs>
                <a:gs pos="0">
                  <a:schemeClr val="bg1">
                    <a:alpha val="88000"/>
                    <a:lumMod val="98000"/>
                  </a:schemeClr>
                </a:gs>
              </a:gsLst>
              <a:lin ang="12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3600" dirty="0">
                  <a:solidFill>
                    <a:prstClr val="white"/>
                  </a:solidFill>
                  <a:latin typeface="Eras Bold ITC" panose="020B0907030504020204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4</a:t>
              </a:r>
              <a:endPara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ras Bold ITC" panose="020B0907030504020204" pitchFamily="34" charset="0"/>
                <a:ea typeface="宋体" panose="02010600030101010101" pitchFamily="2" charset="-122"/>
                <a:cs typeface="Segoe UI Black" panose="020B0A02040204020203" pitchFamily="34" charset="0"/>
              </a:endParaRPr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7792836" y="1841816"/>
              <a:ext cx="1946103" cy="755287"/>
              <a:chOff x="7792836" y="1886379"/>
              <a:chExt cx="1946103" cy="672968"/>
            </a:xfrm>
          </p:grpSpPr>
          <p:sp>
            <p:nvSpPr>
              <p:cNvPr id="21" name="文本框 20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7792836" y="1886379"/>
                <a:ext cx="1569660" cy="4113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zh-CN" altLang="en-US" sz="2400" b="1" spc="300" dirty="0">
                    <a:solidFill>
                      <a:srgbClr val="44546A">
                        <a:lumMod val="50000"/>
                      </a:srgb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/>
                    <a:ea typeface="微软雅黑" panose="020B0503020204020204" charset="-122"/>
                  </a:rPr>
                  <a:t>界面展示</a:t>
                </a:r>
                <a:endParaRPr lang="zh-CN" altLang="en-US" sz="2400" b="1" spc="300" dirty="0">
                  <a:solidFill>
                    <a:srgbClr val="44546A">
                      <a:lumMod val="50000"/>
                    </a:srgb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/>
                  <a:ea typeface="微软雅黑" panose="020B0503020204020204" charset="-122"/>
                </a:endParaRPr>
              </a:p>
            </p:txBody>
          </p:sp>
          <p:sp>
            <p:nvSpPr>
              <p:cNvPr id="22" name="文本框 21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7808602" y="2257692"/>
                <a:ext cx="1930337" cy="3016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lang="en-US" altLang="zh-CN" sz="1600" spc="100" dirty="0">
                    <a:solidFill>
                      <a:prstClr val="white">
                        <a:lumMod val="75000"/>
                      </a:prstClr>
                    </a:solidFill>
                    <a:latin typeface="Arial" panose="020B0604020202020204"/>
                    <a:ea typeface="微软雅黑" panose="020B0503020204020204" charset="-122"/>
                  </a:rPr>
                  <a:t>Interface Display</a:t>
                </a:r>
                <a:endParaRPr kumimoji="0" lang="zh-CN" altLang="en-US" sz="1600" b="0" i="0" u="none" strike="noStrike" kern="1200" cap="none" spc="10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9061" y="980166"/>
            <a:ext cx="12153878" cy="4710212"/>
            <a:chOff x="19061" y="980166"/>
            <a:chExt cx="12153878" cy="4710212"/>
          </a:xfrm>
        </p:grpSpPr>
        <p:sp>
          <p:nvSpPr>
            <p:cNvPr id="4" name="矩形 3"/>
            <p:cNvSpPr/>
            <p:nvPr/>
          </p:nvSpPr>
          <p:spPr>
            <a:xfrm>
              <a:off x="3326130" y="980166"/>
              <a:ext cx="5539740" cy="4710212"/>
            </a:xfrm>
            <a:prstGeom prst="rect">
              <a:avLst/>
            </a:prstGeom>
            <a:solidFill>
              <a:srgbClr val="DD76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artisticBlur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>
            <a:xfrm>
              <a:off x="19061" y="983975"/>
              <a:ext cx="3320364" cy="4706403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>
            <a:xfrm>
              <a:off x="8865870" y="983976"/>
              <a:ext cx="3307069" cy="4702593"/>
            </a:xfrm>
            <a:prstGeom prst="rect">
              <a:avLst/>
            </a:prstGeom>
          </p:spPr>
        </p:pic>
      </p:grpSp>
      <p:sp>
        <p:nvSpPr>
          <p:cNvPr id="5" name="矩形 4"/>
          <p:cNvSpPr/>
          <p:nvPr/>
        </p:nvSpPr>
        <p:spPr>
          <a:xfrm>
            <a:off x="3856382" y="1539631"/>
            <a:ext cx="4532243" cy="3688354"/>
          </a:xfrm>
          <a:prstGeom prst="rect">
            <a:avLst/>
          </a:prstGeom>
          <a:noFill/>
          <a:ln w="38100" cmpd="sng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239853" y="2475875"/>
            <a:ext cx="373888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ras Bold ITC" panose="020B0907030504020204" pitchFamily="34" charset="0"/>
                <a:ea typeface="汉仪南宫体简" panose="02010509060101010101" charset="-122"/>
              </a:rPr>
              <a:t>01</a:t>
            </a:r>
            <a:endParaRPr kumimoji="0" lang="en-US" altLang="zh-CN" sz="6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ras Bold ITC" panose="020B0907030504020204" pitchFamily="34" charset="0"/>
              <a:ea typeface="汉仪南宫体简" panose="02010509060101010101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970591" y="3495344"/>
            <a:ext cx="43038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zh-CN" altLang="en-US" sz="6000" b="1" dirty="0">
                <a:solidFill>
                  <a:prstClr val="white"/>
                </a:solidFill>
                <a:latin typeface="仿宋" panose="02010609060101010101" charset="-122"/>
                <a:ea typeface="仿宋" panose="02010609060101010101" charset="-122"/>
              </a:rPr>
              <a:t>技术架构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305762" y="4928867"/>
            <a:ext cx="269016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 defTabSz="913765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Eras Bold ITC" panose="020B0907030504020204" pitchFamily="34" charset="0"/>
                <a:ea typeface="微软雅黑" panose="020B0503020204020204" charset="-122"/>
                <a:cs typeface="Arial" panose="020B0604020202020204" pitchFamily="34" charset="0"/>
              </a:rPr>
              <a:t>Central South University</a:t>
            </a:r>
            <a:endParaRPr lang="zh-CN" altLang="en-US" sz="1000" spc="300" dirty="0">
              <a:solidFill>
                <a:prstClr val="white"/>
              </a:solidFill>
              <a:latin typeface="Eras Bold ITC" panose="020B0907030504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0"/>
            <a:ext cx="12192000" cy="723900"/>
            <a:chOff x="0" y="0"/>
            <a:chExt cx="12192000" cy="723900"/>
          </a:xfrm>
        </p:grpSpPr>
        <p:sp>
          <p:nvSpPr>
            <p:cNvPr id="3" name="任意多边形: 形状 2"/>
            <p:cNvSpPr/>
            <p:nvPr/>
          </p:nvSpPr>
          <p:spPr>
            <a:xfrm flipH="1">
              <a:off x="0" y="0"/>
              <a:ext cx="12192000" cy="723900"/>
            </a:xfrm>
            <a:custGeom>
              <a:avLst/>
              <a:gdLst>
                <a:gd name="connsiteX0" fmla="*/ 12192000 w 12192000"/>
                <a:gd name="connsiteY0" fmla="*/ 0 h 723900"/>
                <a:gd name="connsiteX1" fmla="*/ 2755900 w 12192000"/>
                <a:gd name="connsiteY1" fmla="*/ 0 h 723900"/>
                <a:gd name="connsiteX2" fmla="*/ 4 w 12192000"/>
                <a:gd name="connsiteY2" fmla="*/ 0 h 723900"/>
                <a:gd name="connsiteX3" fmla="*/ 0 w 12192000"/>
                <a:gd name="connsiteY3" fmla="*/ 0 h 723900"/>
                <a:gd name="connsiteX4" fmla="*/ 0 w 12192000"/>
                <a:gd name="connsiteY4" fmla="*/ 723900 h 723900"/>
                <a:gd name="connsiteX5" fmla="*/ 1987354 w 12192000"/>
                <a:gd name="connsiteY5" fmla="*/ 723900 h 723900"/>
                <a:gd name="connsiteX6" fmla="*/ 2038350 w 12192000"/>
                <a:gd name="connsiteY6" fmla="*/ 717550 h 723900"/>
                <a:gd name="connsiteX7" fmla="*/ 2753650 w 12192000"/>
                <a:gd name="connsiteY7" fmla="*/ 288000 h 723900"/>
                <a:gd name="connsiteX8" fmla="*/ 12192000 w 12192000"/>
                <a:gd name="connsiteY8" fmla="*/ 288000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92000" h="723900">
                  <a:moveTo>
                    <a:pt x="12192000" y="0"/>
                  </a:moveTo>
                  <a:lnTo>
                    <a:pt x="2755900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723900"/>
                  </a:lnTo>
                  <a:lnTo>
                    <a:pt x="1987354" y="723900"/>
                  </a:lnTo>
                  <a:lnTo>
                    <a:pt x="2038350" y="717550"/>
                  </a:lnTo>
                  <a:cubicBezTo>
                    <a:pt x="2497291" y="642783"/>
                    <a:pt x="2432975" y="321492"/>
                    <a:pt x="2753650" y="288000"/>
                  </a:cubicBezTo>
                  <a:cubicBezTo>
                    <a:pt x="3074325" y="254508"/>
                    <a:pt x="9045883" y="288000"/>
                    <a:pt x="12192000" y="288000"/>
                  </a:cubicBezTo>
                  <a:close/>
                </a:path>
              </a:pathLst>
            </a:cu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07837" y="136675"/>
              <a:ext cx="1663415" cy="487234"/>
            </a:xfrm>
            <a:prstGeom prst="rect">
              <a:avLst/>
            </a:prstGeom>
          </p:spPr>
        </p:pic>
      </p:grpSp>
      <p:grpSp>
        <p:nvGrpSpPr>
          <p:cNvPr id="5" name="组合 4"/>
          <p:cNvGrpSpPr/>
          <p:nvPr/>
        </p:nvGrpSpPr>
        <p:grpSpPr>
          <a:xfrm>
            <a:off x="0" y="6622627"/>
            <a:ext cx="12192000" cy="288000"/>
            <a:chOff x="0" y="6622627"/>
            <a:chExt cx="12192000" cy="288000"/>
          </a:xfrm>
        </p:grpSpPr>
        <p:sp>
          <p:nvSpPr>
            <p:cNvPr id="6" name="矩形 5"/>
            <p:cNvSpPr/>
            <p:nvPr/>
          </p:nvSpPr>
          <p:spPr>
            <a:xfrm>
              <a:off x="0" y="6622627"/>
              <a:ext cx="12192000" cy="288000"/>
            </a:xfrm>
            <a:prstGeom prst="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defTabSz="913765">
                <a:defRPr/>
              </a:pPr>
              <a:endParaRPr lang="zh-CN" sz="1000" spc="600" noProof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9635412" y="6646312"/>
              <a:ext cx="2531378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 defTabSz="913765">
                <a:defRPr/>
              </a:pPr>
              <a:r>
                <a:rPr lang="zh-CN" sz="900" b="1" spc="300" noProof="1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Central South University</a:t>
              </a:r>
              <a:endParaRPr lang="zh-CN" sz="900" b="1" spc="300" noProof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7689" y="6640022"/>
              <a:ext cx="204630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sz="1050" b="1" spc="600" noProof="1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</a:rPr>
                <a:t>知行合一 经世致用</a:t>
              </a:r>
              <a:endParaRPr lang="zh-CN" sz="1050" b="1" noProof="1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285143" y="543144"/>
            <a:ext cx="7472017" cy="754818"/>
            <a:chOff x="285143" y="543144"/>
            <a:chExt cx="7472017" cy="754818"/>
          </a:xfrm>
        </p:grpSpPr>
        <p:sp>
          <p:nvSpPr>
            <p:cNvPr id="20" name="矩形 19"/>
            <p:cNvSpPr/>
            <p:nvPr>
              <p:custDataLst>
                <p:tags r:id="rId2"/>
              </p:custDataLst>
            </p:nvPr>
          </p:nvSpPr>
          <p:spPr>
            <a:xfrm>
              <a:off x="285143" y="543144"/>
              <a:ext cx="499110" cy="661035"/>
            </a:xfrm>
            <a:prstGeom prst="rect">
              <a:avLst/>
            </a:prstGeom>
            <a:solidFill>
              <a:srgbClr val="ED7D31">
                <a:lumMod val="40000"/>
                <a:lumOff val="60000"/>
                <a:alpha val="9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1" name="矩形 20"/>
            <p:cNvSpPr/>
            <p:nvPr>
              <p:custDataLst>
                <p:tags r:id="rId3"/>
              </p:custDataLst>
            </p:nvPr>
          </p:nvSpPr>
          <p:spPr>
            <a:xfrm>
              <a:off x="844578" y="543144"/>
              <a:ext cx="137795" cy="661035"/>
            </a:xfrm>
            <a:prstGeom prst="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2" name="文本框 21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101752" y="543144"/>
              <a:ext cx="665540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lvl="0">
                <a:spcBef>
                  <a:spcPct val="50000"/>
                </a:spcBef>
                <a:defRPr/>
              </a:pPr>
              <a:r>
                <a:rPr kumimoji="0" lang="zh-CN" altLang="en-US" sz="2800" b="1" i="0" u="none" strike="noStrike" kern="0" cap="none" spc="0" normalizeH="0" baseline="0" noProof="1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系统架构概览</a:t>
              </a:r>
              <a:endParaRPr kumimoji="0" lang="zh-CN" sz="2800" b="1" i="0" u="none" strike="noStrike" kern="0" cap="none" spc="0" normalizeH="0" baseline="0" noProof="1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文本框 22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101753" y="990185"/>
              <a:ext cx="414530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s-ES" altLang="zh-CN" sz="1400" kern="0" spc="100" noProof="1">
                  <a:solidFill>
                    <a:schemeClr val="accent2">
                      <a:lumMod val="40000"/>
                      <a:lumOff val="60000"/>
                    </a:schemeClr>
                  </a:solidFill>
                  <a:ea typeface="微软雅黑" panose="020B0503020204020204" charset="-122"/>
                </a:rPr>
                <a:t>System Architecture Overview</a:t>
              </a:r>
              <a:endParaRPr kumimoji="0" lang="zh-CN" sz="1400" i="0" u="none" strike="noStrike" kern="0" cap="none" spc="100" normalizeH="0" baseline="0" noProof="1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ea typeface="微软雅黑" panose="020B0503020204020204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033097" y="0"/>
            <a:ext cx="5622257" cy="308929"/>
            <a:chOff x="3097161" y="-9939"/>
            <a:chExt cx="5622257" cy="308929"/>
          </a:xfrm>
        </p:grpSpPr>
        <p:sp>
          <p:nvSpPr>
            <p:cNvPr id="25" name="矩形: 圆顶角 24"/>
            <p:cNvSpPr/>
            <p:nvPr/>
          </p:nvSpPr>
          <p:spPr>
            <a:xfrm>
              <a:off x="3097161" y="22131"/>
              <a:ext cx="1397369" cy="276859"/>
            </a:xfrm>
            <a:prstGeom prst="round2Same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1">
                  <a:ln>
                    <a:noFill/>
                  </a:ln>
                  <a:solidFill>
                    <a:srgbClr val="DD7604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rPr>
                <a:t>技术架构</a:t>
              </a:r>
              <a:endParaRPr kumimoji="0" lang="zh-CN" sz="1600" b="1" i="0" u="none" strike="noStrike" kern="0" cap="none" spc="0" normalizeH="0" baseline="0" noProof="1">
                <a:ln>
                  <a:noFill/>
                </a:ln>
                <a:solidFill>
                  <a:srgbClr val="DD7604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6" name="矩形: 圆顶角 25"/>
            <p:cNvSpPr/>
            <p:nvPr/>
          </p:nvSpPr>
          <p:spPr>
            <a:xfrm>
              <a:off x="4501889" y="-9648"/>
              <a:ext cx="1397369" cy="276859"/>
            </a:xfrm>
            <a:prstGeom prst="round2Same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b="1" kern="0" noProof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实现功能</a:t>
              </a:r>
              <a:endParaRPr kumimoji="0" lang="zh-CN" sz="16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7" name="矩形: 圆顶角 26"/>
            <p:cNvSpPr/>
            <p:nvPr/>
          </p:nvSpPr>
          <p:spPr>
            <a:xfrm>
              <a:off x="5913753" y="-9939"/>
              <a:ext cx="1397369" cy="276859"/>
            </a:xfrm>
            <a:prstGeom prst="round2Same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CN" altLang="en-US" sz="1600" b="1" kern="0" noProof="1">
                  <a:solidFill>
                    <a:prstClr val="white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数据库设计</a:t>
              </a:r>
              <a:endParaRPr lang="zh-CN" altLang="zh-CN" sz="1600" b="1" kern="0" noProof="1">
                <a:solidFill>
                  <a:prstClr val="white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8" name="矩形: 圆顶角 27"/>
            <p:cNvSpPr/>
            <p:nvPr/>
          </p:nvSpPr>
          <p:spPr>
            <a:xfrm>
              <a:off x="7322049" y="-6624"/>
              <a:ext cx="1397369" cy="276859"/>
            </a:xfrm>
            <a:prstGeom prst="round2Same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rPr>
                <a:t>界面展示</a:t>
              </a:r>
              <a:endParaRPr kumimoji="0" lang="zh-CN" sz="16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498363" y="2631655"/>
            <a:ext cx="2260544" cy="2992183"/>
            <a:chOff x="1375904" y="2602474"/>
            <a:chExt cx="2260544" cy="2992183"/>
          </a:xfrm>
        </p:grpSpPr>
        <p:grpSp>
          <p:nvGrpSpPr>
            <p:cNvPr id="13" name="组合 12"/>
            <p:cNvGrpSpPr/>
            <p:nvPr/>
          </p:nvGrpSpPr>
          <p:grpSpPr>
            <a:xfrm>
              <a:off x="1375904" y="2602474"/>
              <a:ext cx="2260542" cy="2992183"/>
              <a:chOff x="1197146" y="3422132"/>
              <a:chExt cx="2713461" cy="2992183"/>
            </a:xfrm>
          </p:grpSpPr>
          <p:sp>
            <p:nvSpPr>
              <p:cNvPr id="14" name="矩形: 圆角 13"/>
              <p:cNvSpPr/>
              <p:nvPr/>
            </p:nvSpPr>
            <p:spPr>
              <a:xfrm>
                <a:off x="1199043" y="3422132"/>
                <a:ext cx="2711564" cy="2992183"/>
              </a:xfrm>
              <a:prstGeom prst="roundRect">
                <a:avLst>
                  <a:gd name="adj" fmla="val 9763"/>
                </a:avLst>
              </a:prstGeom>
              <a:solidFill>
                <a:srgbClr val="D6E5D2"/>
              </a:solidFill>
              <a:ln w="19050">
                <a:solidFill>
                  <a:srgbClr val="4B869F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49607B"/>
                  </a:solidFill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1197146" y="3543654"/>
                <a:ext cx="27115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latin typeface="微软雅黑" panose="020B0503020204020204" charset="-122"/>
                    <a:ea typeface="微软雅黑" panose="020B0503020204020204" charset="-122"/>
                  </a:rPr>
                  <a:t>表现层</a:t>
                </a:r>
                <a:endParaRPr lang="zh-CN" altLang="en-US" b="1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1877473" y="4125603"/>
                <a:ext cx="1354704" cy="400764"/>
              </a:xfrm>
              <a:prstGeom prst="roundRect">
                <a:avLst>
                  <a:gd name="adj" fmla="val 27760"/>
                </a:avLst>
              </a:prstGeom>
              <a:solidFill>
                <a:srgbClr val="C3D9BD"/>
              </a:solidFill>
              <a:ln w="25400">
                <a:solidFill>
                  <a:srgbClr val="4B869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微软雅黑" panose="020B0503020204020204" charset="-122"/>
                    <a:ea typeface="微软雅黑" panose="020B0503020204020204" charset="-122"/>
                  </a:rPr>
                  <a:t>Vue 3</a:t>
                </a:r>
                <a:endParaRPr lang="en-US" altLang="zh-CN" sz="1600" b="1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53" name="文本框 52"/>
            <p:cNvSpPr txBox="1"/>
            <p:nvPr/>
          </p:nvSpPr>
          <p:spPr>
            <a:xfrm>
              <a:off x="1952169" y="3995500"/>
              <a:ext cx="1128583" cy="400764"/>
            </a:xfrm>
            <a:prstGeom prst="roundRect">
              <a:avLst>
                <a:gd name="adj" fmla="val 27760"/>
              </a:avLst>
            </a:prstGeom>
            <a:solidFill>
              <a:srgbClr val="C3D9BD"/>
            </a:solidFill>
            <a:ln w="25400">
              <a:solidFill>
                <a:srgbClr val="4B869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latin typeface="微软雅黑" panose="020B0503020204020204" charset="-122"/>
                  <a:ea typeface="微软雅黑" panose="020B0503020204020204" charset="-122"/>
                </a:rPr>
                <a:t>Vite</a:t>
              </a:r>
              <a:endParaRPr lang="en-US" altLang="zh-CN" sz="16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1935900" y="4685055"/>
              <a:ext cx="1128583" cy="400764"/>
            </a:xfrm>
            <a:prstGeom prst="roundRect">
              <a:avLst>
                <a:gd name="adj" fmla="val 27760"/>
              </a:avLst>
            </a:prstGeom>
            <a:solidFill>
              <a:srgbClr val="C3D9BD"/>
            </a:solidFill>
            <a:ln w="25400">
              <a:solidFill>
                <a:srgbClr val="4B869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latin typeface="微软雅黑" panose="020B0503020204020204" charset="-122"/>
                  <a:ea typeface="微软雅黑" panose="020B0503020204020204" charset="-122"/>
                </a:rPr>
                <a:t>Axios</a:t>
              </a:r>
              <a:endParaRPr lang="en-US" altLang="zh-CN" sz="16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377486" y="5189944"/>
              <a:ext cx="225896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latin typeface="楷体_GB2312" panose="02010609030101010101" pitchFamily="49" charset="-122"/>
                  <a:ea typeface="楷体_GB2312" panose="02010609030101010101" pitchFamily="49" charset="-122"/>
                </a:rPr>
                <a:t>页面交互与数据展示</a:t>
              </a:r>
              <a:endPara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4913073" y="2631655"/>
            <a:ext cx="2365853" cy="2992183"/>
            <a:chOff x="4768952" y="2609341"/>
            <a:chExt cx="2365853" cy="2992183"/>
          </a:xfrm>
        </p:grpSpPr>
        <p:grpSp>
          <p:nvGrpSpPr>
            <p:cNvPr id="34" name="组合 33"/>
            <p:cNvGrpSpPr/>
            <p:nvPr/>
          </p:nvGrpSpPr>
          <p:grpSpPr>
            <a:xfrm>
              <a:off x="4770533" y="2609341"/>
              <a:ext cx="2363893" cy="2992183"/>
              <a:chOff x="4900468" y="3429000"/>
              <a:chExt cx="2363893" cy="2992183"/>
            </a:xfrm>
          </p:grpSpPr>
          <p:sp>
            <p:nvSpPr>
              <p:cNvPr id="35" name="矩形: 圆角 34"/>
              <p:cNvSpPr/>
              <p:nvPr/>
            </p:nvSpPr>
            <p:spPr>
              <a:xfrm>
                <a:off x="4900468" y="3429000"/>
                <a:ext cx="2363893" cy="2992183"/>
              </a:xfrm>
              <a:prstGeom prst="roundRect">
                <a:avLst>
                  <a:gd name="adj" fmla="val 11821"/>
                </a:avLst>
              </a:prstGeom>
              <a:solidFill>
                <a:srgbClr val="FEE4CD"/>
              </a:solidFill>
              <a:ln w="19050">
                <a:solidFill>
                  <a:srgbClr val="4B869F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49607B"/>
                  </a:solidFill>
                </a:endParaRP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5254287" y="4491666"/>
                <a:ext cx="1656254" cy="646986"/>
              </a:xfrm>
              <a:prstGeom prst="roundRect">
                <a:avLst/>
              </a:prstGeom>
              <a:solidFill>
                <a:srgbClr val="FACFA5"/>
              </a:solidFill>
              <a:ln w="25400">
                <a:solidFill>
                  <a:srgbClr val="4B869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微软雅黑" panose="020B0503020204020204" charset="-122"/>
                    <a:ea typeface="微软雅黑" panose="020B0503020204020204" charset="-122"/>
                  </a:rPr>
                  <a:t>Python </a:t>
                </a:r>
                <a:r>
                  <a:rPr lang="en-US" altLang="zh-CN" sz="1600" b="1" dirty="0" err="1">
                    <a:latin typeface="微软雅黑" panose="020B0503020204020204" charset="-122"/>
                    <a:ea typeface="微软雅黑" panose="020B0503020204020204" charset="-122"/>
                  </a:rPr>
                  <a:t>FastAPI</a:t>
                </a:r>
                <a:endParaRPr lang="zh-CN" altLang="en-US" sz="1600" b="1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51" name="文本框 50"/>
            <p:cNvSpPr txBox="1"/>
            <p:nvPr/>
          </p:nvSpPr>
          <p:spPr>
            <a:xfrm>
              <a:off x="4768952" y="2730864"/>
              <a:ext cx="23654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latin typeface="微软雅黑" panose="020B0503020204020204" charset="-122"/>
                  <a:ea typeface="微软雅黑" panose="020B0503020204020204" charset="-122"/>
                </a:rPr>
                <a:t>业务逻辑层</a:t>
              </a:r>
              <a:endParaRPr lang="zh-CN" altLang="en-US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4772445" y="4661906"/>
              <a:ext cx="236236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latin typeface="楷体_GB2312" panose="02010609030101010101" pitchFamily="49" charset="-122"/>
                  <a:ea typeface="楷体_GB2312" panose="02010609030101010101" pitchFamily="49" charset="-122"/>
                </a:rPr>
                <a:t>提供 </a:t>
              </a:r>
              <a:r>
                <a:rPr lang="en-US" altLang="zh-CN" dirty="0">
                  <a:latin typeface="楷体_GB2312" panose="02010609030101010101" pitchFamily="49" charset="-122"/>
                  <a:ea typeface="楷体_GB2312" panose="02010609030101010101" pitchFamily="49" charset="-122"/>
                </a:rPr>
                <a:t>RESTful API</a:t>
              </a:r>
              <a:endPara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  <a:p>
              <a:pPr algn="ctr"/>
              <a:r>
                <a:rPr lang="zh-CN" altLang="en-US" dirty="0">
                  <a:latin typeface="楷体_GB2312" panose="02010609030101010101" pitchFamily="49" charset="-122"/>
                  <a:ea typeface="楷体_GB2312" panose="02010609030101010101" pitchFamily="49" charset="-122"/>
                </a:rPr>
                <a:t>处理 </a:t>
              </a:r>
              <a:r>
                <a:rPr lang="en-US" altLang="zh-CN" dirty="0">
                  <a:latin typeface="楷体_GB2312" panose="02010609030101010101" pitchFamily="49" charset="-122"/>
                  <a:ea typeface="楷体_GB2312" panose="02010609030101010101" pitchFamily="49" charset="-122"/>
                </a:rPr>
                <a:t>HTTP </a:t>
              </a:r>
              <a:r>
                <a:rPr lang="zh-CN" altLang="en-US" dirty="0">
                  <a:latin typeface="楷体_GB2312" panose="02010609030101010101" pitchFamily="49" charset="-122"/>
                  <a:ea typeface="楷体_GB2312" panose="02010609030101010101" pitchFamily="49" charset="-122"/>
                </a:rPr>
                <a:t>请求</a:t>
              </a:r>
              <a:endPara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  <a:p>
              <a:pPr algn="ctr"/>
              <a:r>
                <a:rPr lang="zh-CN" altLang="en-US" dirty="0">
                  <a:latin typeface="楷体_GB2312" panose="02010609030101010101" pitchFamily="49" charset="-122"/>
                  <a:ea typeface="楷体_GB2312" panose="02010609030101010101" pitchFamily="49" charset="-122"/>
                </a:rPr>
                <a:t>数据库与前端的桥梁</a:t>
              </a:r>
              <a:endPara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8432714" y="2631655"/>
            <a:ext cx="2337830" cy="2992183"/>
            <a:chOff x="8086568" y="2609341"/>
            <a:chExt cx="2337830" cy="2992183"/>
          </a:xfrm>
        </p:grpSpPr>
        <p:grpSp>
          <p:nvGrpSpPr>
            <p:cNvPr id="39" name="组合 38"/>
            <p:cNvGrpSpPr/>
            <p:nvPr/>
          </p:nvGrpSpPr>
          <p:grpSpPr>
            <a:xfrm>
              <a:off x="8134357" y="2609341"/>
              <a:ext cx="2257381" cy="2992183"/>
              <a:chOff x="8711046" y="3422131"/>
              <a:chExt cx="2257381" cy="2992183"/>
            </a:xfrm>
          </p:grpSpPr>
          <p:sp>
            <p:nvSpPr>
              <p:cNvPr id="40" name="矩形: 圆角 39"/>
              <p:cNvSpPr/>
              <p:nvPr/>
            </p:nvSpPr>
            <p:spPr>
              <a:xfrm>
                <a:off x="8711046" y="3422131"/>
                <a:ext cx="2257381" cy="2992183"/>
              </a:xfrm>
              <a:prstGeom prst="roundRect">
                <a:avLst>
                  <a:gd name="adj" fmla="val 10788"/>
                </a:avLst>
              </a:prstGeom>
              <a:solidFill>
                <a:srgbClr val="E0D3E5"/>
              </a:solidFill>
              <a:ln w="19050">
                <a:solidFill>
                  <a:srgbClr val="4B869F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49607B"/>
                  </a:solidFill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9013286" y="4449928"/>
                <a:ext cx="1670309" cy="919739"/>
              </a:xfrm>
              <a:prstGeom prst="roundRect">
                <a:avLst/>
              </a:prstGeom>
              <a:solidFill>
                <a:srgbClr val="D4BDD6"/>
              </a:solidFill>
              <a:ln w="25400">
                <a:solidFill>
                  <a:srgbClr val="4B869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微软雅黑" panose="020B0503020204020204" charset="-122"/>
                    <a:ea typeface="微软雅黑" panose="020B0503020204020204" charset="-122"/>
                  </a:rPr>
                  <a:t> SQL Server </a:t>
                </a:r>
                <a:r>
                  <a:rPr lang="en-US" altLang="zh-CN" sz="1600" b="1" dirty="0">
                    <a:latin typeface="微软雅黑" panose="020B0503020204020204" charset="-122"/>
                    <a:ea typeface="微软雅黑" panose="020B0503020204020204" charset="-122"/>
                  </a:rPr>
                  <a:t>MySQL</a:t>
                </a:r>
                <a:endParaRPr lang="en-US" altLang="zh-CN" sz="1600" b="1" dirty="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algn="ctr"/>
                <a:r>
                  <a:rPr lang="en-US" altLang="zh-CN" sz="1600" b="1" dirty="0">
                    <a:latin typeface="微软雅黑" panose="020B0503020204020204" charset="-122"/>
                    <a:ea typeface="微软雅黑" panose="020B0503020204020204" charset="-122"/>
                  </a:rPr>
                  <a:t>postgre</a:t>
                </a:r>
                <a:r>
                  <a:rPr lang="en-US" altLang="zh-CN" sz="1600" b="1" dirty="0">
                    <a:latin typeface="微软雅黑" panose="020B0503020204020204" charset="-122"/>
                    <a:ea typeface="微软雅黑" panose="020B0503020204020204" charset="-122"/>
                  </a:rPr>
                  <a:t>SQL</a:t>
                </a:r>
                <a:endParaRPr lang="en-US" altLang="zh-CN" sz="1600" b="1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52" name="文本框 51"/>
            <p:cNvSpPr txBox="1"/>
            <p:nvPr/>
          </p:nvSpPr>
          <p:spPr>
            <a:xfrm>
              <a:off x="8132777" y="2746260"/>
              <a:ext cx="22573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latin typeface="微软雅黑" panose="020B0503020204020204" charset="-122"/>
                  <a:ea typeface="微软雅黑" panose="020B0503020204020204" charset="-122"/>
                </a:rPr>
                <a:t>数据持久层</a:t>
              </a:r>
              <a:endParaRPr lang="zh-CN" altLang="en-US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8086568" y="4661030"/>
              <a:ext cx="233783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latin typeface="楷体_GB2312" panose="02010609030101010101" pitchFamily="49" charset="-122"/>
                  <a:ea typeface="楷体_GB2312" panose="02010609030101010101" pitchFamily="49" charset="-122"/>
                </a:rPr>
                <a:t>核心数据存储</a:t>
              </a:r>
              <a:endPara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  <a:p>
              <a:pPr algn="ctr"/>
              <a:r>
                <a:rPr lang="zh-CN" altLang="en-US" dirty="0">
                  <a:latin typeface="楷体_GB2312" panose="02010609030101010101" pitchFamily="49" charset="-122"/>
                  <a:ea typeface="楷体_GB2312" panose="02010609030101010101" pitchFamily="49" charset="-122"/>
                </a:rPr>
                <a:t>约束校验</a:t>
              </a:r>
              <a:endPara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  <a:p>
              <a:pPr algn="ctr"/>
              <a:r>
                <a:rPr lang="zh-CN" altLang="en-US" dirty="0">
                  <a:latin typeface="楷体_GB2312" panose="02010609030101010101" pitchFamily="49" charset="-122"/>
                  <a:ea typeface="楷体_GB2312" panose="02010609030101010101" pitchFamily="49" charset="-122"/>
                </a:rPr>
                <a:t>复杂业务逻辑计算</a:t>
              </a:r>
              <a:endPara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</p:grpSp>
      <p:sp>
        <p:nvSpPr>
          <p:cNvPr id="43" name="矩形 42"/>
          <p:cNvSpPr/>
          <p:nvPr/>
        </p:nvSpPr>
        <p:spPr>
          <a:xfrm>
            <a:off x="4522987" y="1520746"/>
            <a:ext cx="3145643" cy="5088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shade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altLang="zh-CN" b="1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B/S </a:t>
            </a:r>
            <a:r>
              <a:rPr lang="zh-CN" altLang="en-US" b="1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架构，前后端分离设计</a:t>
            </a:r>
            <a:endParaRPr lang="zh-CN" b="1" noProof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522987" y="1518701"/>
            <a:ext cx="3145643" cy="510897"/>
          </a:xfrm>
          <a:prstGeom prst="rect">
            <a:avLst/>
          </a:prstGeom>
          <a:noFill/>
          <a:ln w="19050" cmpd="sng">
            <a:solidFill>
              <a:srgbClr val="AE5A2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0"/>
            <a:ext cx="12192000" cy="723900"/>
            <a:chOff x="0" y="0"/>
            <a:chExt cx="12192000" cy="723900"/>
          </a:xfrm>
        </p:grpSpPr>
        <p:sp>
          <p:nvSpPr>
            <p:cNvPr id="3" name="任意多边形: 形状 2"/>
            <p:cNvSpPr/>
            <p:nvPr/>
          </p:nvSpPr>
          <p:spPr>
            <a:xfrm flipH="1">
              <a:off x="0" y="0"/>
              <a:ext cx="12192000" cy="723900"/>
            </a:xfrm>
            <a:custGeom>
              <a:avLst/>
              <a:gdLst>
                <a:gd name="connsiteX0" fmla="*/ 12192000 w 12192000"/>
                <a:gd name="connsiteY0" fmla="*/ 0 h 723900"/>
                <a:gd name="connsiteX1" fmla="*/ 2755900 w 12192000"/>
                <a:gd name="connsiteY1" fmla="*/ 0 h 723900"/>
                <a:gd name="connsiteX2" fmla="*/ 4 w 12192000"/>
                <a:gd name="connsiteY2" fmla="*/ 0 h 723900"/>
                <a:gd name="connsiteX3" fmla="*/ 0 w 12192000"/>
                <a:gd name="connsiteY3" fmla="*/ 0 h 723900"/>
                <a:gd name="connsiteX4" fmla="*/ 0 w 12192000"/>
                <a:gd name="connsiteY4" fmla="*/ 723900 h 723900"/>
                <a:gd name="connsiteX5" fmla="*/ 1987354 w 12192000"/>
                <a:gd name="connsiteY5" fmla="*/ 723900 h 723900"/>
                <a:gd name="connsiteX6" fmla="*/ 2038350 w 12192000"/>
                <a:gd name="connsiteY6" fmla="*/ 717550 h 723900"/>
                <a:gd name="connsiteX7" fmla="*/ 2753650 w 12192000"/>
                <a:gd name="connsiteY7" fmla="*/ 288000 h 723900"/>
                <a:gd name="connsiteX8" fmla="*/ 12192000 w 12192000"/>
                <a:gd name="connsiteY8" fmla="*/ 288000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92000" h="723900">
                  <a:moveTo>
                    <a:pt x="12192000" y="0"/>
                  </a:moveTo>
                  <a:lnTo>
                    <a:pt x="2755900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723900"/>
                  </a:lnTo>
                  <a:lnTo>
                    <a:pt x="1987354" y="723900"/>
                  </a:lnTo>
                  <a:lnTo>
                    <a:pt x="2038350" y="717550"/>
                  </a:lnTo>
                  <a:cubicBezTo>
                    <a:pt x="2497291" y="642783"/>
                    <a:pt x="2432975" y="321492"/>
                    <a:pt x="2753650" y="288000"/>
                  </a:cubicBezTo>
                  <a:cubicBezTo>
                    <a:pt x="3074325" y="254508"/>
                    <a:pt x="9045883" y="288000"/>
                    <a:pt x="12192000" y="288000"/>
                  </a:cubicBezTo>
                  <a:close/>
                </a:path>
              </a:pathLst>
            </a:cu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07837" y="136675"/>
              <a:ext cx="1663415" cy="487234"/>
            </a:xfrm>
            <a:prstGeom prst="rect">
              <a:avLst/>
            </a:prstGeom>
          </p:spPr>
        </p:pic>
      </p:grpSp>
      <p:grpSp>
        <p:nvGrpSpPr>
          <p:cNvPr id="5" name="组合 4"/>
          <p:cNvGrpSpPr/>
          <p:nvPr/>
        </p:nvGrpSpPr>
        <p:grpSpPr>
          <a:xfrm>
            <a:off x="0" y="6622627"/>
            <a:ext cx="12192000" cy="288000"/>
            <a:chOff x="0" y="6622627"/>
            <a:chExt cx="12192000" cy="288000"/>
          </a:xfrm>
        </p:grpSpPr>
        <p:sp>
          <p:nvSpPr>
            <p:cNvPr id="6" name="矩形 5"/>
            <p:cNvSpPr/>
            <p:nvPr/>
          </p:nvSpPr>
          <p:spPr>
            <a:xfrm>
              <a:off x="0" y="6622627"/>
              <a:ext cx="12192000" cy="288000"/>
            </a:xfrm>
            <a:prstGeom prst="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defTabSz="913765">
                <a:defRPr/>
              </a:pPr>
              <a:endParaRPr lang="zh-CN" sz="1000" spc="600" noProof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9635412" y="6646312"/>
              <a:ext cx="2531378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 defTabSz="913765">
                <a:defRPr/>
              </a:pPr>
              <a:r>
                <a:rPr lang="zh-CN" sz="900" b="1" spc="300" noProof="1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Central South University</a:t>
              </a:r>
              <a:endParaRPr lang="zh-CN" sz="900" b="1" spc="300" noProof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7689" y="6640022"/>
              <a:ext cx="204630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sz="1050" b="1" spc="600" noProof="1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</a:rPr>
                <a:t>知行合一 经世致用</a:t>
              </a:r>
              <a:endParaRPr lang="zh-CN" sz="1050" b="1" noProof="1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285143" y="543144"/>
            <a:ext cx="7472017" cy="754818"/>
            <a:chOff x="285143" y="543144"/>
            <a:chExt cx="7472017" cy="754818"/>
          </a:xfrm>
        </p:grpSpPr>
        <p:sp>
          <p:nvSpPr>
            <p:cNvPr id="20" name="矩形 19"/>
            <p:cNvSpPr/>
            <p:nvPr>
              <p:custDataLst>
                <p:tags r:id="rId2"/>
              </p:custDataLst>
            </p:nvPr>
          </p:nvSpPr>
          <p:spPr>
            <a:xfrm>
              <a:off x="285143" y="543144"/>
              <a:ext cx="499110" cy="661035"/>
            </a:xfrm>
            <a:prstGeom prst="rect">
              <a:avLst/>
            </a:prstGeom>
            <a:solidFill>
              <a:srgbClr val="ED7D31">
                <a:lumMod val="40000"/>
                <a:lumOff val="60000"/>
                <a:alpha val="9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1" name="矩形 20"/>
            <p:cNvSpPr/>
            <p:nvPr>
              <p:custDataLst>
                <p:tags r:id="rId3"/>
              </p:custDataLst>
            </p:nvPr>
          </p:nvSpPr>
          <p:spPr>
            <a:xfrm>
              <a:off x="844578" y="543144"/>
              <a:ext cx="137795" cy="661035"/>
            </a:xfrm>
            <a:prstGeom prst="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2" name="文本框 21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101752" y="543144"/>
              <a:ext cx="665540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lvl="0">
                <a:spcBef>
                  <a:spcPct val="50000"/>
                </a:spcBef>
                <a:defRPr/>
              </a:pPr>
              <a:r>
                <a:rPr kumimoji="0" lang="zh-CN" altLang="en-US" sz="2800" b="1" i="0" u="none" strike="noStrike" kern="0" cap="none" spc="0" normalizeH="0" baseline="0" noProof="1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关键技术栈与交互流程</a:t>
              </a:r>
              <a:endParaRPr kumimoji="0" lang="zh-CN" sz="2800" b="1" i="0" u="none" strike="noStrike" kern="0" cap="none" spc="0" normalizeH="0" baseline="0" noProof="1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文本框 22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101753" y="990185"/>
              <a:ext cx="414530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zh-CN" sz="1400" kern="0" spc="100" noProof="1">
                  <a:solidFill>
                    <a:schemeClr val="accent2">
                      <a:lumMod val="40000"/>
                      <a:lumOff val="60000"/>
                    </a:schemeClr>
                  </a:solidFill>
                  <a:ea typeface="微软雅黑" panose="020B0503020204020204" charset="-122"/>
                </a:rPr>
                <a:t>Core Technology Stack and Interaction Process</a:t>
              </a:r>
              <a:endParaRPr kumimoji="0" lang="zh-CN" sz="1400" i="0" u="none" strike="noStrike" kern="0" cap="none" spc="100" normalizeH="0" baseline="0" noProof="1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ea typeface="微软雅黑" panose="020B0503020204020204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033097" y="0"/>
            <a:ext cx="5622257" cy="308929"/>
            <a:chOff x="3097161" y="-9939"/>
            <a:chExt cx="5622257" cy="308929"/>
          </a:xfrm>
        </p:grpSpPr>
        <p:sp>
          <p:nvSpPr>
            <p:cNvPr id="25" name="矩形: 圆顶角 24"/>
            <p:cNvSpPr/>
            <p:nvPr/>
          </p:nvSpPr>
          <p:spPr>
            <a:xfrm>
              <a:off x="3097161" y="22131"/>
              <a:ext cx="1397369" cy="276859"/>
            </a:xfrm>
            <a:prstGeom prst="round2Same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1">
                  <a:ln>
                    <a:noFill/>
                  </a:ln>
                  <a:solidFill>
                    <a:srgbClr val="DD7604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rPr>
                <a:t>技术架构</a:t>
              </a:r>
              <a:endParaRPr kumimoji="0" lang="zh-CN" sz="1600" b="1" i="0" u="none" strike="noStrike" kern="0" cap="none" spc="0" normalizeH="0" baseline="0" noProof="1">
                <a:ln>
                  <a:noFill/>
                </a:ln>
                <a:solidFill>
                  <a:srgbClr val="DD7604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6" name="矩形: 圆顶角 25"/>
            <p:cNvSpPr/>
            <p:nvPr/>
          </p:nvSpPr>
          <p:spPr>
            <a:xfrm>
              <a:off x="4501889" y="-9648"/>
              <a:ext cx="1397369" cy="276859"/>
            </a:xfrm>
            <a:prstGeom prst="round2Same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b="1" kern="0" noProof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实现功能</a:t>
              </a:r>
              <a:endParaRPr kumimoji="0" lang="zh-CN" sz="16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7" name="矩形: 圆顶角 26"/>
            <p:cNvSpPr/>
            <p:nvPr/>
          </p:nvSpPr>
          <p:spPr>
            <a:xfrm>
              <a:off x="5913753" y="-9939"/>
              <a:ext cx="1397369" cy="276859"/>
            </a:xfrm>
            <a:prstGeom prst="round2Same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CN" altLang="en-US" sz="1600" b="1" kern="0" noProof="1">
                  <a:solidFill>
                    <a:prstClr val="white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数据库设计</a:t>
              </a:r>
              <a:endParaRPr lang="zh-CN" altLang="zh-CN" sz="1600" b="1" kern="0" noProof="1">
                <a:solidFill>
                  <a:prstClr val="white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8" name="矩形: 圆顶角 27"/>
            <p:cNvSpPr/>
            <p:nvPr/>
          </p:nvSpPr>
          <p:spPr>
            <a:xfrm>
              <a:off x="7322049" y="-6624"/>
              <a:ext cx="1397369" cy="276859"/>
            </a:xfrm>
            <a:prstGeom prst="round2Same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rPr>
                <a:t>界面展示</a:t>
              </a:r>
              <a:endParaRPr kumimoji="0" lang="zh-CN" sz="16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</p:grp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4325310" y="1489929"/>
            <a:ext cx="3541381" cy="774622"/>
          </a:xfrm>
          <a:prstGeom prst="rect">
            <a:avLst/>
          </a:prstGeom>
          <a:noFill/>
          <a:ln w="31750">
            <a:solidFill>
              <a:srgbClr val="FF9F2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500" b="0" i="0" u="none" strike="noStrike" kern="1200" cap="none" spc="0" normalizeH="0" baseline="0" noProof="1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文本框 355"/>
          <p:cNvSpPr txBox="1"/>
          <p:nvPr/>
        </p:nvSpPr>
        <p:spPr>
          <a:xfrm>
            <a:off x="4325307" y="1468756"/>
            <a:ext cx="3541384" cy="795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kumimoji="0" lang="zh-CN" altLang="en-US" sz="1600" b="1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数据库连接：</a:t>
            </a: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使用 </a:t>
            </a: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pyodbc </a:t>
            </a: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驱动，通过 </a:t>
            </a: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ODBC </a:t>
            </a: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协议连接 </a:t>
            </a: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SQL Server</a:t>
            </a:r>
            <a:endParaRPr kumimoji="0" lang="zh-CN" sz="1600" b="0" i="0" u="none" strike="noStrike" kern="1200" cap="none" spc="0" normalizeH="0" baseline="0" noProof="1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835194" y="3140466"/>
            <a:ext cx="4527457" cy="4356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shade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核心设计理念：厚数据库，薄应用层</a:t>
            </a:r>
            <a:endParaRPr lang="zh-CN" b="1" noProof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右箭头 15"/>
          <p:cNvSpPr/>
          <p:nvPr/>
        </p:nvSpPr>
        <p:spPr>
          <a:xfrm rot="5400000">
            <a:off x="5807707" y="2484290"/>
            <a:ext cx="576583" cy="430374"/>
          </a:xfrm>
          <a:prstGeom prst="rightArrow">
            <a:avLst/>
          </a:prstGeom>
          <a:gradFill>
            <a:gsLst>
              <a:gs pos="38000">
                <a:schemeClr val="accent2"/>
              </a:gs>
              <a:gs pos="100000">
                <a:schemeClr val="accent2">
                  <a:lumMod val="40000"/>
                  <a:lumOff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42" name="文本框 355"/>
          <p:cNvSpPr txBox="1"/>
          <p:nvPr/>
        </p:nvSpPr>
        <p:spPr>
          <a:xfrm>
            <a:off x="3889501" y="4295271"/>
            <a:ext cx="4431344" cy="1903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kumimoji="0" lang="zh-CN" altLang="en-US" sz="1600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将数据一致性校验、事务控制、复杂计算下沉到数据库层（存储过程</a:t>
            </a:r>
            <a:r>
              <a:rPr kumimoji="0" lang="en-US" altLang="zh-CN" sz="1600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/</a:t>
            </a:r>
            <a:r>
              <a:rPr kumimoji="0" lang="zh-CN" altLang="en-US" sz="1600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触发器）实现</a:t>
            </a:r>
            <a:endParaRPr kumimoji="0" lang="en-US" altLang="zh-CN" sz="1600" i="0" u="none" strike="noStrike" kern="1200" cap="none" spc="0" normalizeH="0" baseline="0" noProof="1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  <a:sym typeface="+mn-ea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kumimoji="0" lang="en-US" altLang="zh-CN" sz="1600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Python </a:t>
            </a:r>
            <a:r>
              <a:rPr kumimoji="0" lang="zh-CN" altLang="en-US" sz="1600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后端主要负责参数传递和路由分发，确保了数据的绝对安全与一致性</a:t>
            </a:r>
            <a:endParaRPr kumimoji="0" lang="zh-CN" sz="1600" i="0" u="none" strike="noStrike" kern="1200" cap="none" spc="0" normalizeH="0" baseline="0" noProof="1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  <a:sym typeface="+mn-ea"/>
            </a:endParaRPr>
          </a:p>
        </p:txBody>
      </p:sp>
      <p:sp>
        <p:nvSpPr>
          <p:cNvPr id="43" name="右箭头 15"/>
          <p:cNvSpPr/>
          <p:nvPr/>
        </p:nvSpPr>
        <p:spPr>
          <a:xfrm rot="5400000">
            <a:off x="5807706" y="3801888"/>
            <a:ext cx="576583" cy="430374"/>
          </a:xfrm>
          <a:prstGeom prst="rightArrow">
            <a:avLst/>
          </a:prstGeom>
          <a:gradFill>
            <a:gsLst>
              <a:gs pos="38000">
                <a:schemeClr val="accent2"/>
              </a:gs>
              <a:gs pos="100000">
                <a:schemeClr val="accent2">
                  <a:lumMod val="40000"/>
                  <a:lumOff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9061" y="980166"/>
            <a:ext cx="12153878" cy="4710212"/>
            <a:chOff x="19061" y="980166"/>
            <a:chExt cx="12153878" cy="4710212"/>
          </a:xfrm>
        </p:grpSpPr>
        <p:sp>
          <p:nvSpPr>
            <p:cNvPr id="4" name="矩形 3"/>
            <p:cNvSpPr/>
            <p:nvPr/>
          </p:nvSpPr>
          <p:spPr>
            <a:xfrm>
              <a:off x="3326130" y="980166"/>
              <a:ext cx="5539740" cy="4710212"/>
            </a:xfrm>
            <a:prstGeom prst="rect">
              <a:avLst/>
            </a:prstGeom>
            <a:solidFill>
              <a:srgbClr val="DD76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artisticBlur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>
            <a:xfrm>
              <a:off x="19061" y="983975"/>
              <a:ext cx="3320364" cy="4706403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>
            <a:xfrm>
              <a:off x="8865870" y="983976"/>
              <a:ext cx="3307069" cy="4702593"/>
            </a:xfrm>
            <a:prstGeom prst="rect">
              <a:avLst/>
            </a:prstGeom>
          </p:spPr>
        </p:pic>
      </p:grpSp>
      <p:sp>
        <p:nvSpPr>
          <p:cNvPr id="12" name="文本框 11"/>
          <p:cNvSpPr txBox="1"/>
          <p:nvPr/>
        </p:nvSpPr>
        <p:spPr>
          <a:xfrm>
            <a:off x="4226560" y="2479541"/>
            <a:ext cx="373888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66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ras Bold ITC" panose="020B0907030504020204" pitchFamily="34" charset="0"/>
                <a:ea typeface="汉仪南宫体简" panose="02010509060101010101" charset="-122"/>
              </a:rPr>
              <a:t>02</a:t>
            </a:r>
            <a:endParaRPr kumimoji="0" lang="zh-CN" sz="66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ras Bold ITC" panose="020B0907030504020204" pitchFamily="34" charset="0"/>
              <a:ea typeface="汉仪南宫体简" panose="02010509060101010101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086830" y="3335272"/>
            <a:ext cx="4044926" cy="1053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20000"/>
              </a:lnSpc>
              <a:defRPr/>
            </a:pPr>
            <a:r>
              <a:rPr lang="zh-CN" altLang="en-US" sz="6000" b="1" noProof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实现功能</a:t>
            </a:r>
            <a:endParaRPr kumimoji="0" lang="zh-CN" sz="6000" b="1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030823" y="1584823"/>
            <a:ext cx="4130354" cy="3688354"/>
          </a:xfrm>
          <a:prstGeom prst="rect">
            <a:avLst/>
          </a:prstGeom>
          <a:noFill/>
          <a:ln w="38100" cmpd="sng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477664" y="4913840"/>
            <a:ext cx="269016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 defTabSz="913765">
              <a:defRPr/>
            </a:pPr>
            <a:r>
              <a:rPr lang="zh-CN" sz="1000" spc="300" noProof="1">
                <a:solidFill>
                  <a:prstClr val="white"/>
                </a:solidFill>
                <a:latin typeface="Eras Bold ITC" panose="020B0907030504020204" pitchFamily="34" charset="0"/>
                <a:ea typeface="微软雅黑" panose="020B0503020204020204" charset="-122"/>
                <a:cs typeface="Arial" panose="020B0604020202020204" pitchFamily="34" charset="0"/>
              </a:rPr>
              <a:t>Central South University</a:t>
            </a:r>
            <a:endParaRPr lang="zh-CN" sz="1000" spc="300" noProof="1">
              <a:solidFill>
                <a:prstClr val="white"/>
              </a:solidFill>
              <a:latin typeface="Eras Bold ITC" panose="020B0907030504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: 圆角 19"/>
          <p:cNvSpPr/>
          <p:nvPr/>
        </p:nvSpPr>
        <p:spPr>
          <a:xfrm>
            <a:off x="90389" y="1737955"/>
            <a:ext cx="4878511" cy="3969425"/>
          </a:xfrm>
          <a:prstGeom prst="roundRect">
            <a:avLst/>
          </a:prstGeom>
          <a:solidFill>
            <a:srgbClr val="FFFDFB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0" y="0"/>
            <a:ext cx="12192000" cy="723900"/>
            <a:chOff x="0" y="0"/>
            <a:chExt cx="12192000" cy="723900"/>
          </a:xfrm>
        </p:grpSpPr>
        <p:sp>
          <p:nvSpPr>
            <p:cNvPr id="3" name="任意多边形: 形状 2"/>
            <p:cNvSpPr/>
            <p:nvPr/>
          </p:nvSpPr>
          <p:spPr>
            <a:xfrm flipH="1">
              <a:off x="0" y="0"/>
              <a:ext cx="12192000" cy="723900"/>
            </a:xfrm>
            <a:custGeom>
              <a:avLst/>
              <a:gdLst>
                <a:gd name="connsiteX0" fmla="*/ 12192000 w 12192000"/>
                <a:gd name="connsiteY0" fmla="*/ 0 h 723900"/>
                <a:gd name="connsiteX1" fmla="*/ 2755900 w 12192000"/>
                <a:gd name="connsiteY1" fmla="*/ 0 h 723900"/>
                <a:gd name="connsiteX2" fmla="*/ 4 w 12192000"/>
                <a:gd name="connsiteY2" fmla="*/ 0 h 723900"/>
                <a:gd name="connsiteX3" fmla="*/ 0 w 12192000"/>
                <a:gd name="connsiteY3" fmla="*/ 0 h 723900"/>
                <a:gd name="connsiteX4" fmla="*/ 0 w 12192000"/>
                <a:gd name="connsiteY4" fmla="*/ 723900 h 723900"/>
                <a:gd name="connsiteX5" fmla="*/ 1987354 w 12192000"/>
                <a:gd name="connsiteY5" fmla="*/ 723900 h 723900"/>
                <a:gd name="connsiteX6" fmla="*/ 2038350 w 12192000"/>
                <a:gd name="connsiteY6" fmla="*/ 717550 h 723900"/>
                <a:gd name="connsiteX7" fmla="*/ 2753650 w 12192000"/>
                <a:gd name="connsiteY7" fmla="*/ 288000 h 723900"/>
                <a:gd name="connsiteX8" fmla="*/ 12192000 w 12192000"/>
                <a:gd name="connsiteY8" fmla="*/ 288000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92000" h="723900">
                  <a:moveTo>
                    <a:pt x="12192000" y="0"/>
                  </a:moveTo>
                  <a:lnTo>
                    <a:pt x="2755900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723900"/>
                  </a:lnTo>
                  <a:lnTo>
                    <a:pt x="1987354" y="723900"/>
                  </a:lnTo>
                  <a:lnTo>
                    <a:pt x="2038350" y="717550"/>
                  </a:lnTo>
                  <a:cubicBezTo>
                    <a:pt x="2497291" y="642783"/>
                    <a:pt x="2432975" y="321492"/>
                    <a:pt x="2753650" y="288000"/>
                  </a:cubicBezTo>
                  <a:cubicBezTo>
                    <a:pt x="3074325" y="254508"/>
                    <a:pt x="9045883" y="288000"/>
                    <a:pt x="12192000" y="288000"/>
                  </a:cubicBezTo>
                  <a:close/>
                </a:path>
              </a:pathLst>
            </a:cu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0" cap="none" spc="0" normalizeH="0" baseline="0" noProof="1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07837" y="136675"/>
              <a:ext cx="1663415" cy="487234"/>
            </a:xfrm>
            <a:prstGeom prst="rect">
              <a:avLst/>
            </a:prstGeom>
          </p:spPr>
        </p:pic>
      </p:grpSp>
      <p:grpSp>
        <p:nvGrpSpPr>
          <p:cNvPr id="5" name="组合 4"/>
          <p:cNvGrpSpPr/>
          <p:nvPr/>
        </p:nvGrpSpPr>
        <p:grpSpPr>
          <a:xfrm>
            <a:off x="0" y="6622627"/>
            <a:ext cx="12192000" cy="288000"/>
            <a:chOff x="0" y="6622627"/>
            <a:chExt cx="12192000" cy="288000"/>
          </a:xfrm>
        </p:grpSpPr>
        <p:sp>
          <p:nvSpPr>
            <p:cNvPr id="6" name="矩形 5"/>
            <p:cNvSpPr/>
            <p:nvPr/>
          </p:nvSpPr>
          <p:spPr>
            <a:xfrm>
              <a:off x="0" y="6622627"/>
              <a:ext cx="12192000" cy="288000"/>
            </a:xfrm>
            <a:prstGeom prst="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defTabSz="913765">
                <a:defRPr/>
              </a:pPr>
              <a:endParaRPr lang="zh-CN" sz="1000" spc="600" noProof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9635412" y="6646312"/>
              <a:ext cx="2531378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 defTabSz="913765">
                <a:defRPr/>
              </a:pPr>
              <a:r>
                <a:rPr lang="zh-CN" sz="900" b="1" spc="300" noProof="1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Central South University</a:t>
              </a:r>
              <a:endParaRPr lang="zh-CN" sz="900" b="1" spc="300" noProof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7689" y="6640022"/>
              <a:ext cx="204630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sz="1050" b="1" spc="600" noProof="1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</a:rPr>
                <a:t>知行合一 经世致用</a:t>
              </a:r>
              <a:endParaRPr lang="zh-CN" sz="1050" b="1" noProof="1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033097" y="0"/>
            <a:ext cx="5622257" cy="305353"/>
            <a:chOff x="3097161" y="-9939"/>
            <a:chExt cx="5622257" cy="305353"/>
          </a:xfrm>
        </p:grpSpPr>
        <p:sp>
          <p:nvSpPr>
            <p:cNvPr id="10" name="矩形: 圆顶角 9"/>
            <p:cNvSpPr/>
            <p:nvPr/>
          </p:nvSpPr>
          <p:spPr>
            <a:xfrm>
              <a:off x="3097161" y="9939"/>
              <a:ext cx="1397369" cy="276859"/>
            </a:xfrm>
            <a:prstGeom prst="round2Same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rPr>
                <a:t>技术架构</a:t>
              </a:r>
              <a:endParaRPr kumimoji="0" lang="zh-CN" altLang="en-US" sz="16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1" name="矩形: 圆顶角 10"/>
            <p:cNvSpPr/>
            <p:nvPr/>
          </p:nvSpPr>
          <p:spPr>
            <a:xfrm>
              <a:off x="4501889" y="18555"/>
              <a:ext cx="1397369" cy="276859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1">
                  <a:ln>
                    <a:noFill/>
                  </a:ln>
                  <a:solidFill>
                    <a:srgbClr val="DD7604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rPr>
                <a:t>实现功能</a:t>
              </a:r>
              <a:endParaRPr kumimoji="0" lang="zh-CN" altLang="en-US" sz="1600" b="1" i="0" u="none" strike="noStrike" kern="0" cap="none" spc="0" normalizeH="0" baseline="0" noProof="1">
                <a:ln>
                  <a:noFill/>
                </a:ln>
                <a:solidFill>
                  <a:srgbClr val="DD7604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2" name="矩形: 圆顶角 11"/>
            <p:cNvSpPr/>
            <p:nvPr/>
          </p:nvSpPr>
          <p:spPr>
            <a:xfrm>
              <a:off x="5913753" y="-9939"/>
              <a:ext cx="1397369" cy="276859"/>
            </a:xfrm>
            <a:prstGeom prst="round2Same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CN" altLang="en-US" sz="1600" b="1" kern="0" noProof="1">
                  <a:solidFill>
                    <a:prstClr val="white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数据库设计</a:t>
              </a:r>
              <a:endParaRPr lang="zh-CN" altLang="zh-CN" sz="1600" b="1" kern="0" noProof="1">
                <a:solidFill>
                  <a:prstClr val="white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" name="矩形: 圆顶角 12"/>
            <p:cNvSpPr/>
            <p:nvPr/>
          </p:nvSpPr>
          <p:spPr>
            <a:xfrm>
              <a:off x="7322049" y="-6624"/>
              <a:ext cx="1397369" cy="276859"/>
            </a:xfrm>
            <a:prstGeom prst="round2Same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CN" altLang="en-US" sz="1600" b="1" kern="0" noProof="1">
                  <a:solidFill>
                    <a:prstClr val="white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界面展示</a:t>
              </a:r>
              <a:endParaRPr lang="zh-CN" altLang="zh-CN" sz="1600" b="1" kern="0" noProof="1">
                <a:solidFill>
                  <a:prstClr val="white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85143" y="543144"/>
            <a:ext cx="4972842" cy="754818"/>
            <a:chOff x="285143" y="543144"/>
            <a:chExt cx="4972842" cy="754818"/>
          </a:xfrm>
        </p:grpSpPr>
        <p:sp>
          <p:nvSpPr>
            <p:cNvPr id="15" name="矩形 14"/>
            <p:cNvSpPr/>
            <p:nvPr>
              <p:custDataLst>
                <p:tags r:id="rId2"/>
              </p:custDataLst>
            </p:nvPr>
          </p:nvSpPr>
          <p:spPr>
            <a:xfrm>
              <a:off x="285143" y="543144"/>
              <a:ext cx="499110" cy="661035"/>
            </a:xfrm>
            <a:prstGeom prst="rect">
              <a:avLst/>
            </a:prstGeom>
            <a:solidFill>
              <a:srgbClr val="ED7D31">
                <a:lumMod val="40000"/>
                <a:lumOff val="60000"/>
                <a:alpha val="9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3"/>
              </p:custDataLst>
            </p:nvPr>
          </p:nvSpPr>
          <p:spPr>
            <a:xfrm>
              <a:off x="844578" y="543144"/>
              <a:ext cx="137795" cy="661035"/>
            </a:xfrm>
            <a:prstGeom prst="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7" name="文本框 16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101753" y="543144"/>
              <a:ext cx="355538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0" cap="none" spc="0" normalizeH="0" baseline="0" noProof="1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用户端功能</a:t>
              </a:r>
              <a:endParaRPr kumimoji="0" lang="zh-CN" sz="2800" b="1" i="0" u="none" strike="noStrike" kern="0" cap="none" spc="0" normalizeH="0" baseline="0" noProof="1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文本框 17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101753" y="990185"/>
              <a:ext cx="415623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zh-CN" sz="1400" kern="0" spc="100" noProof="1">
                  <a:solidFill>
                    <a:schemeClr val="accent2">
                      <a:lumMod val="40000"/>
                      <a:lumOff val="60000"/>
                    </a:schemeClr>
                  </a:solidFill>
                  <a:ea typeface="微软雅黑" panose="020B0503020204020204" charset="-122"/>
                </a:rPr>
                <a:t>Features of the User End</a:t>
              </a:r>
              <a:endParaRPr kumimoji="0" lang="zh-CN" sz="1400" i="0" u="none" strike="noStrike" kern="0" cap="none" spc="100" normalizeH="0" baseline="0" noProof="1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ea typeface="微软雅黑" panose="020B0503020204020204" charset="-122"/>
              </a:endParaRPr>
            </a:p>
          </p:txBody>
        </p:sp>
      </p:grpSp>
      <p:pic>
        <p:nvPicPr>
          <p:cNvPr id="21" name="图片 20" descr="文本, 信件&#10;&#10;AI 生成的内容可能不正确。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89" y="2453576"/>
            <a:ext cx="4878511" cy="1865313"/>
          </a:xfrm>
          <a:prstGeom prst="rect">
            <a:avLst/>
          </a:prstGeom>
        </p:spPr>
      </p:pic>
      <p:sp>
        <p:nvSpPr>
          <p:cNvPr id="22" name="文本框 355"/>
          <p:cNvSpPr txBox="1"/>
          <p:nvPr/>
        </p:nvSpPr>
        <p:spPr>
          <a:xfrm>
            <a:off x="5088280" y="894612"/>
            <a:ext cx="6973253" cy="5597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kumimoji="0" lang="en-US" altLang="zh-CN" sz="1600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1)</a:t>
            </a:r>
            <a:r>
              <a:rPr kumimoji="0" lang="zh-CN" altLang="en-US" sz="1600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用户注册与登录</a:t>
            </a: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（</a:t>
            </a:r>
            <a:r>
              <a:rPr kumimoji="0" lang="zh-CN" altLang="en-US" sz="1600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实名认证模拟，大小写不敏感）</a:t>
            </a:r>
            <a:endParaRPr kumimoji="0" lang="en-US" altLang="zh-CN" sz="1600" i="0" u="none" strike="noStrike" kern="1200" cap="none" spc="0" normalizeH="0" baseline="0" noProof="1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  <a:sym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注册失败：用户</a:t>
            </a:r>
            <a:r>
              <a:rPr lang="es-ES" altLang="zh-CN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ID</a:t>
            </a: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已存在、</a:t>
            </a:r>
            <a:r>
              <a:rPr kumimoji="0" lang="zh-CN" altLang="en-US" sz="1600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身份证手机号格式不合理（长度与字符）</a:t>
            </a:r>
            <a:endParaRPr kumimoji="0" lang="en-US" altLang="zh-CN" sz="1600" i="0" u="none" strike="noStrike" kern="1200" cap="none" spc="0" normalizeH="0" baseline="0" noProof="1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  <a:sym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登陆失败：用户名或密码错误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kumimoji="0" lang="zh-CN" altLang="en-US" sz="1600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忘记密码：模拟了验证码验证业务，发送验证码时会检验用户</a:t>
            </a:r>
            <a:r>
              <a:rPr kumimoji="0" lang="en-US" altLang="zh-CN" sz="1600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ID</a:t>
            </a:r>
            <a:r>
              <a:rPr kumimoji="0" lang="zh-CN" altLang="en-US" sz="1600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是否存在，</a:t>
            </a: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验证通过时调用修改密码存储过程重置密码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“增”时，前端不会检验数据，由数据库后端抛出错误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lvl="0">
              <a:lnSpc>
                <a:spcPct val="150000"/>
              </a:lnSpc>
              <a:defRPr/>
            </a:pP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2)</a:t>
            </a: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账户管理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开设账户：可开设信用卡和储蓄卡，都有默认</a:t>
            </a:r>
            <a:r>
              <a:rPr lang="en-US" altLang="zh-CN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2w</a:t>
            </a: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日交易额度，信用卡还有默认</a:t>
            </a:r>
            <a:r>
              <a:rPr lang="en-US" altLang="zh-CN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2w</a:t>
            </a: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透支限额。卡号生成逻辑：</a:t>
            </a:r>
            <a:r>
              <a:rPr lang="en-US" altLang="zh-CN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622 + </a:t>
            </a: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时间戳后</a:t>
            </a:r>
            <a:r>
              <a:rPr lang="en-US" altLang="zh-CN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6</a:t>
            </a: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位 </a:t>
            </a:r>
            <a:r>
              <a:rPr lang="en-US" altLang="zh-CN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+ </a:t>
            </a: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随机</a:t>
            </a:r>
            <a:r>
              <a:rPr lang="en-US" altLang="zh-CN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4</a:t>
            </a: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位 </a:t>
            </a:r>
            <a:r>
              <a:rPr lang="en-US" altLang="zh-CN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(</a:t>
            </a: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模拟</a:t>
            </a:r>
            <a:r>
              <a:rPr lang="en-US" altLang="zh-CN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)</a:t>
            </a: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，循环保证不重复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账户信息查询：一个界面展示了用户拥有的所有账户及开卡时间等账户信息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个人信息维护与安全管理：修改登录密码，和此前忘记密码一样的逻辑；更改预留手机时验证登陆密码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银行卡状态管理：在我的账户页面可进行银行卡的挂失与激活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992375" y="4720742"/>
            <a:ext cx="3074537" cy="7500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shade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输入的任何信息为空，</a:t>
            </a:r>
            <a:endParaRPr lang="en-US" altLang="zh-CN" b="1" noProof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b="1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前端都能相应处理</a:t>
            </a:r>
            <a:endParaRPr lang="zh-CN" b="1" noProof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: 圆角 19"/>
          <p:cNvSpPr/>
          <p:nvPr/>
        </p:nvSpPr>
        <p:spPr>
          <a:xfrm>
            <a:off x="90389" y="1737955"/>
            <a:ext cx="4878511" cy="2963585"/>
          </a:xfrm>
          <a:prstGeom prst="roundRect">
            <a:avLst/>
          </a:prstGeom>
          <a:solidFill>
            <a:srgbClr val="FFFDFB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0" y="0"/>
            <a:ext cx="12192000" cy="723900"/>
            <a:chOff x="0" y="0"/>
            <a:chExt cx="12192000" cy="723900"/>
          </a:xfrm>
        </p:grpSpPr>
        <p:sp>
          <p:nvSpPr>
            <p:cNvPr id="3" name="任意多边形: 形状 2"/>
            <p:cNvSpPr/>
            <p:nvPr/>
          </p:nvSpPr>
          <p:spPr>
            <a:xfrm flipH="1">
              <a:off x="0" y="0"/>
              <a:ext cx="12192000" cy="723900"/>
            </a:xfrm>
            <a:custGeom>
              <a:avLst/>
              <a:gdLst>
                <a:gd name="connsiteX0" fmla="*/ 12192000 w 12192000"/>
                <a:gd name="connsiteY0" fmla="*/ 0 h 723900"/>
                <a:gd name="connsiteX1" fmla="*/ 2755900 w 12192000"/>
                <a:gd name="connsiteY1" fmla="*/ 0 h 723900"/>
                <a:gd name="connsiteX2" fmla="*/ 4 w 12192000"/>
                <a:gd name="connsiteY2" fmla="*/ 0 h 723900"/>
                <a:gd name="connsiteX3" fmla="*/ 0 w 12192000"/>
                <a:gd name="connsiteY3" fmla="*/ 0 h 723900"/>
                <a:gd name="connsiteX4" fmla="*/ 0 w 12192000"/>
                <a:gd name="connsiteY4" fmla="*/ 723900 h 723900"/>
                <a:gd name="connsiteX5" fmla="*/ 1987354 w 12192000"/>
                <a:gd name="connsiteY5" fmla="*/ 723900 h 723900"/>
                <a:gd name="connsiteX6" fmla="*/ 2038350 w 12192000"/>
                <a:gd name="connsiteY6" fmla="*/ 717550 h 723900"/>
                <a:gd name="connsiteX7" fmla="*/ 2753650 w 12192000"/>
                <a:gd name="connsiteY7" fmla="*/ 288000 h 723900"/>
                <a:gd name="connsiteX8" fmla="*/ 12192000 w 12192000"/>
                <a:gd name="connsiteY8" fmla="*/ 288000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92000" h="723900">
                  <a:moveTo>
                    <a:pt x="12192000" y="0"/>
                  </a:moveTo>
                  <a:lnTo>
                    <a:pt x="2755900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723900"/>
                  </a:lnTo>
                  <a:lnTo>
                    <a:pt x="1987354" y="723900"/>
                  </a:lnTo>
                  <a:lnTo>
                    <a:pt x="2038350" y="717550"/>
                  </a:lnTo>
                  <a:cubicBezTo>
                    <a:pt x="2497291" y="642783"/>
                    <a:pt x="2432975" y="321492"/>
                    <a:pt x="2753650" y="288000"/>
                  </a:cubicBezTo>
                  <a:cubicBezTo>
                    <a:pt x="3074325" y="254508"/>
                    <a:pt x="9045883" y="288000"/>
                    <a:pt x="12192000" y="288000"/>
                  </a:cubicBezTo>
                  <a:close/>
                </a:path>
              </a:pathLst>
            </a:cu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0" cap="none" spc="0" normalizeH="0" baseline="0" noProof="1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07837" y="136675"/>
              <a:ext cx="1663415" cy="487234"/>
            </a:xfrm>
            <a:prstGeom prst="rect">
              <a:avLst/>
            </a:prstGeom>
          </p:spPr>
        </p:pic>
      </p:grpSp>
      <p:grpSp>
        <p:nvGrpSpPr>
          <p:cNvPr id="5" name="组合 4"/>
          <p:cNvGrpSpPr/>
          <p:nvPr/>
        </p:nvGrpSpPr>
        <p:grpSpPr>
          <a:xfrm>
            <a:off x="0" y="6622627"/>
            <a:ext cx="12192000" cy="288000"/>
            <a:chOff x="0" y="6622627"/>
            <a:chExt cx="12192000" cy="288000"/>
          </a:xfrm>
        </p:grpSpPr>
        <p:sp>
          <p:nvSpPr>
            <p:cNvPr id="6" name="矩形 5"/>
            <p:cNvSpPr/>
            <p:nvPr/>
          </p:nvSpPr>
          <p:spPr>
            <a:xfrm>
              <a:off x="0" y="6622627"/>
              <a:ext cx="12192000" cy="288000"/>
            </a:xfrm>
            <a:prstGeom prst="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defTabSz="913765">
                <a:defRPr/>
              </a:pPr>
              <a:endParaRPr lang="zh-CN" sz="1000" spc="600" noProof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9635412" y="6646312"/>
              <a:ext cx="2531378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 defTabSz="913765">
                <a:defRPr/>
              </a:pPr>
              <a:r>
                <a:rPr lang="zh-CN" sz="900" b="1" spc="300" noProof="1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Central South University</a:t>
              </a:r>
              <a:endParaRPr lang="zh-CN" sz="900" b="1" spc="300" noProof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7689" y="6640022"/>
              <a:ext cx="204630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sz="1050" b="1" spc="600" noProof="1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</a:rPr>
                <a:t>知行合一 经世致用</a:t>
              </a:r>
              <a:endParaRPr lang="zh-CN" sz="1050" b="1" noProof="1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033097" y="0"/>
            <a:ext cx="5622257" cy="305353"/>
            <a:chOff x="3097161" y="-9939"/>
            <a:chExt cx="5622257" cy="305353"/>
          </a:xfrm>
        </p:grpSpPr>
        <p:sp>
          <p:nvSpPr>
            <p:cNvPr id="10" name="矩形: 圆顶角 9"/>
            <p:cNvSpPr/>
            <p:nvPr/>
          </p:nvSpPr>
          <p:spPr>
            <a:xfrm>
              <a:off x="3097161" y="9939"/>
              <a:ext cx="1397369" cy="276859"/>
            </a:xfrm>
            <a:prstGeom prst="round2Same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rPr>
                <a:t>技术架构</a:t>
              </a:r>
              <a:endParaRPr kumimoji="0" lang="zh-CN" altLang="en-US" sz="16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1" name="矩形: 圆顶角 10"/>
            <p:cNvSpPr/>
            <p:nvPr/>
          </p:nvSpPr>
          <p:spPr>
            <a:xfrm>
              <a:off x="4501889" y="18555"/>
              <a:ext cx="1397369" cy="276859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1">
                  <a:ln>
                    <a:noFill/>
                  </a:ln>
                  <a:solidFill>
                    <a:srgbClr val="DD7604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rPr>
                <a:t>实现功能</a:t>
              </a:r>
              <a:endParaRPr kumimoji="0" lang="zh-CN" altLang="en-US" sz="1600" b="1" i="0" u="none" strike="noStrike" kern="0" cap="none" spc="0" normalizeH="0" baseline="0" noProof="1">
                <a:ln>
                  <a:noFill/>
                </a:ln>
                <a:solidFill>
                  <a:srgbClr val="DD7604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2" name="矩形: 圆顶角 11"/>
            <p:cNvSpPr/>
            <p:nvPr/>
          </p:nvSpPr>
          <p:spPr>
            <a:xfrm>
              <a:off x="5913753" y="-9939"/>
              <a:ext cx="1397369" cy="276859"/>
            </a:xfrm>
            <a:prstGeom prst="round2Same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CN" altLang="en-US" sz="1600" b="1" kern="0" noProof="1">
                  <a:solidFill>
                    <a:prstClr val="white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数据库设计</a:t>
              </a:r>
              <a:endParaRPr lang="zh-CN" altLang="zh-CN" sz="1600" b="1" kern="0" noProof="1">
                <a:solidFill>
                  <a:prstClr val="white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" name="矩形: 圆顶角 12"/>
            <p:cNvSpPr/>
            <p:nvPr/>
          </p:nvSpPr>
          <p:spPr>
            <a:xfrm>
              <a:off x="7322049" y="-6624"/>
              <a:ext cx="1397369" cy="276859"/>
            </a:xfrm>
            <a:prstGeom prst="round2Same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CN" altLang="en-US" sz="1600" b="1" kern="0" noProof="1">
                  <a:solidFill>
                    <a:prstClr val="white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界面展示</a:t>
              </a:r>
              <a:endParaRPr lang="zh-CN" altLang="zh-CN" sz="1600" b="1" kern="0" noProof="1">
                <a:solidFill>
                  <a:prstClr val="white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pic>
        <p:nvPicPr>
          <p:cNvPr id="19" name="图片 18" descr="文本, 信件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9" y="2453576"/>
            <a:ext cx="4878511" cy="1865313"/>
          </a:xfrm>
          <a:prstGeom prst="rect">
            <a:avLst/>
          </a:prstGeom>
        </p:spPr>
      </p:pic>
      <p:sp>
        <p:nvSpPr>
          <p:cNvPr id="20" name="文本框 355"/>
          <p:cNvSpPr txBox="1"/>
          <p:nvPr/>
        </p:nvSpPr>
        <p:spPr>
          <a:xfrm>
            <a:off x="5128358" y="729236"/>
            <a:ext cx="6973253" cy="5966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3</a:t>
            </a:r>
            <a:r>
              <a:rPr kumimoji="0" lang="en-US" altLang="zh-CN" sz="1600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)</a:t>
            </a:r>
            <a:r>
              <a:rPr kumimoji="0" lang="zh-CN" altLang="en-US" sz="1600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资金交易</a:t>
            </a:r>
            <a:endParaRPr kumimoji="0" lang="en-US" altLang="zh-CN" sz="1600" i="0" u="none" strike="noStrike" kern="1200" cap="none" spc="0" normalizeH="0" baseline="0" noProof="1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  <a:sym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转账消费页面，支持用户进行转账和消费，消费时金额默认进入银行账户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交易时前端约束金额只能填数字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交易限额：如果当前卡发起的交易超出了卡日限额，由管理员审核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交易失败：卡号不存在</a:t>
            </a:r>
            <a:r>
              <a:rPr lang="en-US" altLang="zh-CN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/</a:t>
            </a: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余额不足</a:t>
            </a:r>
            <a:r>
              <a:rPr lang="en-US" altLang="zh-CN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/</a:t>
            </a: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交易参与方卡被冻结</a:t>
            </a:r>
            <a:r>
              <a:rPr lang="en-US" altLang="zh-CN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/</a:t>
            </a: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透额待审核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lvl="0">
              <a:lnSpc>
                <a:spcPct val="150000"/>
              </a:lnSpc>
              <a:defRPr/>
            </a:pP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4)</a:t>
            </a: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投资管理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可以选定账户对理财产品、基金进行购买和</a:t>
            </a:r>
            <a:r>
              <a:rPr lang="zh-CN" altLang="en-US" sz="1600" b="1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卖出</a:t>
            </a:r>
            <a:endParaRPr lang="en-US" altLang="zh-CN" sz="1600" b="1" noProof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购买时前端约束份额只能填数字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购买失败：余额不足</a:t>
            </a:r>
            <a:r>
              <a:rPr lang="en-US" altLang="zh-CN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/</a:t>
            </a: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低于起购份额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办理各存期的存款，支持</a:t>
            </a:r>
            <a:r>
              <a:rPr lang="zh-CN" altLang="en-US" sz="1600" b="1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随时取回</a:t>
            </a: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，存款办理失败原因只有余额不足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5)</a:t>
            </a: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统计与查询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交易明细页面，支持用户查询交易记录和信用卡账单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投资收益：投资页面支持以列表展示详细信息，以环形图展示具体基金</a:t>
            </a:r>
            <a:r>
              <a:rPr lang="en-US" altLang="zh-CN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&amp;</a:t>
            </a: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理财产品持有占比，以柱状图展示持有过的基金</a:t>
            </a:r>
            <a:r>
              <a:rPr lang="en-US" altLang="zh-CN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&amp;</a:t>
            </a: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理财产品的盈亏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285143" y="543144"/>
            <a:ext cx="4972842" cy="754818"/>
            <a:chOff x="285143" y="543144"/>
            <a:chExt cx="4972842" cy="754818"/>
          </a:xfrm>
        </p:grpSpPr>
        <p:sp>
          <p:nvSpPr>
            <p:cNvPr id="22" name="矩形 21"/>
            <p:cNvSpPr/>
            <p:nvPr>
              <p:custDataLst>
                <p:tags r:id="rId3"/>
              </p:custDataLst>
            </p:nvPr>
          </p:nvSpPr>
          <p:spPr>
            <a:xfrm>
              <a:off x="285143" y="543144"/>
              <a:ext cx="499110" cy="661035"/>
            </a:xfrm>
            <a:prstGeom prst="rect">
              <a:avLst/>
            </a:prstGeom>
            <a:solidFill>
              <a:srgbClr val="ED7D31">
                <a:lumMod val="40000"/>
                <a:lumOff val="60000"/>
                <a:alpha val="9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3" name="矩形 22"/>
            <p:cNvSpPr/>
            <p:nvPr>
              <p:custDataLst>
                <p:tags r:id="rId4"/>
              </p:custDataLst>
            </p:nvPr>
          </p:nvSpPr>
          <p:spPr>
            <a:xfrm>
              <a:off x="844578" y="543144"/>
              <a:ext cx="137795" cy="661035"/>
            </a:xfrm>
            <a:prstGeom prst="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4" name="文本框 23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101753" y="543144"/>
              <a:ext cx="355538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0" cap="none" spc="0" normalizeH="0" baseline="0" noProof="1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用户端功能</a:t>
              </a:r>
              <a:endParaRPr kumimoji="0" lang="zh-CN" sz="2800" b="1" i="0" u="none" strike="noStrike" kern="0" cap="none" spc="0" normalizeH="0" baseline="0" noProof="1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文本框 24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101753" y="990185"/>
              <a:ext cx="415623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zh-CN" sz="1400" kern="0" spc="100" noProof="1">
                  <a:solidFill>
                    <a:schemeClr val="accent2">
                      <a:lumMod val="40000"/>
                      <a:lumOff val="60000"/>
                    </a:schemeClr>
                  </a:solidFill>
                  <a:ea typeface="微软雅黑" panose="020B0503020204020204" charset="-122"/>
                </a:rPr>
                <a:t>Features of the User End</a:t>
              </a:r>
              <a:endParaRPr kumimoji="0" lang="zh-CN" sz="1400" i="0" u="none" strike="noStrike" kern="0" cap="none" spc="100" normalizeH="0" baseline="0" noProof="1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: 圆角 19"/>
          <p:cNvSpPr/>
          <p:nvPr/>
        </p:nvSpPr>
        <p:spPr>
          <a:xfrm>
            <a:off x="59944" y="2088449"/>
            <a:ext cx="4878511" cy="2994092"/>
          </a:xfrm>
          <a:prstGeom prst="roundRect">
            <a:avLst/>
          </a:prstGeom>
          <a:solidFill>
            <a:srgbClr val="FFFDFB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0" y="0"/>
            <a:ext cx="12192000" cy="723900"/>
            <a:chOff x="0" y="0"/>
            <a:chExt cx="12192000" cy="723900"/>
          </a:xfrm>
        </p:grpSpPr>
        <p:sp>
          <p:nvSpPr>
            <p:cNvPr id="3" name="任意多边形: 形状 2"/>
            <p:cNvSpPr/>
            <p:nvPr/>
          </p:nvSpPr>
          <p:spPr>
            <a:xfrm flipH="1">
              <a:off x="0" y="0"/>
              <a:ext cx="12192000" cy="723900"/>
            </a:xfrm>
            <a:custGeom>
              <a:avLst/>
              <a:gdLst>
                <a:gd name="connsiteX0" fmla="*/ 12192000 w 12192000"/>
                <a:gd name="connsiteY0" fmla="*/ 0 h 723900"/>
                <a:gd name="connsiteX1" fmla="*/ 2755900 w 12192000"/>
                <a:gd name="connsiteY1" fmla="*/ 0 h 723900"/>
                <a:gd name="connsiteX2" fmla="*/ 4 w 12192000"/>
                <a:gd name="connsiteY2" fmla="*/ 0 h 723900"/>
                <a:gd name="connsiteX3" fmla="*/ 0 w 12192000"/>
                <a:gd name="connsiteY3" fmla="*/ 0 h 723900"/>
                <a:gd name="connsiteX4" fmla="*/ 0 w 12192000"/>
                <a:gd name="connsiteY4" fmla="*/ 723900 h 723900"/>
                <a:gd name="connsiteX5" fmla="*/ 1987354 w 12192000"/>
                <a:gd name="connsiteY5" fmla="*/ 723900 h 723900"/>
                <a:gd name="connsiteX6" fmla="*/ 2038350 w 12192000"/>
                <a:gd name="connsiteY6" fmla="*/ 717550 h 723900"/>
                <a:gd name="connsiteX7" fmla="*/ 2753650 w 12192000"/>
                <a:gd name="connsiteY7" fmla="*/ 288000 h 723900"/>
                <a:gd name="connsiteX8" fmla="*/ 12192000 w 12192000"/>
                <a:gd name="connsiteY8" fmla="*/ 288000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92000" h="723900">
                  <a:moveTo>
                    <a:pt x="12192000" y="0"/>
                  </a:moveTo>
                  <a:lnTo>
                    <a:pt x="2755900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723900"/>
                  </a:lnTo>
                  <a:lnTo>
                    <a:pt x="1987354" y="723900"/>
                  </a:lnTo>
                  <a:lnTo>
                    <a:pt x="2038350" y="717550"/>
                  </a:lnTo>
                  <a:cubicBezTo>
                    <a:pt x="2497291" y="642783"/>
                    <a:pt x="2432975" y="321492"/>
                    <a:pt x="2753650" y="288000"/>
                  </a:cubicBezTo>
                  <a:cubicBezTo>
                    <a:pt x="3074325" y="254508"/>
                    <a:pt x="9045883" y="288000"/>
                    <a:pt x="12192000" y="288000"/>
                  </a:cubicBezTo>
                  <a:close/>
                </a:path>
              </a:pathLst>
            </a:cu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0" cap="none" spc="0" normalizeH="0" baseline="0" noProof="1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07837" y="136675"/>
              <a:ext cx="1663415" cy="487234"/>
            </a:xfrm>
            <a:prstGeom prst="rect">
              <a:avLst/>
            </a:prstGeom>
          </p:spPr>
        </p:pic>
      </p:grpSp>
      <p:grpSp>
        <p:nvGrpSpPr>
          <p:cNvPr id="5" name="组合 4"/>
          <p:cNvGrpSpPr/>
          <p:nvPr/>
        </p:nvGrpSpPr>
        <p:grpSpPr>
          <a:xfrm>
            <a:off x="0" y="6622627"/>
            <a:ext cx="12192000" cy="288000"/>
            <a:chOff x="0" y="6622627"/>
            <a:chExt cx="12192000" cy="288000"/>
          </a:xfrm>
        </p:grpSpPr>
        <p:sp>
          <p:nvSpPr>
            <p:cNvPr id="6" name="矩形 5"/>
            <p:cNvSpPr/>
            <p:nvPr/>
          </p:nvSpPr>
          <p:spPr>
            <a:xfrm>
              <a:off x="0" y="6622627"/>
              <a:ext cx="12192000" cy="288000"/>
            </a:xfrm>
            <a:prstGeom prst="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defTabSz="913765">
                <a:defRPr/>
              </a:pPr>
              <a:endParaRPr lang="zh-CN" sz="1000" spc="600" noProof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9635412" y="6646312"/>
              <a:ext cx="2531378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 defTabSz="913765">
                <a:defRPr/>
              </a:pPr>
              <a:r>
                <a:rPr lang="zh-CN" sz="900" b="1" spc="300" noProof="1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Central South University</a:t>
              </a:r>
              <a:endParaRPr lang="zh-CN" sz="900" b="1" spc="300" noProof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7689" y="6640022"/>
              <a:ext cx="204630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sz="1050" b="1" spc="600" noProof="1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</a:rPr>
                <a:t>知行合一 经世致用</a:t>
              </a:r>
              <a:endParaRPr lang="zh-CN" sz="1050" b="1" noProof="1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033097" y="0"/>
            <a:ext cx="5622257" cy="305353"/>
            <a:chOff x="3097161" y="-9939"/>
            <a:chExt cx="5622257" cy="305353"/>
          </a:xfrm>
        </p:grpSpPr>
        <p:sp>
          <p:nvSpPr>
            <p:cNvPr id="10" name="矩形: 圆顶角 9"/>
            <p:cNvSpPr/>
            <p:nvPr/>
          </p:nvSpPr>
          <p:spPr>
            <a:xfrm>
              <a:off x="3097161" y="9939"/>
              <a:ext cx="1397369" cy="276859"/>
            </a:xfrm>
            <a:prstGeom prst="round2Same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rPr>
                <a:t>技术架构</a:t>
              </a:r>
              <a:endParaRPr kumimoji="0" lang="zh-CN" altLang="en-US" sz="16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1" name="矩形: 圆顶角 10"/>
            <p:cNvSpPr/>
            <p:nvPr/>
          </p:nvSpPr>
          <p:spPr>
            <a:xfrm>
              <a:off x="4501889" y="18555"/>
              <a:ext cx="1397369" cy="276859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1">
                  <a:ln>
                    <a:noFill/>
                  </a:ln>
                  <a:solidFill>
                    <a:srgbClr val="DD7604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rPr>
                <a:t>实现功能</a:t>
              </a:r>
              <a:endParaRPr kumimoji="0" lang="zh-CN" altLang="en-US" sz="1600" b="1" i="0" u="none" strike="noStrike" kern="0" cap="none" spc="0" normalizeH="0" baseline="0" noProof="1">
                <a:ln>
                  <a:noFill/>
                </a:ln>
                <a:solidFill>
                  <a:srgbClr val="DD7604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2" name="矩形: 圆顶角 11"/>
            <p:cNvSpPr/>
            <p:nvPr/>
          </p:nvSpPr>
          <p:spPr>
            <a:xfrm>
              <a:off x="5913753" y="-9939"/>
              <a:ext cx="1397369" cy="276859"/>
            </a:xfrm>
            <a:prstGeom prst="round2Same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CN" altLang="en-US" sz="1600" b="1" kern="0" noProof="1">
                  <a:solidFill>
                    <a:prstClr val="white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数据库设计</a:t>
              </a:r>
              <a:endParaRPr lang="zh-CN" altLang="zh-CN" sz="1600" b="1" kern="0" noProof="1">
                <a:solidFill>
                  <a:prstClr val="white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" name="矩形: 圆顶角 12"/>
            <p:cNvSpPr/>
            <p:nvPr/>
          </p:nvSpPr>
          <p:spPr>
            <a:xfrm>
              <a:off x="7322049" y="-6624"/>
              <a:ext cx="1397369" cy="276859"/>
            </a:xfrm>
            <a:prstGeom prst="round2Same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CN" altLang="en-US" sz="1600" b="1" kern="0" noProof="1">
                  <a:solidFill>
                    <a:prstClr val="white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界面展示</a:t>
              </a:r>
              <a:endParaRPr lang="zh-CN" altLang="zh-CN" sz="1600" b="1" kern="0" noProof="1">
                <a:solidFill>
                  <a:prstClr val="white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85143" y="543144"/>
            <a:ext cx="4972842" cy="754818"/>
            <a:chOff x="285143" y="543144"/>
            <a:chExt cx="4972842" cy="754818"/>
          </a:xfrm>
        </p:grpSpPr>
        <p:sp>
          <p:nvSpPr>
            <p:cNvPr id="15" name="矩形 14"/>
            <p:cNvSpPr/>
            <p:nvPr>
              <p:custDataLst>
                <p:tags r:id="rId2"/>
              </p:custDataLst>
            </p:nvPr>
          </p:nvSpPr>
          <p:spPr>
            <a:xfrm>
              <a:off x="285143" y="543144"/>
              <a:ext cx="499110" cy="661035"/>
            </a:xfrm>
            <a:prstGeom prst="rect">
              <a:avLst/>
            </a:prstGeom>
            <a:solidFill>
              <a:srgbClr val="ED7D31">
                <a:lumMod val="40000"/>
                <a:lumOff val="60000"/>
                <a:alpha val="9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3"/>
              </p:custDataLst>
            </p:nvPr>
          </p:nvSpPr>
          <p:spPr>
            <a:xfrm>
              <a:off x="844578" y="543144"/>
              <a:ext cx="137795" cy="661035"/>
            </a:xfrm>
            <a:prstGeom prst="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7" name="文本框 16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101753" y="543144"/>
              <a:ext cx="355538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800" b="1" kern="0" noProof="1">
                  <a:solidFill>
                    <a:srgbClr val="ED7D31">
                      <a:lumMod val="5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管理员功能</a:t>
              </a:r>
              <a:endParaRPr kumimoji="0" lang="zh-CN" sz="2800" b="1" i="0" u="none" strike="noStrike" kern="0" cap="none" spc="0" normalizeH="0" baseline="0" noProof="1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文本框 17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101753" y="990185"/>
              <a:ext cx="415623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zh-CN" sz="1400" kern="0" spc="100" noProof="1">
                  <a:solidFill>
                    <a:schemeClr val="accent2">
                      <a:lumMod val="40000"/>
                      <a:lumOff val="60000"/>
                    </a:schemeClr>
                  </a:solidFill>
                  <a:ea typeface="微软雅黑" panose="020B0503020204020204" charset="-122"/>
                </a:rPr>
                <a:t>Features of the Administrator End</a:t>
              </a:r>
              <a:endParaRPr kumimoji="0" lang="zh-CN" sz="1400" i="0" u="none" strike="noStrike" kern="0" cap="none" spc="100" normalizeH="0" baseline="0" noProof="1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ea typeface="微软雅黑" panose="020B0503020204020204" charset="-122"/>
              </a:endParaRPr>
            </a:p>
          </p:txBody>
        </p:sp>
      </p:grpSp>
      <p:pic>
        <p:nvPicPr>
          <p:cNvPr id="20" name="图片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395" y="2486463"/>
            <a:ext cx="4762500" cy="371475"/>
          </a:xfrm>
          <a:prstGeom prst="rect">
            <a:avLst/>
          </a:prstGeom>
        </p:spPr>
      </p:pic>
      <p:sp>
        <p:nvSpPr>
          <p:cNvPr id="21" name="文本框 355"/>
          <p:cNvSpPr txBox="1"/>
          <p:nvPr/>
        </p:nvSpPr>
        <p:spPr>
          <a:xfrm>
            <a:off x="4938455" y="730104"/>
            <a:ext cx="7055425" cy="522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kumimoji="0" lang="en-US" altLang="zh-CN" sz="1600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1)</a:t>
            </a:r>
            <a:r>
              <a:rPr kumimoji="0" lang="zh-CN" altLang="en-US" sz="1600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用户管理</a:t>
            </a:r>
            <a:endParaRPr kumimoji="0" lang="en-US" altLang="zh-CN" sz="1600" i="0" u="none" strike="noStrike" kern="1200" cap="none" spc="0" normalizeH="0" baseline="0" noProof="1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  <a:sym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可以更改用户的账户状态（冻结或激活）、调整账户交易限额、对于信用卡还可以更改透支额度</a:t>
            </a:r>
            <a:endParaRPr kumimoji="0" lang="en-US" altLang="zh-CN" sz="1600" i="0" u="none" strike="noStrike" kern="1200" cap="none" spc="0" normalizeH="0" baseline="0" noProof="1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  <a:sym typeface="+mn-ea"/>
            </a:endParaRPr>
          </a:p>
          <a:p>
            <a:pPr lvl="0">
              <a:lnSpc>
                <a:spcPct val="150000"/>
              </a:lnSpc>
              <a:defRPr/>
            </a:pP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2)</a:t>
            </a: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业务审核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对于日交易限额交易，可审核（通过或驳回），</a:t>
            </a:r>
            <a:r>
              <a:rPr lang="zh-CN" altLang="en-US" sz="1600" b="1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审核结果还可以撤回</a:t>
            </a: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，如果撤回时收款方余额已不足，会提示撤回失败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lvl="0">
              <a:lnSpc>
                <a:spcPct val="150000"/>
              </a:lnSpc>
              <a:defRPr/>
            </a:pP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3)</a:t>
            </a: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基础数据维护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理财产品：可修改其名称、净值与风险等级；可更改其在售状态；可删除产品；可发布产品，前端约束发布时净值只能填非负数字（最小值</a:t>
            </a:r>
            <a:r>
              <a:rPr lang="en-US" altLang="zh-CN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0</a:t>
            </a: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）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发布失败：产品</a:t>
            </a:r>
            <a:r>
              <a:rPr lang="en-US" altLang="zh-CN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ID</a:t>
            </a: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已存在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基金：与理财产品一致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存款利率：区间为</a:t>
            </a:r>
            <a:r>
              <a:rPr lang="en-US" altLang="zh-CN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[0, 1]</a:t>
            </a: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，可修改不同存期的利率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98120" y="3028539"/>
            <a:ext cx="4704775" cy="171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18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4)</a:t>
            </a:r>
            <a:r>
              <a:rPr lang="zh-CN" altLang="en-US" sz="1800" b="1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系统完整性功能</a:t>
            </a:r>
            <a:endParaRPr lang="zh-CN" altLang="en-US" sz="1800" b="1" noProof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允许管理员页面添加新的管理员，若已存在则拒绝</a:t>
            </a:r>
            <a:endParaRPr lang="en-US" altLang="zh-CN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8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允许管理员修改登陆密码</a:t>
            </a:r>
            <a:endParaRPr lang="en-US" altLang="zh-CN" sz="18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9061" y="980166"/>
            <a:ext cx="12153878" cy="4710212"/>
            <a:chOff x="19061" y="980166"/>
            <a:chExt cx="12153878" cy="4710212"/>
          </a:xfrm>
        </p:grpSpPr>
        <p:sp>
          <p:nvSpPr>
            <p:cNvPr id="4" name="矩形 3"/>
            <p:cNvSpPr/>
            <p:nvPr/>
          </p:nvSpPr>
          <p:spPr>
            <a:xfrm>
              <a:off x="3326130" y="980166"/>
              <a:ext cx="5539740" cy="4710212"/>
            </a:xfrm>
            <a:prstGeom prst="rect">
              <a:avLst/>
            </a:prstGeom>
            <a:solidFill>
              <a:srgbClr val="DD76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artisticBlur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>
            <a:xfrm>
              <a:off x="19061" y="983975"/>
              <a:ext cx="3320364" cy="4706403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>
            <a:xfrm>
              <a:off x="8865870" y="983976"/>
              <a:ext cx="3307069" cy="4702593"/>
            </a:xfrm>
            <a:prstGeom prst="rect">
              <a:avLst/>
            </a:prstGeom>
          </p:spPr>
        </p:pic>
      </p:grpSp>
      <p:sp>
        <p:nvSpPr>
          <p:cNvPr id="5" name="矩形 4"/>
          <p:cNvSpPr/>
          <p:nvPr/>
        </p:nvSpPr>
        <p:spPr>
          <a:xfrm>
            <a:off x="4239853" y="1539631"/>
            <a:ext cx="3738880" cy="3688354"/>
          </a:xfrm>
          <a:prstGeom prst="rect">
            <a:avLst/>
          </a:prstGeom>
          <a:noFill/>
          <a:ln w="38100" cmpd="sng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239853" y="2475875"/>
            <a:ext cx="373888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66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ras Bold ITC" panose="020B0907030504020204" pitchFamily="34" charset="0"/>
                <a:ea typeface="汉仪南宫体简" panose="02010509060101010101" charset="-122"/>
              </a:rPr>
              <a:t>03</a:t>
            </a:r>
            <a:endParaRPr kumimoji="0" lang="zh-CN" sz="66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ras Bold ITC" panose="020B0907030504020204" pitchFamily="34" charset="0"/>
              <a:ea typeface="汉仪南宫体简" panose="02010509060101010101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197188" y="3335272"/>
            <a:ext cx="3824209" cy="796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20000"/>
              </a:lnSpc>
              <a:defRPr/>
            </a:pPr>
            <a:r>
              <a:rPr lang="zh-CN" altLang="en-US" sz="4400" b="1" noProof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数据库设计</a:t>
            </a:r>
            <a:endParaRPr lang="zh-CN" altLang="zh-CN" sz="4400" b="1" noProof="1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305762" y="4928867"/>
            <a:ext cx="269016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 defTabSz="913765">
              <a:defRPr/>
            </a:pPr>
            <a:r>
              <a:rPr lang="zh-CN" sz="1000" spc="300" noProof="1">
                <a:solidFill>
                  <a:prstClr val="white"/>
                </a:solidFill>
                <a:latin typeface="Eras Bold ITC" panose="020B0907030504020204" pitchFamily="34" charset="0"/>
                <a:ea typeface="微软雅黑" panose="020B0503020204020204" charset="-122"/>
                <a:cs typeface="Arial" panose="020B0604020202020204" pitchFamily="34" charset="0"/>
              </a:rPr>
              <a:t>Central South University</a:t>
            </a:r>
            <a:endParaRPr lang="zh-CN" sz="1000" spc="300" noProof="1">
              <a:solidFill>
                <a:prstClr val="white"/>
              </a:solidFill>
              <a:latin typeface="Eras Bold ITC" panose="020B0907030504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: 圆角 19"/>
          <p:cNvSpPr/>
          <p:nvPr/>
        </p:nvSpPr>
        <p:spPr>
          <a:xfrm>
            <a:off x="120904" y="1365988"/>
            <a:ext cx="7811516" cy="5179592"/>
          </a:xfrm>
          <a:prstGeom prst="roundRect">
            <a:avLst>
              <a:gd name="adj" fmla="val 12842"/>
            </a:avLst>
          </a:prstGeom>
          <a:solidFill>
            <a:srgbClr val="FFFDFB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0" y="0"/>
            <a:ext cx="12192000" cy="723900"/>
            <a:chOff x="0" y="0"/>
            <a:chExt cx="12192000" cy="723900"/>
          </a:xfrm>
        </p:grpSpPr>
        <p:sp>
          <p:nvSpPr>
            <p:cNvPr id="3" name="任意多边形: 形状 2"/>
            <p:cNvSpPr/>
            <p:nvPr/>
          </p:nvSpPr>
          <p:spPr>
            <a:xfrm flipH="1">
              <a:off x="0" y="0"/>
              <a:ext cx="12192000" cy="723900"/>
            </a:xfrm>
            <a:custGeom>
              <a:avLst/>
              <a:gdLst>
                <a:gd name="connsiteX0" fmla="*/ 12192000 w 12192000"/>
                <a:gd name="connsiteY0" fmla="*/ 0 h 723900"/>
                <a:gd name="connsiteX1" fmla="*/ 2755900 w 12192000"/>
                <a:gd name="connsiteY1" fmla="*/ 0 h 723900"/>
                <a:gd name="connsiteX2" fmla="*/ 4 w 12192000"/>
                <a:gd name="connsiteY2" fmla="*/ 0 h 723900"/>
                <a:gd name="connsiteX3" fmla="*/ 0 w 12192000"/>
                <a:gd name="connsiteY3" fmla="*/ 0 h 723900"/>
                <a:gd name="connsiteX4" fmla="*/ 0 w 12192000"/>
                <a:gd name="connsiteY4" fmla="*/ 723900 h 723900"/>
                <a:gd name="connsiteX5" fmla="*/ 1987354 w 12192000"/>
                <a:gd name="connsiteY5" fmla="*/ 723900 h 723900"/>
                <a:gd name="connsiteX6" fmla="*/ 2038350 w 12192000"/>
                <a:gd name="connsiteY6" fmla="*/ 717550 h 723900"/>
                <a:gd name="connsiteX7" fmla="*/ 2753650 w 12192000"/>
                <a:gd name="connsiteY7" fmla="*/ 288000 h 723900"/>
                <a:gd name="connsiteX8" fmla="*/ 12192000 w 12192000"/>
                <a:gd name="connsiteY8" fmla="*/ 288000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92000" h="723900">
                  <a:moveTo>
                    <a:pt x="12192000" y="0"/>
                  </a:moveTo>
                  <a:lnTo>
                    <a:pt x="2755900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723900"/>
                  </a:lnTo>
                  <a:lnTo>
                    <a:pt x="1987354" y="723900"/>
                  </a:lnTo>
                  <a:lnTo>
                    <a:pt x="2038350" y="717550"/>
                  </a:lnTo>
                  <a:cubicBezTo>
                    <a:pt x="2497291" y="642783"/>
                    <a:pt x="2432975" y="321492"/>
                    <a:pt x="2753650" y="288000"/>
                  </a:cubicBezTo>
                  <a:cubicBezTo>
                    <a:pt x="3074325" y="254508"/>
                    <a:pt x="9045883" y="288000"/>
                    <a:pt x="12192000" y="288000"/>
                  </a:cubicBezTo>
                  <a:close/>
                </a:path>
              </a:pathLst>
            </a:cu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07837" y="136675"/>
              <a:ext cx="1663415" cy="487234"/>
            </a:xfrm>
            <a:prstGeom prst="rect">
              <a:avLst/>
            </a:prstGeom>
          </p:spPr>
        </p:pic>
      </p:grpSp>
      <p:grpSp>
        <p:nvGrpSpPr>
          <p:cNvPr id="5" name="组合 4"/>
          <p:cNvGrpSpPr/>
          <p:nvPr/>
        </p:nvGrpSpPr>
        <p:grpSpPr>
          <a:xfrm>
            <a:off x="0" y="6622627"/>
            <a:ext cx="12192000" cy="288000"/>
            <a:chOff x="0" y="6622627"/>
            <a:chExt cx="12192000" cy="288000"/>
          </a:xfrm>
        </p:grpSpPr>
        <p:sp>
          <p:nvSpPr>
            <p:cNvPr id="6" name="矩形 5"/>
            <p:cNvSpPr/>
            <p:nvPr/>
          </p:nvSpPr>
          <p:spPr>
            <a:xfrm>
              <a:off x="0" y="6622627"/>
              <a:ext cx="12192000" cy="288000"/>
            </a:xfrm>
            <a:prstGeom prst="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defTabSz="913765">
                <a:defRPr/>
              </a:pPr>
              <a:endParaRPr lang="zh-CN" sz="1000" spc="600" noProof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9635412" y="6646312"/>
              <a:ext cx="2531378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 defTabSz="913765">
                <a:defRPr/>
              </a:pPr>
              <a:r>
                <a:rPr lang="zh-CN" sz="900" b="1" spc="300" noProof="1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Central South University</a:t>
              </a:r>
              <a:endParaRPr lang="zh-CN" sz="900" b="1" spc="300" noProof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7689" y="6640022"/>
              <a:ext cx="204630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sz="1050" b="1" spc="600" noProof="1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</a:rPr>
                <a:t>知行合一 经世致用</a:t>
              </a:r>
              <a:endParaRPr lang="zh-CN" sz="1050" b="1" noProof="1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033097" y="3315"/>
            <a:ext cx="5622257" cy="288784"/>
            <a:chOff x="3097161" y="-6624"/>
            <a:chExt cx="5622257" cy="288784"/>
          </a:xfrm>
        </p:grpSpPr>
        <p:sp>
          <p:nvSpPr>
            <p:cNvPr id="10" name="矩形: 圆顶角 9"/>
            <p:cNvSpPr/>
            <p:nvPr/>
          </p:nvSpPr>
          <p:spPr>
            <a:xfrm>
              <a:off x="3097161" y="3843"/>
              <a:ext cx="1397369" cy="263077"/>
            </a:xfrm>
            <a:prstGeom prst="round2Same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CN" altLang="en-US" sz="1600" b="1" kern="0" noProof="1">
                  <a:solidFill>
                    <a:prstClr val="white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技术架构</a:t>
              </a:r>
              <a:endParaRPr lang="zh-CN" altLang="en-US" sz="1600" b="1" kern="0" noProof="1">
                <a:solidFill>
                  <a:prstClr val="white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1" name="矩形: 圆顶角 10"/>
            <p:cNvSpPr/>
            <p:nvPr/>
          </p:nvSpPr>
          <p:spPr>
            <a:xfrm>
              <a:off x="4501889" y="-4567"/>
              <a:ext cx="1397369" cy="271488"/>
            </a:xfrm>
            <a:prstGeom prst="round2Same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CN" altLang="en-US" sz="1600" b="1" kern="0" noProof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实现功能</a:t>
              </a:r>
              <a:endParaRPr lang="zh-CN" altLang="en-US" sz="1600" b="1" kern="0" noProof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2" name="矩形: 圆顶角 11"/>
            <p:cNvSpPr/>
            <p:nvPr/>
          </p:nvSpPr>
          <p:spPr>
            <a:xfrm>
              <a:off x="5913753" y="19083"/>
              <a:ext cx="1397369" cy="263077"/>
            </a:xfrm>
            <a:prstGeom prst="round2Same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1">
                  <a:ln>
                    <a:noFill/>
                  </a:ln>
                  <a:solidFill>
                    <a:srgbClr val="DD7604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rPr>
                <a:t>数据库设计</a:t>
              </a:r>
              <a:endParaRPr kumimoji="0" lang="zh-CN" altLang="en-US" sz="1600" b="1" i="0" u="none" strike="noStrike" kern="0" cap="none" spc="0" normalizeH="0" baseline="0" noProof="1">
                <a:ln>
                  <a:noFill/>
                </a:ln>
                <a:solidFill>
                  <a:srgbClr val="DD7604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3" name="矩形: 圆顶角 12"/>
            <p:cNvSpPr/>
            <p:nvPr/>
          </p:nvSpPr>
          <p:spPr>
            <a:xfrm>
              <a:off x="7322049" y="-6624"/>
              <a:ext cx="1397369" cy="276859"/>
            </a:xfrm>
            <a:prstGeom prst="round2Same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CN" altLang="en-US" sz="1600" b="1" kern="0" noProof="1">
                  <a:solidFill>
                    <a:prstClr val="white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界面展示</a:t>
              </a:r>
              <a:endParaRPr lang="zh-CN" altLang="zh-CN" sz="1600" b="1" kern="0" noProof="1">
                <a:solidFill>
                  <a:prstClr val="white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85143" y="543144"/>
            <a:ext cx="4972842" cy="754818"/>
            <a:chOff x="285143" y="543144"/>
            <a:chExt cx="4972842" cy="754818"/>
          </a:xfrm>
        </p:grpSpPr>
        <p:sp>
          <p:nvSpPr>
            <p:cNvPr id="18" name="矩形 17"/>
            <p:cNvSpPr/>
            <p:nvPr>
              <p:custDataLst>
                <p:tags r:id="rId2"/>
              </p:custDataLst>
            </p:nvPr>
          </p:nvSpPr>
          <p:spPr>
            <a:xfrm>
              <a:off x="285143" y="543144"/>
              <a:ext cx="499110" cy="661035"/>
            </a:xfrm>
            <a:prstGeom prst="rect">
              <a:avLst/>
            </a:prstGeom>
            <a:solidFill>
              <a:srgbClr val="ED7D31">
                <a:lumMod val="40000"/>
                <a:lumOff val="60000"/>
                <a:alpha val="9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2" name="矩形 21"/>
            <p:cNvSpPr/>
            <p:nvPr>
              <p:custDataLst>
                <p:tags r:id="rId3"/>
              </p:custDataLst>
            </p:nvPr>
          </p:nvSpPr>
          <p:spPr>
            <a:xfrm>
              <a:off x="844578" y="543144"/>
              <a:ext cx="137795" cy="661035"/>
            </a:xfrm>
            <a:prstGeom prst="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4" name="文本框 23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101753" y="543144"/>
              <a:ext cx="355538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800" b="1" kern="0" noProof="1">
                  <a:solidFill>
                    <a:srgbClr val="ED7D31">
                      <a:lumMod val="5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E-R</a:t>
              </a:r>
              <a:r>
                <a:rPr lang="zh-CN" altLang="en-US" sz="2800" b="1" kern="0" noProof="1">
                  <a:solidFill>
                    <a:srgbClr val="ED7D31">
                      <a:lumMod val="5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图与表结构</a:t>
              </a:r>
              <a:endParaRPr kumimoji="0" lang="zh-CN" sz="2800" b="1" i="0" u="none" strike="noStrike" kern="0" cap="none" spc="0" normalizeH="0" baseline="0" noProof="1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文本框 2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101753" y="990185"/>
              <a:ext cx="415623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zh-CN" sz="1400" kern="0" spc="100" noProof="1">
                  <a:solidFill>
                    <a:schemeClr val="accent2">
                      <a:lumMod val="40000"/>
                      <a:lumOff val="60000"/>
                    </a:schemeClr>
                  </a:solidFill>
                  <a:ea typeface="微软雅黑" panose="020B0503020204020204" charset="-122"/>
                </a:rPr>
                <a:t>E-R Diagram</a:t>
              </a:r>
              <a:endParaRPr kumimoji="0" lang="zh-CN" sz="1400" i="0" u="none" strike="noStrike" kern="0" cap="none" spc="100" normalizeH="0" baseline="0" noProof="1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ea typeface="微软雅黑" panose="020B0503020204020204" charset="-122"/>
              </a:endParaRPr>
            </a:p>
          </p:txBody>
        </p:sp>
      </p:grpSp>
      <p:pic>
        <p:nvPicPr>
          <p:cNvPr id="26" name="图片 2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105" y="1564247"/>
            <a:ext cx="7222755" cy="48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文本框 32"/>
          <p:cNvSpPr txBox="1"/>
          <p:nvPr/>
        </p:nvSpPr>
        <p:spPr>
          <a:xfrm>
            <a:off x="7982867" y="1905506"/>
            <a:ext cx="4249939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核心实体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s-ES" altLang="zh-CN" sz="1600" dirty="0">
                <a:latin typeface="微软雅黑" panose="020B0503020204020204" charset="-122"/>
                <a:ea typeface="微软雅黑" panose="020B0503020204020204" charset="-122"/>
              </a:rPr>
              <a:t>bank_user (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用户基础表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s-ES" altLang="zh-CN" sz="1600" dirty="0">
                <a:latin typeface="微软雅黑" panose="020B0503020204020204" charset="-122"/>
                <a:ea typeface="微软雅黑" panose="020B0503020204020204" charset="-122"/>
              </a:rPr>
              <a:t>account (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账户表，区分储蓄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信用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s-ES" altLang="zh-CN" sz="1600" dirty="0">
                <a:latin typeface="微软雅黑" panose="020B0503020204020204" charset="-122"/>
                <a:ea typeface="微软雅黑" panose="020B0503020204020204" charset="-122"/>
              </a:rPr>
              <a:t>transaction_record (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交易流水表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s-ES" altLang="zh-CN" sz="1600" dirty="0">
                <a:latin typeface="微软雅黑" panose="020B0503020204020204" charset="-122"/>
                <a:ea typeface="微软雅黑" panose="020B0503020204020204" charset="-122"/>
              </a:rPr>
              <a:t>financial_product / fund (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理财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基金产品表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s-ES" altLang="zh-CN" sz="1600" dirty="0">
                <a:latin typeface="微软雅黑" panose="020B0503020204020204" charset="-122"/>
                <a:ea typeface="微软雅黑" panose="020B0503020204020204" charset="-122"/>
              </a:rPr>
              <a:t>deposit (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定期存款表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实体间关系：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用户与账户是一对多关系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账户与存款是一对多关系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账户与交易记录是二对一关系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账户与理财产品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基金是多对多关系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: 圆角 19"/>
          <p:cNvSpPr/>
          <p:nvPr/>
        </p:nvSpPr>
        <p:spPr>
          <a:xfrm>
            <a:off x="388620" y="1341002"/>
            <a:ext cx="6591287" cy="5059798"/>
          </a:xfrm>
          <a:prstGeom prst="roundRect">
            <a:avLst>
              <a:gd name="adj" fmla="val 16757"/>
            </a:avLst>
          </a:prstGeom>
          <a:solidFill>
            <a:srgbClr val="FFFDFB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0" y="0"/>
            <a:ext cx="12192000" cy="723900"/>
            <a:chOff x="0" y="0"/>
            <a:chExt cx="12192000" cy="723900"/>
          </a:xfrm>
        </p:grpSpPr>
        <p:sp>
          <p:nvSpPr>
            <p:cNvPr id="3" name="任意多边形: 形状 2"/>
            <p:cNvSpPr/>
            <p:nvPr/>
          </p:nvSpPr>
          <p:spPr>
            <a:xfrm flipH="1">
              <a:off x="0" y="0"/>
              <a:ext cx="12192000" cy="723900"/>
            </a:xfrm>
            <a:custGeom>
              <a:avLst/>
              <a:gdLst>
                <a:gd name="connsiteX0" fmla="*/ 12192000 w 12192000"/>
                <a:gd name="connsiteY0" fmla="*/ 0 h 723900"/>
                <a:gd name="connsiteX1" fmla="*/ 2755900 w 12192000"/>
                <a:gd name="connsiteY1" fmla="*/ 0 h 723900"/>
                <a:gd name="connsiteX2" fmla="*/ 4 w 12192000"/>
                <a:gd name="connsiteY2" fmla="*/ 0 h 723900"/>
                <a:gd name="connsiteX3" fmla="*/ 0 w 12192000"/>
                <a:gd name="connsiteY3" fmla="*/ 0 h 723900"/>
                <a:gd name="connsiteX4" fmla="*/ 0 w 12192000"/>
                <a:gd name="connsiteY4" fmla="*/ 723900 h 723900"/>
                <a:gd name="connsiteX5" fmla="*/ 1987354 w 12192000"/>
                <a:gd name="connsiteY5" fmla="*/ 723900 h 723900"/>
                <a:gd name="connsiteX6" fmla="*/ 2038350 w 12192000"/>
                <a:gd name="connsiteY6" fmla="*/ 717550 h 723900"/>
                <a:gd name="connsiteX7" fmla="*/ 2753650 w 12192000"/>
                <a:gd name="connsiteY7" fmla="*/ 288000 h 723900"/>
                <a:gd name="connsiteX8" fmla="*/ 12192000 w 12192000"/>
                <a:gd name="connsiteY8" fmla="*/ 288000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92000" h="723900">
                  <a:moveTo>
                    <a:pt x="12192000" y="0"/>
                  </a:moveTo>
                  <a:lnTo>
                    <a:pt x="2755900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723900"/>
                  </a:lnTo>
                  <a:lnTo>
                    <a:pt x="1987354" y="723900"/>
                  </a:lnTo>
                  <a:lnTo>
                    <a:pt x="2038350" y="717550"/>
                  </a:lnTo>
                  <a:cubicBezTo>
                    <a:pt x="2497291" y="642783"/>
                    <a:pt x="2432975" y="321492"/>
                    <a:pt x="2753650" y="288000"/>
                  </a:cubicBezTo>
                  <a:cubicBezTo>
                    <a:pt x="3074325" y="254508"/>
                    <a:pt x="9045883" y="288000"/>
                    <a:pt x="12192000" y="288000"/>
                  </a:cubicBezTo>
                  <a:close/>
                </a:path>
              </a:pathLst>
            </a:cu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07837" y="136675"/>
              <a:ext cx="1663415" cy="487234"/>
            </a:xfrm>
            <a:prstGeom prst="rect">
              <a:avLst/>
            </a:prstGeom>
          </p:spPr>
        </p:pic>
      </p:grpSp>
      <p:grpSp>
        <p:nvGrpSpPr>
          <p:cNvPr id="5" name="组合 4"/>
          <p:cNvGrpSpPr/>
          <p:nvPr/>
        </p:nvGrpSpPr>
        <p:grpSpPr>
          <a:xfrm>
            <a:off x="0" y="6622627"/>
            <a:ext cx="12192000" cy="288000"/>
            <a:chOff x="0" y="6622627"/>
            <a:chExt cx="12192000" cy="288000"/>
          </a:xfrm>
        </p:grpSpPr>
        <p:sp>
          <p:nvSpPr>
            <p:cNvPr id="6" name="矩形 5"/>
            <p:cNvSpPr/>
            <p:nvPr/>
          </p:nvSpPr>
          <p:spPr>
            <a:xfrm>
              <a:off x="0" y="6622627"/>
              <a:ext cx="12192000" cy="288000"/>
            </a:xfrm>
            <a:prstGeom prst="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defTabSz="913765">
                <a:defRPr/>
              </a:pPr>
              <a:endParaRPr lang="zh-CN" sz="1000" spc="600" noProof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9635412" y="6646312"/>
              <a:ext cx="2531378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 defTabSz="913765">
                <a:defRPr/>
              </a:pPr>
              <a:r>
                <a:rPr lang="zh-CN" sz="900" b="1" spc="300" noProof="1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Central South University</a:t>
              </a:r>
              <a:endParaRPr lang="zh-CN" sz="900" b="1" spc="300" noProof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7689" y="6640022"/>
              <a:ext cx="204630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sz="1050" b="1" spc="600" noProof="1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</a:rPr>
                <a:t>知行合一 经世致用</a:t>
              </a:r>
              <a:endParaRPr lang="zh-CN" sz="1050" b="1" noProof="1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033097" y="3315"/>
            <a:ext cx="5622257" cy="288784"/>
            <a:chOff x="3097161" y="-6624"/>
            <a:chExt cx="5622257" cy="288784"/>
          </a:xfrm>
        </p:grpSpPr>
        <p:sp>
          <p:nvSpPr>
            <p:cNvPr id="10" name="矩形: 圆顶角 9"/>
            <p:cNvSpPr/>
            <p:nvPr/>
          </p:nvSpPr>
          <p:spPr>
            <a:xfrm>
              <a:off x="3097161" y="3843"/>
              <a:ext cx="1397369" cy="263077"/>
            </a:xfrm>
            <a:prstGeom prst="round2Same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CN" altLang="en-US" sz="1600" b="1" kern="0" noProof="1">
                  <a:solidFill>
                    <a:prstClr val="white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技术架构</a:t>
              </a:r>
              <a:endParaRPr lang="zh-CN" altLang="en-US" sz="1600" b="1" kern="0" noProof="1">
                <a:solidFill>
                  <a:prstClr val="white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1" name="矩形: 圆顶角 10"/>
            <p:cNvSpPr/>
            <p:nvPr/>
          </p:nvSpPr>
          <p:spPr>
            <a:xfrm>
              <a:off x="4501889" y="-4567"/>
              <a:ext cx="1397369" cy="271488"/>
            </a:xfrm>
            <a:prstGeom prst="round2Same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CN" altLang="en-US" sz="1600" b="1" kern="0" noProof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实现功能</a:t>
              </a:r>
              <a:endParaRPr lang="zh-CN" altLang="en-US" sz="1600" b="1" kern="0" noProof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2" name="矩形: 圆顶角 11"/>
            <p:cNvSpPr/>
            <p:nvPr/>
          </p:nvSpPr>
          <p:spPr>
            <a:xfrm>
              <a:off x="5913753" y="19083"/>
              <a:ext cx="1397369" cy="263077"/>
            </a:xfrm>
            <a:prstGeom prst="round2Same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1">
                  <a:ln>
                    <a:noFill/>
                  </a:ln>
                  <a:solidFill>
                    <a:srgbClr val="DD7604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rPr>
                <a:t>数据库设计</a:t>
              </a:r>
              <a:endParaRPr kumimoji="0" lang="zh-CN" altLang="en-US" sz="1600" b="1" i="0" u="none" strike="noStrike" kern="0" cap="none" spc="0" normalizeH="0" baseline="0" noProof="1">
                <a:ln>
                  <a:noFill/>
                </a:ln>
                <a:solidFill>
                  <a:srgbClr val="DD7604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3" name="矩形: 圆顶角 12"/>
            <p:cNvSpPr/>
            <p:nvPr/>
          </p:nvSpPr>
          <p:spPr>
            <a:xfrm>
              <a:off x="7322049" y="-6624"/>
              <a:ext cx="1397369" cy="276859"/>
            </a:xfrm>
            <a:prstGeom prst="round2Same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CN" altLang="en-US" sz="1600" b="1" kern="0" noProof="1">
                  <a:solidFill>
                    <a:prstClr val="white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界面展示</a:t>
              </a:r>
              <a:endParaRPr lang="zh-CN" altLang="zh-CN" sz="1600" b="1" kern="0" noProof="1">
                <a:solidFill>
                  <a:prstClr val="white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85143" y="543144"/>
            <a:ext cx="4972842" cy="754818"/>
            <a:chOff x="285143" y="543144"/>
            <a:chExt cx="4972842" cy="754818"/>
          </a:xfrm>
        </p:grpSpPr>
        <p:sp>
          <p:nvSpPr>
            <p:cNvPr id="18" name="矩形 17"/>
            <p:cNvSpPr/>
            <p:nvPr>
              <p:custDataLst>
                <p:tags r:id="rId2"/>
              </p:custDataLst>
            </p:nvPr>
          </p:nvSpPr>
          <p:spPr>
            <a:xfrm>
              <a:off x="285143" y="543144"/>
              <a:ext cx="499110" cy="661035"/>
            </a:xfrm>
            <a:prstGeom prst="rect">
              <a:avLst/>
            </a:prstGeom>
            <a:solidFill>
              <a:srgbClr val="ED7D31">
                <a:lumMod val="40000"/>
                <a:lumOff val="60000"/>
                <a:alpha val="9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2" name="矩形 21"/>
            <p:cNvSpPr/>
            <p:nvPr>
              <p:custDataLst>
                <p:tags r:id="rId3"/>
              </p:custDataLst>
            </p:nvPr>
          </p:nvSpPr>
          <p:spPr>
            <a:xfrm>
              <a:off x="844578" y="543144"/>
              <a:ext cx="137795" cy="661035"/>
            </a:xfrm>
            <a:prstGeom prst="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4" name="文本框 23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101753" y="543144"/>
              <a:ext cx="355538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800" b="1" kern="0" noProof="1">
                  <a:solidFill>
                    <a:srgbClr val="ED7D31">
                      <a:lumMod val="5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数据完整性与安全性</a:t>
              </a:r>
              <a:endParaRPr kumimoji="0" lang="zh-CN" sz="2800" b="1" i="0" u="none" strike="noStrike" kern="0" cap="none" spc="0" normalizeH="0" baseline="0" noProof="1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文本框 2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101753" y="990185"/>
              <a:ext cx="415623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zh-CN" sz="1400" kern="0" spc="100" noProof="1">
                  <a:solidFill>
                    <a:schemeClr val="accent2">
                      <a:lumMod val="40000"/>
                      <a:lumOff val="60000"/>
                    </a:schemeClr>
                  </a:solidFill>
                  <a:ea typeface="微软雅黑" panose="020B0503020204020204" charset="-122"/>
                </a:rPr>
                <a:t>Triggers</a:t>
              </a:r>
              <a:endParaRPr kumimoji="0" lang="zh-CN" sz="1400" i="0" u="none" strike="noStrike" kern="0" cap="none" spc="100" normalizeH="0" baseline="0" noProof="1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ea typeface="微软雅黑" panose="020B0503020204020204" charset="-122"/>
              </a:endParaRPr>
            </a:p>
          </p:txBody>
        </p:sp>
      </p:grpSp>
      <p:sp>
        <p:nvSpPr>
          <p:cNvPr id="15" name="文本框 355"/>
          <p:cNvSpPr txBox="1"/>
          <p:nvPr/>
        </p:nvSpPr>
        <p:spPr>
          <a:xfrm>
            <a:off x="719470" y="2071044"/>
            <a:ext cx="6260437" cy="4119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kumimoji="0" lang="zh-CN" altLang="en-US" sz="1600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账户余额非负检查</a:t>
            </a:r>
            <a:endParaRPr kumimoji="0" lang="en-US" altLang="zh-CN" sz="1600" i="0" u="none" strike="noStrike" kern="1200" cap="none" spc="0" normalizeH="0" baseline="0" noProof="1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  <a:sym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触发时机：</a:t>
            </a:r>
            <a:r>
              <a:rPr lang="es-ES" altLang="zh-CN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UPDATE on account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功能：保证扣款方余额充足，依据扣款方类型执行不同的检查逻辑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lvl="0">
              <a:lnSpc>
                <a:spcPct val="150000"/>
              </a:lnSpc>
              <a:defRPr/>
            </a:pP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账户状态交易拦截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触发时机：</a:t>
            </a:r>
            <a:r>
              <a:rPr lang="en-US" altLang="zh-CN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INSERT on transaction_record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功能：保证发起方状态正常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lvl="0">
              <a:lnSpc>
                <a:spcPct val="150000"/>
              </a:lnSpc>
              <a:defRPr/>
            </a:pP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更新理财持有收益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触发时机：</a:t>
            </a:r>
            <a:r>
              <a:rPr lang="en-US" altLang="zh-CN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UPDATE on with_product / with_fund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功能：用户买入</a:t>
            </a:r>
            <a:r>
              <a:rPr lang="en-US" altLang="zh-CN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/</a:t>
            </a: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卖出时自动更新持有表中的买入花费</a:t>
            </a:r>
            <a:r>
              <a:rPr lang="en-US" altLang="zh-CN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/</a:t>
            </a: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卖出收益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13475" y="1498047"/>
            <a:ext cx="2439743" cy="52889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shade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设计了如下触发器：</a:t>
            </a:r>
            <a:endParaRPr lang="zh-CN" b="1" noProof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8748395" y="3564932"/>
          <a:ext cx="82232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包装程序外壳对象" showAsIcon="1" r:id="rId6" imgW="810260" imgH="513080" progId="Package">
                  <p:embed/>
                </p:oleObj>
              </mc:Choice>
              <mc:Fallback>
                <p:oleObj name="包装程序外壳对象" showAsIcon="1" r:id="rId6" imgW="810260" imgH="513080" progId="Package">
                  <p:embed/>
                  <p:pic>
                    <p:nvPicPr>
                      <p:cNvPr id="0" name="图片 1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748395" y="3564932"/>
                        <a:ext cx="822325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8561069" y="2775543"/>
          <a:ext cx="11969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包装程序外壳对象" showAsIcon="1" r:id="rId8" imgW="1174750" imgH="513080" progId="Package">
                  <p:embed/>
                </p:oleObj>
              </mc:Choice>
              <mc:Fallback>
                <p:oleObj name="包装程序外壳对象" showAsIcon="1" r:id="rId8" imgW="1174750" imgH="513080" progId="Package">
                  <p:embed/>
                  <p:pic>
                    <p:nvPicPr>
                      <p:cNvPr id="0" name="图片 2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561069" y="2775543"/>
                        <a:ext cx="1196975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: 圆角 19"/>
          <p:cNvSpPr/>
          <p:nvPr/>
        </p:nvSpPr>
        <p:spPr>
          <a:xfrm>
            <a:off x="441961" y="1353392"/>
            <a:ext cx="4914900" cy="4982208"/>
          </a:xfrm>
          <a:prstGeom prst="roundRect">
            <a:avLst>
              <a:gd name="adj" fmla="val 11951"/>
            </a:avLst>
          </a:prstGeom>
          <a:solidFill>
            <a:srgbClr val="FFFDFB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0" y="0"/>
            <a:ext cx="12192000" cy="723900"/>
            <a:chOff x="0" y="0"/>
            <a:chExt cx="12192000" cy="723900"/>
          </a:xfrm>
        </p:grpSpPr>
        <p:sp>
          <p:nvSpPr>
            <p:cNvPr id="3" name="任意多边形: 形状 2"/>
            <p:cNvSpPr/>
            <p:nvPr/>
          </p:nvSpPr>
          <p:spPr>
            <a:xfrm flipH="1">
              <a:off x="0" y="0"/>
              <a:ext cx="12192000" cy="723900"/>
            </a:xfrm>
            <a:custGeom>
              <a:avLst/>
              <a:gdLst>
                <a:gd name="connsiteX0" fmla="*/ 12192000 w 12192000"/>
                <a:gd name="connsiteY0" fmla="*/ 0 h 723900"/>
                <a:gd name="connsiteX1" fmla="*/ 2755900 w 12192000"/>
                <a:gd name="connsiteY1" fmla="*/ 0 h 723900"/>
                <a:gd name="connsiteX2" fmla="*/ 4 w 12192000"/>
                <a:gd name="connsiteY2" fmla="*/ 0 h 723900"/>
                <a:gd name="connsiteX3" fmla="*/ 0 w 12192000"/>
                <a:gd name="connsiteY3" fmla="*/ 0 h 723900"/>
                <a:gd name="connsiteX4" fmla="*/ 0 w 12192000"/>
                <a:gd name="connsiteY4" fmla="*/ 723900 h 723900"/>
                <a:gd name="connsiteX5" fmla="*/ 1987354 w 12192000"/>
                <a:gd name="connsiteY5" fmla="*/ 723900 h 723900"/>
                <a:gd name="connsiteX6" fmla="*/ 2038350 w 12192000"/>
                <a:gd name="connsiteY6" fmla="*/ 717550 h 723900"/>
                <a:gd name="connsiteX7" fmla="*/ 2753650 w 12192000"/>
                <a:gd name="connsiteY7" fmla="*/ 288000 h 723900"/>
                <a:gd name="connsiteX8" fmla="*/ 12192000 w 12192000"/>
                <a:gd name="connsiteY8" fmla="*/ 288000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92000" h="723900">
                  <a:moveTo>
                    <a:pt x="12192000" y="0"/>
                  </a:moveTo>
                  <a:lnTo>
                    <a:pt x="2755900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723900"/>
                  </a:lnTo>
                  <a:lnTo>
                    <a:pt x="1987354" y="723900"/>
                  </a:lnTo>
                  <a:lnTo>
                    <a:pt x="2038350" y="717550"/>
                  </a:lnTo>
                  <a:cubicBezTo>
                    <a:pt x="2497291" y="642783"/>
                    <a:pt x="2432975" y="321492"/>
                    <a:pt x="2753650" y="288000"/>
                  </a:cubicBezTo>
                  <a:cubicBezTo>
                    <a:pt x="3074325" y="254508"/>
                    <a:pt x="9045883" y="288000"/>
                    <a:pt x="12192000" y="288000"/>
                  </a:cubicBezTo>
                  <a:close/>
                </a:path>
              </a:pathLst>
            </a:cu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07837" y="136675"/>
              <a:ext cx="1663415" cy="487234"/>
            </a:xfrm>
            <a:prstGeom prst="rect">
              <a:avLst/>
            </a:prstGeom>
          </p:spPr>
        </p:pic>
      </p:grpSp>
      <p:grpSp>
        <p:nvGrpSpPr>
          <p:cNvPr id="5" name="组合 4"/>
          <p:cNvGrpSpPr/>
          <p:nvPr/>
        </p:nvGrpSpPr>
        <p:grpSpPr>
          <a:xfrm>
            <a:off x="0" y="6622627"/>
            <a:ext cx="12192000" cy="288000"/>
            <a:chOff x="0" y="6622627"/>
            <a:chExt cx="12192000" cy="288000"/>
          </a:xfrm>
        </p:grpSpPr>
        <p:sp>
          <p:nvSpPr>
            <p:cNvPr id="6" name="矩形 5"/>
            <p:cNvSpPr/>
            <p:nvPr/>
          </p:nvSpPr>
          <p:spPr>
            <a:xfrm>
              <a:off x="0" y="6622627"/>
              <a:ext cx="12192000" cy="288000"/>
            </a:xfrm>
            <a:prstGeom prst="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defTabSz="913765">
                <a:defRPr/>
              </a:pPr>
              <a:endParaRPr lang="zh-CN" sz="1000" spc="600" noProof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9635412" y="6646312"/>
              <a:ext cx="2531378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 defTabSz="913765">
                <a:defRPr/>
              </a:pPr>
              <a:r>
                <a:rPr lang="zh-CN" sz="900" b="1" spc="300" noProof="1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Central South University</a:t>
              </a:r>
              <a:endParaRPr lang="zh-CN" sz="900" b="1" spc="300" noProof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7689" y="6640022"/>
              <a:ext cx="204630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sz="1050" b="1" spc="600" noProof="1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</a:rPr>
                <a:t>知行合一 经世致用</a:t>
              </a:r>
              <a:endParaRPr lang="zh-CN" sz="1050" b="1" noProof="1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033097" y="3315"/>
            <a:ext cx="5622257" cy="288784"/>
            <a:chOff x="3097161" y="-6624"/>
            <a:chExt cx="5622257" cy="288784"/>
          </a:xfrm>
        </p:grpSpPr>
        <p:sp>
          <p:nvSpPr>
            <p:cNvPr id="10" name="矩形: 圆顶角 9"/>
            <p:cNvSpPr/>
            <p:nvPr/>
          </p:nvSpPr>
          <p:spPr>
            <a:xfrm>
              <a:off x="3097161" y="3843"/>
              <a:ext cx="1397369" cy="263077"/>
            </a:xfrm>
            <a:prstGeom prst="round2Same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CN" altLang="en-US" sz="1600" b="1" kern="0" noProof="1">
                  <a:solidFill>
                    <a:prstClr val="white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技术架构</a:t>
              </a:r>
              <a:endParaRPr lang="zh-CN" altLang="en-US" sz="1600" b="1" kern="0" noProof="1">
                <a:solidFill>
                  <a:prstClr val="white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1" name="矩形: 圆顶角 10"/>
            <p:cNvSpPr/>
            <p:nvPr/>
          </p:nvSpPr>
          <p:spPr>
            <a:xfrm>
              <a:off x="4501889" y="-4567"/>
              <a:ext cx="1397369" cy="271488"/>
            </a:xfrm>
            <a:prstGeom prst="round2Same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CN" altLang="en-US" sz="1600" b="1" kern="0" noProof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实现功能</a:t>
              </a:r>
              <a:endParaRPr lang="zh-CN" altLang="en-US" sz="1600" b="1" kern="0" noProof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2" name="矩形: 圆顶角 11"/>
            <p:cNvSpPr/>
            <p:nvPr/>
          </p:nvSpPr>
          <p:spPr>
            <a:xfrm>
              <a:off x="5913753" y="19083"/>
              <a:ext cx="1397369" cy="263077"/>
            </a:xfrm>
            <a:prstGeom prst="round2Same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1">
                  <a:ln>
                    <a:noFill/>
                  </a:ln>
                  <a:solidFill>
                    <a:srgbClr val="DD7604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rPr>
                <a:t>数据库设计</a:t>
              </a:r>
              <a:endParaRPr kumimoji="0" lang="zh-CN" altLang="en-US" sz="1600" b="1" i="0" u="none" strike="noStrike" kern="0" cap="none" spc="0" normalizeH="0" baseline="0" noProof="1">
                <a:ln>
                  <a:noFill/>
                </a:ln>
                <a:solidFill>
                  <a:srgbClr val="DD7604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3" name="矩形: 圆顶角 12"/>
            <p:cNvSpPr/>
            <p:nvPr/>
          </p:nvSpPr>
          <p:spPr>
            <a:xfrm>
              <a:off x="7322049" y="-6624"/>
              <a:ext cx="1397369" cy="276859"/>
            </a:xfrm>
            <a:prstGeom prst="round2Same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CN" altLang="en-US" sz="1600" b="1" kern="0" noProof="1">
                  <a:solidFill>
                    <a:prstClr val="white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界面展示</a:t>
              </a:r>
              <a:endParaRPr lang="zh-CN" altLang="zh-CN" sz="1600" b="1" kern="0" noProof="1">
                <a:solidFill>
                  <a:prstClr val="white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85143" y="543144"/>
            <a:ext cx="4972842" cy="754818"/>
            <a:chOff x="285143" y="543144"/>
            <a:chExt cx="4972842" cy="754818"/>
          </a:xfrm>
        </p:grpSpPr>
        <p:sp>
          <p:nvSpPr>
            <p:cNvPr id="18" name="矩形 17"/>
            <p:cNvSpPr/>
            <p:nvPr>
              <p:custDataLst>
                <p:tags r:id="rId2"/>
              </p:custDataLst>
            </p:nvPr>
          </p:nvSpPr>
          <p:spPr>
            <a:xfrm>
              <a:off x="285143" y="543144"/>
              <a:ext cx="499110" cy="661035"/>
            </a:xfrm>
            <a:prstGeom prst="rect">
              <a:avLst/>
            </a:prstGeom>
            <a:solidFill>
              <a:srgbClr val="ED7D31">
                <a:lumMod val="40000"/>
                <a:lumOff val="60000"/>
                <a:alpha val="9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2" name="矩形 21"/>
            <p:cNvSpPr/>
            <p:nvPr>
              <p:custDataLst>
                <p:tags r:id="rId3"/>
              </p:custDataLst>
            </p:nvPr>
          </p:nvSpPr>
          <p:spPr>
            <a:xfrm>
              <a:off x="844578" y="543144"/>
              <a:ext cx="137795" cy="661035"/>
            </a:xfrm>
            <a:prstGeom prst="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4" name="文本框 23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101753" y="543144"/>
              <a:ext cx="355538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800" b="1" kern="0" noProof="1">
                  <a:solidFill>
                    <a:srgbClr val="ED7D31">
                      <a:lumMod val="5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核心业务逻辑封装</a:t>
              </a:r>
              <a:endParaRPr kumimoji="0" lang="zh-CN" sz="2800" b="1" i="0" u="none" strike="noStrike" kern="0" cap="none" spc="0" normalizeH="0" baseline="0" noProof="1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文本框 2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101753" y="990185"/>
              <a:ext cx="415623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zh-CN" sz="1400" kern="0" spc="100" noProof="1">
                  <a:solidFill>
                    <a:schemeClr val="accent2">
                      <a:lumMod val="40000"/>
                      <a:lumOff val="60000"/>
                    </a:schemeClr>
                  </a:solidFill>
                  <a:ea typeface="微软雅黑" panose="020B0503020204020204" charset="-122"/>
                </a:rPr>
                <a:t>Stored Procedures</a:t>
              </a:r>
              <a:endParaRPr kumimoji="0" lang="zh-CN" sz="1400" i="0" u="none" strike="noStrike" kern="0" cap="none" spc="100" normalizeH="0" baseline="0" noProof="1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ea typeface="微软雅黑" panose="020B0503020204020204" charset="-122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1218275" y="1518791"/>
            <a:ext cx="2728885" cy="52889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shade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设计了如下存储过程：</a:t>
            </a:r>
            <a:endParaRPr lang="zh-CN" b="1" noProof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355"/>
          <p:cNvSpPr txBox="1"/>
          <p:nvPr/>
        </p:nvSpPr>
        <p:spPr>
          <a:xfrm>
            <a:off x="839498" y="2158365"/>
            <a:ext cx="2444722" cy="4119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kumimoji="0" lang="zh-CN" altLang="en-US" sz="1600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用户注册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重置密码</a:t>
            </a:r>
            <a:endParaRPr lang="en-US" altLang="zh-CN" sz="1600" dirty="0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账户开设</a:t>
            </a:r>
            <a:endParaRPr lang="en-US" altLang="zh-CN" sz="1600" dirty="0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账户查询</a:t>
            </a:r>
            <a:endParaRPr lang="en-US" altLang="zh-CN" sz="1600" dirty="0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银行卡状态管理</a:t>
            </a:r>
            <a:endParaRPr lang="en-US" altLang="zh-CN" sz="1600" dirty="0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资金交易</a:t>
            </a:r>
            <a:endParaRPr lang="en-US" altLang="zh-CN" sz="1600" dirty="0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理财</a:t>
            </a:r>
            <a:r>
              <a:rPr lang="en-US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</a:t>
            </a:r>
            <a:r>
              <a:rPr lang="zh-CN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基金购买</a:t>
            </a:r>
            <a:endParaRPr lang="en-US" altLang="zh-CN" sz="1600" dirty="0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定期存款办理</a:t>
            </a:r>
            <a:endParaRPr lang="en-US" altLang="zh-CN" sz="1600" dirty="0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交易审核</a:t>
            </a:r>
            <a:endParaRPr lang="en-US" altLang="zh-CN" sz="1600" dirty="0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发布理财产品</a:t>
            </a:r>
            <a:endParaRPr lang="en-US" altLang="zh-CN" sz="1600" dirty="0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更新理财产品</a:t>
            </a:r>
            <a:endParaRPr lang="en-US" altLang="zh-CN" sz="1600" dirty="0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" name="文本框 355"/>
          <p:cNvSpPr txBox="1"/>
          <p:nvPr/>
        </p:nvSpPr>
        <p:spPr>
          <a:xfrm>
            <a:off x="3046964" y="2158365"/>
            <a:ext cx="2444722" cy="4119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更新账户交易限额</a:t>
            </a:r>
            <a:endParaRPr lang="en-US" altLang="zh-CN" sz="1600" dirty="0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添加管理员</a:t>
            </a:r>
            <a:endParaRPr lang="en-US" altLang="zh-CN" sz="1600" dirty="0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删除理财产品</a:t>
            </a:r>
            <a:endParaRPr lang="en-US" altLang="zh-CN" sz="1600" dirty="0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发布基金</a:t>
            </a:r>
            <a:endParaRPr lang="en-US" altLang="zh-CN" sz="1600" dirty="0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更新基金</a:t>
            </a:r>
            <a:endParaRPr lang="en-US" altLang="zh-CN" sz="1600" dirty="0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删除基金</a:t>
            </a:r>
            <a:endParaRPr lang="en-US" altLang="zh-CN" sz="1600" dirty="0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修改电话号码</a:t>
            </a:r>
            <a:endParaRPr lang="en-US" altLang="zh-CN" sz="1600" dirty="0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查询利率</a:t>
            </a:r>
            <a:endParaRPr lang="en-US" altLang="zh-CN" sz="1600" dirty="0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修改利率</a:t>
            </a:r>
            <a:endParaRPr lang="en-US" altLang="zh-CN" sz="1600" dirty="0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卖出基金</a:t>
            </a:r>
            <a:r>
              <a:rPr lang="en-US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</a:t>
            </a:r>
            <a:r>
              <a:rPr lang="zh-CN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理财产品</a:t>
            </a:r>
            <a:endParaRPr lang="en-US" altLang="zh-CN" sz="1600" dirty="0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取回存款</a:t>
            </a:r>
            <a:endParaRPr lang="en-US" altLang="zh-CN" sz="1600" dirty="0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6432223" y="1783237"/>
            <a:ext cx="4146395" cy="2961115"/>
            <a:chOff x="6310303" y="2685528"/>
            <a:chExt cx="4146395" cy="2961115"/>
          </a:xfrm>
        </p:grpSpPr>
        <p:graphicFrame>
          <p:nvGraphicFramePr>
            <p:cNvPr id="21" name="对象 20"/>
            <p:cNvGraphicFramePr>
              <a:graphicFrameLocks noChangeAspect="1"/>
            </p:cNvGraphicFramePr>
            <p:nvPr/>
          </p:nvGraphicFramePr>
          <p:xfrm>
            <a:off x="6574808" y="2689799"/>
            <a:ext cx="914400" cy="517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" name="包装程序外壳对象" showAsIcon="1" r:id="rId6" imgW="899795" imgH="513080" progId="Package">
                    <p:embed/>
                  </p:oleObj>
                </mc:Choice>
                <mc:Fallback>
                  <p:oleObj name="包装程序外壳对象" showAsIcon="1" r:id="rId6" imgW="899795" imgH="513080" progId="Package">
                    <p:embed/>
                    <p:pic>
                      <p:nvPicPr>
                        <p:cNvPr id="0" name="图片 18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6574808" y="2689799"/>
                          <a:ext cx="914400" cy="5175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/>
            <p:cNvGraphicFramePr>
              <a:graphicFrameLocks noChangeAspect="1"/>
            </p:cNvGraphicFramePr>
            <p:nvPr/>
          </p:nvGraphicFramePr>
          <p:xfrm>
            <a:off x="7169476" y="2714287"/>
            <a:ext cx="1409700" cy="517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" name="包装程序外壳对象" showAsIcon="1" r:id="rId8" imgW="1383030" imgH="513080" progId="Package">
                    <p:embed/>
                  </p:oleObj>
                </mc:Choice>
                <mc:Fallback>
                  <p:oleObj name="包装程序外壳对象" showAsIcon="1" r:id="rId8" imgW="1383030" imgH="513080" progId="Package">
                    <p:embed/>
                    <p:pic>
                      <p:nvPicPr>
                        <p:cNvPr id="0" name="图片 25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7169476" y="2714287"/>
                          <a:ext cx="1409700" cy="5175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对象 26"/>
            <p:cNvGraphicFramePr>
              <a:graphicFrameLocks noChangeAspect="1"/>
            </p:cNvGraphicFramePr>
            <p:nvPr/>
          </p:nvGraphicFramePr>
          <p:xfrm>
            <a:off x="7990762" y="3231812"/>
            <a:ext cx="822325" cy="517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" name="包装程序外壳对象" showAsIcon="1" r:id="rId10" imgW="810260" imgH="513080" progId="Package">
                    <p:embed/>
                  </p:oleObj>
                </mc:Choice>
                <mc:Fallback>
                  <p:oleObj name="包装程序外壳对象" showAsIcon="1" r:id="rId10" imgW="810260" imgH="513080" progId="Package">
                    <p:embed/>
                    <p:pic>
                      <p:nvPicPr>
                        <p:cNvPr id="0" name="图片 27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7990762" y="3231812"/>
                          <a:ext cx="822325" cy="5175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28"/>
            <p:cNvGraphicFramePr>
              <a:graphicFrameLocks noChangeAspect="1"/>
            </p:cNvGraphicFramePr>
            <p:nvPr/>
          </p:nvGraphicFramePr>
          <p:xfrm>
            <a:off x="8609807" y="2714287"/>
            <a:ext cx="822325" cy="517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" name="包装程序外壳对象" showAsIcon="1" r:id="rId12" imgW="810260" imgH="513080" progId="Package">
                    <p:embed/>
                  </p:oleObj>
                </mc:Choice>
                <mc:Fallback>
                  <p:oleObj name="包装程序外壳对象" showAsIcon="1" r:id="rId12" imgW="810260" imgH="513080" progId="Package">
                    <p:embed/>
                    <p:pic>
                      <p:nvPicPr>
                        <p:cNvPr id="0" name="图片 29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8609807" y="2714287"/>
                          <a:ext cx="822325" cy="5175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对象 30"/>
            <p:cNvGraphicFramePr>
              <a:graphicFrameLocks noChangeAspect="1"/>
            </p:cNvGraphicFramePr>
            <p:nvPr/>
          </p:nvGraphicFramePr>
          <p:xfrm>
            <a:off x="9363552" y="2685528"/>
            <a:ext cx="822325" cy="517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" name="包装程序外壳对象" showAsIcon="1" r:id="rId14" imgW="810260" imgH="513080" progId="Package">
                    <p:embed/>
                  </p:oleObj>
                </mc:Choice>
                <mc:Fallback>
                  <p:oleObj name="包装程序外壳对象" showAsIcon="1" r:id="rId14" imgW="810260" imgH="513080" progId="Package">
                    <p:embed/>
                    <p:pic>
                      <p:nvPicPr>
                        <p:cNvPr id="0" name="图片 31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9363552" y="2685528"/>
                          <a:ext cx="822325" cy="5175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对象 32"/>
            <p:cNvGraphicFramePr>
              <a:graphicFrameLocks noChangeAspect="1"/>
            </p:cNvGraphicFramePr>
            <p:nvPr/>
          </p:nvGraphicFramePr>
          <p:xfrm>
            <a:off x="9634373" y="3203053"/>
            <a:ext cx="822325" cy="517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" name="包装程序外壳对象" showAsIcon="1" r:id="rId16" imgW="810260" imgH="513080" progId="Package">
                    <p:embed/>
                  </p:oleObj>
                </mc:Choice>
                <mc:Fallback>
                  <p:oleObj name="包装程序外壳对象" showAsIcon="1" r:id="rId16" imgW="810260" imgH="513080" progId="Package">
                    <p:embed/>
                    <p:pic>
                      <p:nvPicPr>
                        <p:cNvPr id="0" name="图片 33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9634373" y="3203053"/>
                          <a:ext cx="822325" cy="5175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对象 34"/>
            <p:cNvGraphicFramePr>
              <a:graphicFrameLocks noChangeAspect="1"/>
            </p:cNvGraphicFramePr>
            <p:nvPr/>
          </p:nvGraphicFramePr>
          <p:xfrm>
            <a:off x="9223210" y="4050989"/>
            <a:ext cx="822325" cy="517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" name="包装程序外壳对象" showAsIcon="1" r:id="rId18" imgW="810260" imgH="513080" progId="Package">
                    <p:embed/>
                  </p:oleObj>
                </mc:Choice>
                <mc:Fallback>
                  <p:oleObj name="包装程序外壳对象" showAsIcon="1" r:id="rId18" imgW="810260" imgH="513080" progId="Package">
                    <p:embed/>
                    <p:pic>
                      <p:nvPicPr>
                        <p:cNvPr id="0" name="图片 36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9223210" y="4050989"/>
                          <a:ext cx="822325" cy="5175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对象 37"/>
            <p:cNvGraphicFramePr>
              <a:graphicFrameLocks noChangeAspect="1"/>
            </p:cNvGraphicFramePr>
            <p:nvPr/>
          </p:nvGraphicFramePr>
          <p:xfrm>
            <a:off x="8813087" y="4611593"/>
            <a:ext cx="822325" cy="517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" name="包装程序外壳对象" showAsIcon="1" r:id="rId20" imgW="810260" imgH="513080" progId="Package">
                    <p:embed/>
                  </p:oleObj>
                </mc:Choice>
                <mc:Fallback>
                  <p:oleObj name="包装程序外壳对象" showAsIcon="1" r:id="rId20" imgW="810260" imgH="513080" progId="Package">
                    <p:embed/>
                    <p:pic>
                      <p:nvPicPr>
                        <p:cNvPr id="0" name="图片 38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8813087" y="4611593"/>
                          <a:ext cx="822325" cy="5175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对象 39"/>
            <p:cNvGraphicFramePr>
              <a:graphicFrameLocks noChangeAspect="1"/>
            </p:cNvGraphicFramePr>
            <p:nvPr/>
          </p:nvGraphicFramePr>
          <p:xfrm>
            <a:off x="8050538" y="5129118"/>
            <a:ext cx="822325" cy="517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" name="包装程序外壳对象" showAsIcon="1" r:id="rId22" imgW="810260" imgH="513080" progId="Package">
                    <p:embed/>
                  </p:oleObj>
                </mc:Choice>
                <mc:Fallback>
                  <p:oleObj name="包装程序外壳对象" showAsIcon="1" r:id="rId22" imgW="810260" imgH="513080" progId="Package">
                    <p:embed/>
                    <p:pic>
                      <p:nvPicPr>
                        <p:cNvPr id="0" name="图片 40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8050538" y="5129118"/>
                          <a:ext cx="822325" cy="5175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" name="对象 41"/>
            <p:cNvGraphicFramePr>
              <a:graphicFrameLocks noChangeAspect="1"/>
            </p:cNvGraphicFramePr>
            <p:nvPr/>
          </p:nvGraphicFramePr>
          <p:xfrm>
            <a:off x="7287989" y="4640319"/>
            <a:ext cx="822325" cy="517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" name="包装程序外壳对象" showAsIcon="1" r:id="rId24" imgW="810260" imgH="513080" progId="Package">
                    <p:embed/>
                  </p:oleObj>
                </mc:Choice>
                <mc:Fallback>
                  <p:oleObj name="包装程序外壳对象" showAsIcon="1" r:id="rId24" imgW="810260" imgH="513080" progId="Package">
                    <p:embed/>
                    <p:pic>
                      <p:nvPicPr>
                        <p:cNvPr id="0" name="图片 42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7287989" y="4640319"/>
                          <a:ext cx="822325" cy="5175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" name="对象 43"/>
            <p:cNvGraphicFramePr>
              <a:graphicFrameLocks noChangeAspect="1"/>
            </p:cNvGraphicFramePr>
            <p:nvPr/>
          </p:nvGraphicFramePr>
          <p:xfrm>
            <a:off x="6666883" y="4057075"/>
            <a:ext cx="822325" cy="517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" name="包装程序外壳对象" showAsIcon="1" r:id="rId26" imgW="810260" imgH="513080" progId="Package">
                    <p:embed/>
                  </p:oleObj>
                </mc:Choice>
                <mc:Fallback>
                  <p:oleObj name="包装程序外壳对象" showAsIcon="1" r:id="rId26" imgW="810260" imgH="513080" progId="Package">
                    <p:embed/>
                    <p:pic>
                      <p:nvPicPr>
                        <p:cNvPr id="0" name="图片 44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6666883" y="4057075"/>
                          <a:ext cx="822325" cy="5175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" name="对象 45"/>
            <p:cNvGraphicFramePr>
              <a:graphicFrameLocks noChangeAspect="1"/>
            </p:cNvGraphicFramePr>
            <p:nvPr/>
          </p:nvGraphicFramePr>
          <p:xfrm>
            <a:off x="6310303" y="3256300"/>
            <a:ext cx="914400" cy="517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" name="包装程序外壳对象" showAsIcon="1" r:id="rId28" imgW="899795" imgH="513080" progId="Package">
                    <p:embed/>
                  </p:oleObj>
                </mc:Choice>
                <mc:Fallback>
                  <p:oleObj name="包装程序外壳对象" showAsIcon="1" r:id="rId28" imgW="899795" imgH="513080" progId="Package">
                    <p:embed/>
                    <p:pic>
                      <p:nvPicPr>
                        <p:cNvPr id="0" name="图片 46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6310303" y="3256300"/>
                          <a:ext cx="914400" cy="5175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" name="矩形 47"/>
          <p:cNvSpPr>
            <a:spLocks noChangeArrowheads="1"/>
          </p:cNvSpPr>
          <p:nvPr/>
        </p:nvSpPr>
        <p:spPr bwMode="auto">
          <a:xfrm>
            <a:off x="6872623" y="5004846"/>
            <a:ext cx="3541381" cy="774622"/>
          </a:xfrm>
          <a:prstGeom prst="rect">
            <a:avLst/>
          </a:prstGeom>
          <a:noFill/>
          <a:ln w="31750">
            <a:solidFill>
              <a:srgbClr val="FF9F2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500" b="0" i="0" u="none" strike="noStrike" kern="1200" cap="none" spc="0" normalizeH="0" baseline="0" noProof="1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" name="文本框 355"/>
          <p:cNvSpPr txBox="1"/>
          <p:nvPr/>
        </p:nvSpPr>
        <p:spPr>
          <a:xfrm>
            <a:off x="6872620" y="4968433"/>
            <a:ext cx="3541384" cy="795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初始的数据库设计并不能满足需求，系统运行时修改、增加了一些设计</a:t>
            </a:r>
            <a:endParaRPr kumimoji="0" lang="zh-CN" sz="1600" i="0" u="none" strike="noStrike" kern="1200" cap="none" spc="0" normalizeH="0" baseline="0" noProof="1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: 单圆角 19"/>
          <p:cNvSpPr/>
          <p:nvPr/>
        </p:nvSpPr>
        <p:spPr>
          <a:xfrm>
            <a:off x="7286647" y="1688384"/>
            <a:ext cx="4128114" cy="4179431"/>
          </a:xfrm>
          <a:prstGeom prst="round1Rect">
            <a:avLst>
              <a:gd name="adj" fmla="val 10275"/>
            </a:avLst>
          </a:prstGeom>
          <a:solidFill>
            <a:srgbClr val="FDF1E9">
              <a:alpha val="89804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9" name="矩形: 圆角 19"/>
          <p:cNvSpPr/>
          <p:nvPr/>
        </p:nvSpPr>
        <p:spPr>
          <a:xfrm rot="10800000">
            <a:off x="349277" y="1688385"/>
            <a:ext cx="6539202" cy="4179430"/>
          </a:xfrm>
          <a:prstGeom prst="round1Rect">
            <a:avLst>
              <a:gd name="adj" fmla="val 10275"/>
            </a:avLst>
          </a:prstGeom>
          <a:solidFill>
            <a:srgbClr val="FDF1E9">
              <a:alpha val="89804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grpSp>
        <p:nvGrpSpPr>
          <p:cNvPr id="2" name="组合 1"/>
          <p:cNvGrpSpPr/>
          <p:nvPr/>
        </p:nvGrpSpPr>
        <p:grpSpPr>
          <a:xfrm>
            <a:off x="0" y="0"/>
            <a:ext cx="12192000" cy="723900"/>
            <a:chOff x="0" y="0"/>
            <a:chExt cx="12192000" cy="723900"/>
          </a:xfrm>
        </p:grpSpPr>
        <p:sp>
          <p:nvSpPr>
            <p:cNvPr id="3" name="任意多边形: 形状 2"/>
            <p:cNvSpPr/>
            <p:nvPr/>
          </p:nvSpPr>
          <p:spPr>
            <a:xfrm flipH="1">
              <a:off x="0" y="0"/>
              <a:ext cx="12192000" cy="723900"/>
            </a:xfrm>
            <a:custGeom>
              <a:avLst/>
              <a:gdLst>
                <a:gd name="connsiteX0" fmla="*/ 12192000 w 12192000"/>
                <a:gd name="connsiteY0" fmla="*/ 0 h 723900"/>
                <a:gd name="connsiteX1" fmla="*/ 2755900 w 12192000"/>
                <a:gd name="connsiteY1" fmla="*/ 0 h 723900"/>
                <a:gd name="connsiteX2" fmla="*/ 4 w 12192000"/>
                <a:gd name="connsiteY2" fmla="*/ 0 h 723900"/>
                <a:gd name="connsiteX3" fmla="*/ 0 w 12192000"/>
                <a:gd name="connsiteY3" fmla="*/ 0 h 723900"/>
                <a:gd name="connsiteX4" fmla="*/ 0 w 12192000"/>
                <a:gd name="connsiteY4" fmla="*/ 723900 h 723900"/>
                <a:gd name="connsiteX5" fmla="*/ 1987354 w 12192000"/>
                <a:gd name="connsiteY5" fmla="*/ 723900 h 723900"/>
                <a:gd name="connsiteX6" fmla="*/ 2038350 w 12192000"/>
                <a:gd name="connsiteY6" fmla="*/ 717550 h 723900"/>
                <a:gd name="connsiteX7" fmla="*/ 2753650 w 12192000"/>
                <a:gd name="connsiteY7" fmla="*/ 288000 h 723900"/>
                <a:gd name="connsiteX8" fmla="*/ 12192000 w 12192000"/>
                <a:gd name="connsiteY8" fmla="*/ 288000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92000" h="723900">
                  <a:moveTo>
                    <a:pt x="12192000" y="0"/>
                  </a:moveTo>
                  <a:lnTo>
                    <a:pt x="2755900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723900"/>
                  </a:lnTo>
                  <a:lnTo>
                    <a:pt x="1987354" y="723900"/>
                  </a:lnTo>
                  <a:lnTo>
                    <a:pt x="2038350" y="717550"/>
                  </a:lnTo>
                  <a:cubicBezTo>
                    <a:pt x="2497291" y="642783"/>
                    <a:pt x="2432975" y="321492"/>
                    <a:pt x="2753650" y="288000"/>
                  </a:cubicBezTo>
                  <a:cubicBezTo>
                    <a:pt x="3074325" y="254508"/>
                    <a:pt x="9045883" y="288000"/>
                    <a:pt x="12192000" y="288000"/>
                  </a:cubicBezTo>
                  <a:close/>
                </a:path>
              </a:pathLst>
            </a:cu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07837" y="136675"/>
              <a:ext cx="1663415" cy="487234"/>
            </a:xfrm>
            <a:prstGeom prst="rect">
              <a:avLst/>
            </a:prstGeom>
          </p:spPr>
        </p:pic>
      </p:grpSp>
      <p:grpSp>
        <p:nvGrpSpPr>
          <p:cNvPr id="5" name="组合 4"/>
          <p:cNvGrpSpPr/>
          <p:nvPr/>
        </p:nvGrpSpPr>
        <p:grpSpPr>
          <a:xfrm>
            <a:off x="0" y="6622627"/>
            <a:ext cx="12192000" cy="288000"/>
            <a:chOff x="0" y="6622627"/>
            <a:chExt cx="12192000" cy="288000"/>
          </a:xfrm>
        </p:grpSpPr>
        <p:sp>
          <p:nvSpPr>
            <p:cNvPr id="6" name="矩形 5"/>
            <p:cNvSpPr/>
            <p:nvPr/>
          </p:nvSpPr>
          <p:spPr>
            <a:xfrm>
              <a:off x="0" y="6622627"/>
              <a:ext cx="12192000" cy="288000"/>
            </a:xfrm>
            <a:prstGeom prst="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defTabSz="913765">
                <a:defRPr/>
              </a:pPr>
              <a:endParaRPr lang="zh-CN" sz="1000" spc="600" noProof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9635412" y="6646312"/>
              <a:ext cx="2531378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 defTabSz="913765">
                <a:defRPr/>
              </a:pPr>
              <a:r>
                <a:rPr lang="zh-CN" sz="900" b="1" spc="300" noProof="1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Central South University</a:t>
              </a:r>
              <a:endParaRPr lang="zh-CN" sz="900" b="1" spc="300" noProof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7689" y="6640022"/>
              <a:ext cx="204630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sz="1050" b="1" spc="600" noProof="1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</a:rPr>
                <a:t>知行合一 经世致用</a:t>
              </a:r>
              <a:endParaRPr lang="zh-CN" sz="1050" b="1" noProof="1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033097" y="3315"/>
            <a:ext cx="5622257" cy="288784"/>
            <a:chOff x="3097161" y="-6624"/>
            <a:chExt cx="5622257" cy="288784"/>
          </a:xfrm>
        </p:grpSpPr>
        <p:sp>
          <p:nvSpPr>
            <p:cNvPr id="10" name="矩形: 圆顶角 9"/>
            <p:cNvSpPr/>
            <p:nvPr/>
          </p:nvSpPr>
          <p:spPr>
            <a:xfrm>
              <a:off x="3097161" y="3843"/>
              <a:ext cx="1397369" cy="263077"/>
            </a:xfrm>
            <a:prstGeom prst="round2Same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CN" altLang="en-US" sz="1600" b="1" kern="0" noProof="1">
                  <a:solidFill>
                    <a:prstClr val="white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技术架构</a:t>
              </a:r>
              <a:endParaRPr lang="zh-CN" altLang="en-US" sz="1600" b="1" kern="0" noProof="1">
                <a:solidFill>
                  <a:prstClr val="white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1" name="矩形: 圆顶角 10"/>
            <p:cNvSpPr/>
            <p:nvPr/>
          </p:nvSpPr>
          <p:spPr>
            <a:xfrm>
              <a:off x="4501889" y="-4567"/>
              <a:ext cx="1397369" cy="271488"/>
            </a:xfrm>
            <a:prstGeom prst="round2Same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CN" altLang="en-US" sz="1600" b="1" kern="0" noProof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实现功能</a:t>
              </a:r>
              <a:endParaRPr lang="zh-CN" altLang="en-US" sz="1600" b="1" kern="0" noProof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2" name="矩形: 圆顶角 11"/>
            <p:cNvSpPr/>
            <p:nvPr/>
          </p:nvSpPr>
          <p:spPr>
            <a:xfrm>
              <a:off x="5913753" y="19083"/>
              <a:ext cx="1397369" cy="263077"/>
            </a:xfrm>
            <a:prstGeom prst="round2Same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1">
                  <a:ln>
                    <a:noFill/>
                  </a:ln>
                  <a:solidFill>
                    <a:srgbClr val="DD7604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rPr>
                <a:t>数据库设计</a:t>
              </a:r>
              <a:endParaRPr kumimoji="0" lang="zh-CN" altLang="en-US" sz="1600" b="1" i="0" u="none" strike="noStrike" kern="0" cap="none" spc="0" normalizeH="0" baseline="0" noProof="1">
                <a:ln>
                  <a:noFill/>
                </a:ln>
                <a:solidFill>
                  <a:srgbClr val="DD7604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3" name="矩形: 圆顶角 12"/>
            <p:cNvSpPr/>
            <p:nvPr/>
          </p:nvSpPr>
          <p:spPr>
            <a:xfrm>
              <a:off x="7322049" y="-6624"/>
              <a:ext cx="1397369" cy="276859"/>
            </a:xfrm>
            <a:prstGeom prst="round2Same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CN" altLang="en-US" sz="1600" b="1" kern="0" noProof="1">
                  <a:solidFill>
                    <a:prstClr val="white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界面展示</a:t>
              </a:r>
              <a:endParaRPr lang="zh-CN" altLang="zh-CN" sz="1600" b="1" kern="0" noProof="1">
                <a:solidFill>
                  <a:prstClr val="white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85143" y="543144"/>
            <a:ext cx="4972842" cy="754818"/>
            <a:chOff x="285143" y="543144"/>
            <a:chExt cx="4972842" cy="754818"/>
          </a:xfrm>
        </p:grpSpPr>
        <p:sp>
          <p:nvSpPr>
            <p:cNvPr id="18" name="矩形 17"/>
            <p:cNvSpPr/>
            <p:nvPr>
              <p:custDataLst>
                <p:tags r:id="rId2"/>
              </p:custDataLst>
            </p:nvPr>
          </p:nvSpPr>
          <p:spPr>
            <a:xfrm>
              <a:off x="285143" y="543144"/>
              <a:ext cx="499110" cy="661035"/>
            </a:xfrm>
            <a:prstGeom prst="rect">
              <a:avLst/>
            </a:prstGeom>
            <a:solidFill>
              <a:srgbClr val="ED7D31">
                <a:lumMod val="40000"/>
                <a:lumOff val="60000"/>
                <a:alpha val="9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2" name="矩形 21"/>
            <p:cNvSpPr/>
            <p:nvPr>
              <p:custDataLst>
                <p:tags r:id="rId3"/>
              </p:custDataLst>
            </p:nvPr>
          </p:nvSpPr>
          <p:spPr>
            <a:xfrm>
              <a:off x="844578" y="543144"/>
              <a:ext cx="137795" cy="661035"/>
            </a:xfrm>
            <a:prstGeom prst="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4" name="文本框 23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101753" y="543144"/>
              <a:ext cx="355538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800" b="1" kern="0" noProof="1">
                  <a:solidFill>
                    <a:srgbClr val="ED7D31">
                      <a:lumMod val="5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视图与数据查询优化</a:t>
              </a:r>
              <a:endParaRPr kumimoji="0" lang="zh-CN" sz="2800" b="1" i="0" u="none" strike="noStrike" kern="0" cap="none" spc="0" normalizeH="0" baseline="0" noProof="1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文本框 2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101753" y="990185"/>
              <a:ext cx="415623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zh-CN" sz="1400" kern="0" spc="100" noProof="1">
                  <a:solidFill>
                    <a:schemeClr val="accent2">
                      <a:lumMod val="40000"/>
                      <a:lumOff val="60000"/>
                    </a:schemeClr>
                  </a:solidFill>
                  <a:ea typeface="微软雅黑" panose="020B0503020204020204" charset="-122"/>
                </a:rPr>
                <a:t>Views &amp; Indexes</a:t>
              </a:r>
              <a:endParaRPr kumimoji="0" lang="zh-CN" sz="1400" i="0" u="none" strike="noStrike" kern="0" cap="none" spc="100" normalizeH="0" baseline="0" noProof="1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ea typeface="微软雅黑" panose="020B0503020204020204" charset="-122"/>
              </a:endParaRPr>
            </a:p>
          </p:txBody>
        </p:sp>
      </p:grpSp>
      <p:sp>
        <p:nvSpPr>
          <p:cNvPr id="16" name="文本框 355"/>
          <p:cNvSpPr txBox="1"/>
          <p:nvPr/>
        </p:nvSpPr>
        <p:spPr>
          <a:xfrm>
            <a:off x="619838" y="1907692"/>
            <a:ext cx="6119336" cy="3750450"/>
          </a:xfrm>
          <a:prstGeom prst="rect">
            <a:avLst/>
          </a:prstGeom>
          <a:noFill/>
          <a:ln w="25400">
            <a:solidFill>
              <a:srgbClr val="FF9F27"/>
            </a:solidFill>
          </a:ln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视图创建：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交易流水明细视图</a:t>
            </a:r>
            <a:r>
              <a:rPr lang="zh-CN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：将原本只显示“发起方卡号</a:t>
            </a:r>
            <a:r>
              <a:rPr lang="en-US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</a:t>
            </a:r>
            <a:r>
              <a:rPr lang="zh-CN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接收方卡号”的数据，转换为包含“对方姓名”、“交易方向（转入</a:t>
            </a:r>
            <a:r>
              <a:rPr lang="en-US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</a:t>
            </a:r>
            <a:r>
              <a:rPr lang="zh-CN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转出）”的可读信息</a:t>
            </a:r>
            <a:endParaRPr lang="en-US" altLang="zh-CN" sz="1600" dirty="0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待审核交易视图</a:t>
            </a:r>
            <a:r>
              <a:rPr lang="zh-CN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：为管理员提供一个快速查看所有需要人工干预的交易列表</a:t>
            </a:r>
            <a:endParaRPr lang="en-US" altLang="zh-CN" sz="1600" dirty="0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信用卡月度账单视图</a:t>
            </a:r>
            <a:r>
              <a:rPr lang="zh-CN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：专门用于查询信用卡账户的消费明细</a:t>
            </a:r>
            <a:endParaRPr lang="en-US" altLang="zh-CN" sz="1600" dirty="0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存款收入视图</a:t>
            </a:r>
            <a:r>
              <a:rPr lang="zh-CN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：统计某用户下所有已到期存款产生的利息收益</a:t>
            </a:r>
            <a:endParaRPr lang="en-US" altLang="zh-CN" sz="1600" dirty="0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投资持仓盈亏视图</a:t>
            </a:r>
            <a:r>
              <a:rPr lang="zh-CN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：实时计算用户当前持有的理财产品和基金的浮动盈亏，用于前端图表展示</a:t>
            </a:r>
            <a:endParaRPr lang="zh-CN" altLang="en-US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7" name="文本框 355"/>
          <p:cNvSpPr txBox="1"/>
          <p:nvPr/>
        </p:nvSpPr>
        <p:spPr>
          <a:xfrm>
            <a:off x="7577070" y="2281072"/>
            <a:ext cx="3540510" cy="3011787"/>
          </a:xfrm>
          <a:prstGeom prst="rect">
            <a:avLst/>
          </a:prstGeom>
          <a:noFill/>
          <a:ln w="25400">
            <a:solidFill>
              <a:srgbClr val="C34A0A"/>
            </a:solidFill>
          </a:ln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索引优化：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用户表：对身份证号建立唯一索引，用于快速检索和防止重复注册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账户表：对用户</a:t>
            </a:r>
            <a:r>
              <a:rPr lang="en-US" altLang="zh-CN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ID</a:t>
            </a: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建立索引，加快查询某用户下所有账户的速度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持有理财产品</a:t>
            </a:r>
            <a:r>
              <a:rPr lang="en-US" altLang="zh-CN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/</a:t>
            </a: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基金表：对</a:t>
            </a:r>
            <a:r>
              <a:rPr lang="en-US" altLang="zh-CN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cid</a:t>
            </a:r>
            <a:r>
              <a:rPr lang="zh-CN" altLang="en-US" sz="1600" noProof="1">
                <a:solidFill>
                  <a:prstClr val="black">
                    <a:lumMod val="65000"/>
                    <a:lumOff val="35000"/>
                  </a:prst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建立索引，快速展示账户的投资组合</a:t>
            </a:r>
            <a:endParaRPr lang="en-US" altLang="zh-CN" sz="1600" noProof="1">
              <a:solidFill>
                <a:prstClr val="black">
                  <a:lumMod val="65000"/>
                  <a:lumOff val="35000"/>
                </a:prst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9061" y="980166"/>
            <a:ext cx="12153878" cy="4710212"/>
            <a:chOff x="19061" y="980166"/>
            <a:chExt cx="12153878" cy="4710212"/>
          </a:xfrm>
        </p:grpSpPr>
        <p:sp>
          <p:nvSpPr>
            <p:cNvPr id="4" name="矩形 3"/>
            <p:cNvSpPr/>
            <p:nvPr/>
          </p:nvSpPr>
          <p:spPr>
            <a:xfrm>
              <a:off x="3326130" y="980166"/>
              <a:ext cx="5539740" cy="4710212"/>
            </a:xfrm>
            <a:prstGeom prst="rect">
              <a:avLst/>
            </a:prstGeom>
            <a:solidFill>
              <a:srgbClr val="DD76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artisticBlur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>
            <a:xfrm>
              <a:off x="19061" y="983975"/>
              <a:ext cx="3320364" cy="4706403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>
            <a:xfrm>
              <a:off x="8865870" y="983976"/>
              <a:ext cx="3307069" cy="4702593"/>
            </a:xfrm>
            <a:prstGeom prst="rect">
              <a:avLst/>
            </a:prstGeom>
          </p:spPr>
        </p:pic>
      </p:grpSp>
      <p:sp>
        <p:nvSpPr>
          <p:cNvPr id="5" name="矩形 4"/>
          <p:cNvSpPr/>
          <p:nvPr/>
        </p:nvSpPr>
        <p:spPr>
          <a:xfrm>
            <a:off x="4239853" y="1539631"/>
            <a:ext cx="3738880" cy="3688354"/>
          </a:xfrm>
          <a:prstGeom prst="rect">
            <a:avLst/>
          </a:prstGeom>
          <a:noFill/>
          <a:ln w="38100" cmpd="sng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239853" y="2475875"/>
            <a:ext cx="373888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66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ras Bold ITC" panose="020B0907030504020204" pitchFamily="34" charset="0"/>
                <a:ea typeface="汉仪南宫体简" panose="02010509060101010101" charset="-122"/>
              </a:rPr>
              <a:t>04</a:t>
            </a:r>
            <a:endParaRPr kumimoji="0" lang="zh-CN" sz="66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ras Bold ITC" panose="020B0907030504020204" pitchFamily="34" charset="0"/>
              <a:ea typeface="汉仪南宫体简" panose="02010509060101010101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197188" y="3335272"/>
            <a:ext cx="3824209" cy="796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20000"/>
              </a:lnSpc>
              <a:defRPr/>
            </a:pPr>
            <a:r>
              <a:rPr lang="zh-CN" altLang="en-US" sz="4400" b="1" noProof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界面展示</a:t>
            </a:r>
            <a:endParaRPr lang="zh-CN" altLang="zh-CN" sz="4400" b="1" noProof="1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305762" y="4928867"/>
            <a:ext cx="269016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 defTabSz="913765">
              <a:defRPr/>
            </a:pPr>
            <a:r>
              <a:rPr lang="zh-CN" sz="1000" spc="300" noProof="1">
                <a:solidFill>
                  <a:prstClr val="white"/>
                </a:solidFill>
                <a:latin typeface="Eras Bold ITC" panose="020B0907030504020204" pitchFamily="34" charset="0"/>
                <a:ea typeface="微软雅黑" panose="020B0503020204020204" charset="-122"/>
                <a:cs typeface="Arial" panose="020B0604020202020204" pitchFamily="34" charset="0"/>
              </a:rPr>
              <a:t>Central South University</a:t>
            </a:r>
            <a:endParaRPr lang="zh-CN" sz="1000" spc="300" noProof="1">
              <a:solidFill>
                <a:prstClr val="white"/>
              </a:solidFill>
              <a:latin typeface="Eras Bold ITC" panose="020B0907030504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0"/>
            <a:ext cx="12192000" cy="723900"/>
            <a:chOff x="0" y="0"/>
            <a:chExt cx="12192000" cy="723900"/>
          </a:xfrm>
        </p:grpSpPr>
        <p:sp>
          <p:nvSpPr>
            <p:cNvPr id="3" name="任意多边形: 形状 2"/>
            <p:cNvSpPr/>
            <p:nvPr/>
          </p:nvSpPr>
          <p:spPr>
            <a:xfrm flipH="1">
              <a:off x="0" y="0"/>
              <a:ext cx="12192000" cy="723900"/>
            </a:xfrm>
            <a:custGeom>
              <a:avLst/>
              <a:gdLst>
                <a:gd name="connsiteX0" fmla="*/ 12192000 w 12192000"/>
                <a:gd name="connsiteY0" fmla="*/ 0 h 723900"/>
                <a:gd name="connsiteX1" fmla="*/ 2755900 w 12192000"/>
                <a:gd name="connsiteY1" fmla="*/ 0 h 723900"/>
                <a:gd name="connsiteX2" fmla="*/ 4 w 12192000"/>
                <a:gd name="connsiteY2" fmla="*/ 0 h 723900"/>
                <a:gd name="connsiteX3" fmla="*/ 0 w 12192000"/>
                <a:gd name="connsiteY3" fmla="*/ 0 h 723900"/>
                <a:gd name="connsiteX4" fmla="*/ 0 w 12192000"/>
                <a:gd name="connsiteY4" fmla="*/ 723900 h 723900"/>
                <a:gd name="connsiteX5" fmla="*/ 1987354 w 12192000"/>
                <a:gd name="connsiteY5" fmla="*/ 723900 h 723900"/>
                <a:gd name="connsiteX6" fmla="*/ 2038350 w 12192000"/>
                <a:gd name="connsiteY6" fmla="*/ 717550 h 723900"/>
                <a:gd name="connsiteX7" fmla="*/ 2753650 w 12192000"/>
                <a:gd name="connsiteY7" fmla="*/ 288000 h 723900"/>
                <a:gd name="connsiteX8" fmla="*/ 12192000 w 12192000"/>
                <a:gd name="connsiteY8" fmla="*/ 288000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92000" h="723900">
                  <a:moveTo>
                    <a:pt x="12192000" y="0"/>
                  </a:moveTo>
                  <a:lnTo>
                    <a:pt x="2755900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723900"/>
                  </a:lnTo>
                  <a:lnTo>
                    <a:pt x="1987354" y="723900"/>
                  </a:lnTo>
                  <a:lnTo>
                    <a:pt x="2038350" y="717550"/>
                  </a:lnTo>
                  <a:cubicBezTo>
                    <a:pt x="2497291" y="642783"/>
                    <a:pt x="2432975" y="321492"/>
                    <a:pt x="2753650" y="288000"/>
                  </a:cubicBezTo>
                  <a:cubicBezTo>
                    <a:pt x="3074325" y="254508"/>
                    <a:pt x="9045883" y="288000"/>
                    <a:pt x="12192000" y="288000"/>
                  </a:cubicBezTo>
                  <a:close/>
                </a:path>
              </a:pathLst>
            </a:cu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07837" y="136675"/>
              <a:ext cx="1663415" cy="487234"/>
            </a:xfrm>
            <a:prstGeom prst="rect">
              <a:avLst/>
            </a:prstGeom>
          </p:spPr>
        </p:pic>
      </p:grpSp>
      <p:grpSp>
        <p:nvGrpSpPr>
          <p:cNvPr id="5" name="组合 4"/>
          <p:cNvGrpSpPr/>
          <p:nvPr/>
        </p:nvGrpSpPr>
        <p:grpSpPr>
          <a:xfrm>
            <a:off x="0" y="6622627"/>
            <a:ext cx="12192000" cy="288000"/>
            <a:chOff x="0" y="6622627"/>
            <a:chExt cx="12192000" cy="288000"/>
          </a:xfrm>
        </p:grpSpPr>
        <p:sp>
          <p:nvSpPr>
            <p:cNvPr id="6" name="矩形 5"/>
            <p:cNvSpPr/>
            <p:nvPr/>
          </p:nvSpPr>
          <p:spPr>
            <a:xfrm>
              <a:off x="0" y="6622627"/>
              <a:ext cx="12192000" cy="288000"/>
            </a:xfrm>
            <a:prstGeom prst="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defTabSz="913765">
                <a:defRPr/>
              </a:pPr>
              <a:endParaRPr lang="zh-CN" sz="1000" spc="600" noProof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9635412" y="6646312"/>
              <a:ext cx="2531378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 defTabSz="913765">
                <a:defRPr/>
              </a:pPr>
              <a:r>
                <a:rPr lang="zh-CN" sz="900" b="1" spc="300" noProof="1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Central South University</a:t>
              </a:r>
              <a:endParaRPr lang="zh-CN" sz="900" b="1" spc="300" noProof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7689" y="6640022"/>
              <a:ext cx="204630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sz="1050" b="1" spc="600" noProof="1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</a:rPr>
                <a:t>知行合一 经世致用</a:t>
              </a:r>
              <a:endParaRPr lang="zh-CN" sz="1050" b="1" noProof="1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033097" y="3315"/>
            <a:ext cx="5622257" cy="288784"/>
            <a:chOff x="3097161" y="-6624"/>
            <a:chExt cx="5622257" cy="288784"/>
          </a:xfrm>
        </p:grpSpPr>
        <p:sp>
          <p:nvSpPr>
            <p:cNvPr id="10" name="矩形: 圆顶角 9"/>
            <p:cNvSpPr/>
            <p:nvPr/>
          </p:nvSpPr>
          <p:spPr>
            <a:xfrm>
              <a:off x="3097161" y="3843"/>
              <a:ext cx="1397369" cy="263077"/>
            </a:xfrm>
            <a:prstGeom prst="round2Same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CN" altLang="en-US" sz="1600" b="1" kern="0" noProof="1">
                  <a:solidFill>
                    <a:prstClr val="white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技术架构</a:t>
              </a:r>
              <a:endParaRPr lang="zh-CN" altLang="en-US" sz="1600" b="1" kern="0" noProof="1">
                <a:solidFill>
                  <a:prstClr val="white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1" name="矩形: 圆顶角 10"/>
            <p:cNvSpPr/>
            <p:nvPr/>
          </p:nvSpPr>
          <p:spPr>
            <a:xfrm>
              <a:off x="4501889" y="-4567"/>
              <a:ext cx="1397369" cy="271488"/>
            </a:xfrm>
            <a:prstGeom prst="round2Same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CN" altLang="en-US" sz="1600" b="1" kern="0" noProof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实现功能</a:t>
              </a:r>
              <a:endParaRPr lang="zh-CN" altLang="en-US" sz="1600" b="1" kern="0" noProof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2" name="矩形: 圆顶角 11"/>
            <p:cNvSpPr/>
            <p:nvPr/>
          </p:nvSpPr>
          <p:spPr>
            <a:xfrm>
              <a:off x="5913753" y="19083"/>
              <a:ext cx="1397369" cy="263077"/>
            </a:xfrm>
            <a:prstGeom prst="round2Same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1">
                  <a:ln>
                    <a:noFill/>
                  </a:ln>
                  <a:solidFill>
                    <a:srgbClr val="DD7604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rPr>
                <a:t>数据库设计</a:t>
              </a:r>
              <a:endParaRPr kumimoji="0" lang="zh-CN" altLang="en-US" sz="1600" b="1" i="0" u="none" strike="noStrike" kern="0" cap="none" spc="0" normalizeH="0" baseline="0" noProof="1">
                <a:ln>
                  <a:noFill/>
                </a:ln>
                <a:solidFill>
                  <a:srgbClr val="DD7604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3" name="矩形: 圆顶角 12"/>
            <p:cNvSpPr/>
            <p:nvPr/>
          </p:nvSpPr>
          <p:spPr>
            <a:xfrm>
              <a:off x="7322049" y="-6624"/>
              <a:ext cx="1397369" cy="276859"/>
            </a:xfrm>
            <a:prstGeom prst="round2Same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CN" altLang="en-US" sz="1600" b="1" kern="0" noProof="1">
                  <a:solidFill>
                    <a:prstClr val="white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界面展示</a:t>
              </a:r>
              <a:endParaRPr lang="zh-CN" altLang="zh-CN" sz="1600" b="1" kern="0" noProof="1">
                <a:solidFill>
                  <a:prstClr val="white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85143" y="543144"/>
            <a:ext cx="4972842" cy="754818"/>
            <a:chOff x="285143" y="543144"/>
            <a:chExt cx="4972842" cy="754818"/>
          </a:xfrm>
        </p:grpSpPr>
        <p:sp>
          <p:nvSpPr>
            <p:cNvPr id="18" name="矩形 17"/>
            <p:cNvSpPr/>
            <p:nvPr>
              <p:custDataLst>
                <p:tags r:id="rId2"/>
              </p:custDataLst>
            </p:nvPr>
          </p:nvSpPr>
          <p:spPr>
            <a:xfrm>
              <a:off x="285143" y="543144"/>
              <a:ext cx="499110" cy="661035"/>
            </a:xfrm>
            <a:prstGeom prst="rect">
              <a:avLst/>
            </a:prstGeom>
            <a:solidFill>
              <a:srgbClr val="ED7D31">
                <a:lumMod val="40000"/>
                <a:lumOff val="60000"/>
                <a:alpha val="9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2" name="矩形 21"/>
            <p:cNvSpPr/>
            <p:nvPr>
              <p:custDataLst>
                <p:tags r:id="rId3"/>
              </p:custDataLst>
            </p:nvPr>
          </p:nvSpPr>
          <p:spPr>
            <a:xfrm>
              <a:off x="844578" y="543144"/>
              <a:ext cx="137795" cy="661035"/>
            </a:xfrm>
            <a:prstGeom prst="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4" name="文本框 23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101753" y="543144"/>
              <a:ext cx="355538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800" b="1" kern="0" noProof="1">
                  <a:solidFill>
                    <a:srgbClr val="ED7D31">
                      <a:lumMod val="5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登录界面</a:t>
              </a:r>
              <a:endParaRPr kumimoji="0" lang="zh-CN" sz="2800" b="1" i="0" u="none" strike="noStrike" kern="0" cap="none" spc="0" normalizeH="0" baseline="0" noProof="1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文本框 2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101753" y="990185"/>
              <a:ext cx="415623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zh-CN" sz="1400" kern="0" spc="100" noProof="1">
                  <a:solidFill>
                    <a:schemeClr val="accent2">
                      <a:lumMod val="40000"/>
                      <a:lumOff val="60000"/>
                    </a:schemeClr>
                  </a:solidFill>
                  <a:ea typeface="微软雅黑" panose="020B0503020204020204" charset="-122"/>
                </a:rPr>
                <a:t>Login Page</a:t>
              </a:r>
              <a:endParaRPr kumimoji="0" lang="zh-CN" sz="1400" i="0" u="none" strike="noStrike" kern="0" cap="none" spc="100" normalizeH="0" baseline="0" noProof="1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ea typeface="微软雅黑" panose="020B0503020204020204" charset="-122"/>
              </a:endParaRPr>
            </a:p>
          </p:txBody>
        </p:sp>
      </p:grpSp>
      <p:pic>
        <p:nvPicPr>
          <p:cNvPr id="16" name="图片 15" descr="图形用户界面&#10;&#10;AI 生成的内容可能不正确。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2851" y="1420711"/>
            <a:ext cx="9248250" cy="4985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0"/>
            <a:ext cx="12192000" cy="723900"/>
            <a:chOff x="0" y="0"/>
            <a:chExt cx="12192000" cy="723900"/>
          </a:xfrm>
        </p:grpSpPr>
        <p:sp>
          <p:nvSpPr>
            <p:cNvPr id="3" name="任意多边形: 形状 2"/>
            <p:cNvSpPr/>
            <p:nvPr/>
          </p:nvSpPr>
          <p:spPr>
            <a:xfrm flipH="1">
              <a:off x="0" y="0"/>
              <a:ext cx="12192000" cy="723900"/>
            </a:xfrm>
            <a:custGeom>
              <a:avLst/>
              <a:gdLst>
                <a:gd name="connsiteX0" fmla="*/ 12192000 w 12192000"/>
                <a:gd name="connsiteY0" fmla="*/ 0 h 723900"/>
                <a:gd name="connsiteX1" fmla="*/ 2755900 w 12192000"/>
                <a:gd name="connsiteY1" fmla="*/ 0 h 723900"/>
                <a:gd name="connsiteX2" fmla="*/ 4 w 12192000"/>
                <a:gd name="connsiteY2" fmla="*/ 0 h 723900"/>
                <a:gd name="connsiteX3" fmla="*/ 0 w 12192000"/>
                <a:gd name="connsiteY3" fmla="*/ 0 h 723900"/>
                <a:gd name="connsiteX4" fmla="*/ 0 w 12192000"/>
                <a:gd name="connsiteY4" fmla="*/ 723900 h 723900"/>
                <a:gd name="connsiteX5" fmla="*/ 1987354 w 12192000"/>
                <a:gd name="connsiteY5" fmla="*/ 723900 h 723900"/>
                <a:gd name="connsiteX6" fmla="*/ 2038350 w 12192000"/>
                <a:gd name="connsiteY6" fmla="*/ 717550 h 723900"/>
                <a:gd name="connsiteX7" fmla="*/ 2753650 w 12192000"/>
                <a:gd name="connsiteY7" fmla="*/ 288000 h 723900"/>
                <a:gd name="connsiteX8" fmla="*/ 12192000 w 12192000"/>
                <a:gd name="connsiteY8" fmla="*/ 288000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92000" h="723900">
                  <a:moveTo>
                    <a:pt x="12192000" y="0"/>
                  </a:moveTo>
                  <a:lnTo>
                    <a:pt x="2755900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723900"/>
                  </a:lnTo>
                  <a:lnTo>
                    <a:pt x="1987354" y="723900"/>
                  </a:lnTo>
                  <a:lnTo>
                    <a:pt x="2038350" y="717550"/>
                  </a:lnTo>
                  <a:cubicBezTo>
                    <a:pt x="2497291" y="642783"/>
                    <a:pt x="2432975" y="321492"/>
                    <a:pt x="2753650" y="288000"/>
                  </a:cubicBezTo>
                  <a:cubicBezTo>
                    <a:pt x="3074325" y="254508"/>
                    <a:pt x="9045883" y="288000"/>
                    <a:pt x="12192000" y="288000"/>
                  </a:cubicBezTo>
                  <a:close/>
                </a:path>
              </a:pathLst>
            </a:cu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07837" y="136675"/>
              <a:ext cx="1663415" cy="487234"/>
            </a:xfrm>
            <a:prstGeom prst="rect">
              <a:avLst/>
            </a:prstGeom>
          </p:spPr>
        </p:pic>
      </p:grpSp>
      <p:grpSp>
        <p:nvGrpSpPr>
          <p:cNvPr id="5" name="组合 4"/>
          <p:cNvGrpSpPr/>
          <p:nvPr/>
        </p:nvGrpSpPr>
        <p:grpSpPr>
          <a:xfrm>
            <a:off x="0" y="6622627"/>
            <a:ext cx="12192000" cy="288000"/>
            <a:chOff x="0" y="6622627"/>
            <a:chExt cx="12192000" cy="288000"/>
          </a:xfrm>
        </p:grpSpPr>
        <p:sp>
          <p:nvSpPr>
            <p:cNvPr id="6" name="矩形 5"/>
            <p:cNvSpPr/>
            <p:nvPr/>
          </p:nvSpPr>
          <p:spPr>
            <a:xfrm>
              <a:off x="0" y="6622627"/>
              <a:ext cx="12192000" cy="288000"/>
            </a:xfrm>
            <a:prstGeom prst="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defTabSz="913765">
                <a:defRPr/>
              </a:pPr>
              <a:endParaRPr lang="zh-CN" sz="1000" spc="600" noProof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9635412" y="6646312"/>
              <a:ext cx="2531378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 defTabSz="913765">
                <a:defRPr/>
              </a:pPr>
              <a:r>
                <a:rPr lang="zh-CN" sz="900" b="1" spc="300" noProof="1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Central South University</a:t>
              </a:r>
              <a:endParaRPr lang="zh-CN" sz="900" b="1" spc="300" noProof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7689" y="6640022"/>
              <a:ext cx="204630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sz="1050" b="1" spc="600" noProof="1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</a:rPr>
                <a:t>知行合一 经世致用</a:t>
              </a:r>
              <a:endParaRPr lang="zh-CN" sz="1050" b="1" noProof="1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033097" y="3315"/>
            <a:ext cx="5622257" cy="288784"/>
            <a:chOff x="3097161" y="-6624"/>
            <a:chExt cx="5622257" cy="288784"/>
          </a:xfrm>
        </p:grpSpPr>
        <p:sp>
          <p:nvSpPr>
            <p:cNvPr id="10" name="矩形: 圆顶角 9"/>
            <p:cNvSpPr/>
            <p:nvPr/>
          </p:nvSpPr>
          <p:spPr>
            <a:xfrm>
              <a:off x="3097161" y="3843"/>
              <a:ext cx="1397369" cy="263077"/>
            </a:xfrm>
            <a:prstGeom prst="round2Same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CN" altLang="en-US" sz="1600" b="1" kern="0" noProof="1">
                  <a:solidFill>
                    <a:prstClr val="white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技术架构</a:t>
              </a:r>
              <a:endParaRPr lang="zh-CN" altLang="en-US" sz="1600" b="1" kern="0" noProof="1">
                <a:solidFill>
                  <a:prstClr val="white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1" name="矩形: 圆顶角 10"/>
            <p:cNvSpPr/>
            <p:nvPr/>
          </p:nvSpPr>
          <p:spPr>
            <a:xfrm>
              <a:off x="4501889" y="-4567"/>
              <a:ext cx="1397369" cy="271488"/>
            </a:xfrm>
            <a:prstGeom prst="round2Same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CN" altLang="en-US" sz="1600" b="1" kern="0" noProof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实现功能</a:t>
              </a:r>
              <a:endParaRPr lang="zh-CN" altLang="en-US" sz="1600" b="1" kern="0" noProof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2" name="矩形: 圆顶角 11"/>
            <p:cNvSpPr/>
            <p:nvPr/>
          </p:nvSpPr>
          <p:spPr>
            <a:xfrm>
              <a:off x="5913753" y="19083"/>
              <a:ext cx="1397369" cy="263077"/>
            </a:xfrm>
            <a:prstGeom prst="round2Same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1">
                  <a:ln>
                    <a:noFill/>
                  </a:ln>
                  <a:solidFill>
                    <a:srgbClr val="DD7604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rPr>
                <a:t>数据库设计</a:t>
              </a:r>
              <a:endParaRPr kumimoji="0" lang="zh-CN" altLang="en-US" sz="1600" b="1" i="0" u="none" strike="noStrike" kern="0" cap="none" spc="0" normalizeH="0" baseline="0" noProof="1">
                <a:ln>
                  <a:noFill/>
                </a:ln>
                <a:solidFill>
                  <a:srgbClr val="DD7604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3" name="矩形: 圆顶角 12"/>
            <p:cNvSpPr/>
            <p:nvPr/>
          </p:nvSpPr>
          <p:spPr>
            <a:xfrm>
              <a:off x="7322049" y="-6624"/>
              <a:ext cx="1397369" cy="276859"/>
            </a:xfrm>
            <a:prstGeom prst="round2Same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CN" altLang="en-US" sz="1600" b="1" kern="0" noProof="1">
                  <a:solidFill>
                    <a:prstClr val="white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界面展示</a:t>
              </a:r>
              <a:endParaRPr lang="zh-CN" altLang="zh-CN" sz="1600" b="1" kern="0" noProof="1">
                <a:solidFill>
                  <a:prstClr val="white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85143" y="543144"/>
            <a:ext cx="4972842" cy="754818"/>
            <a:chOff x="285143" y="543144"/>
            <a:chExt cx="4972842" cy="754818"/>
          </a:xfrm>
        </p:grpSpPr>
        <p:sp>
          <p:nvSpPr>
            <p:cNvPr id="18" name="矩形 17"/>
            <p:cNvSpPr/>
            <p:nvPr>
              <p:custDataLst>
                <p:tags r:id="rId2"/>
              </p:custDataLst>
            </p:nvPr>
          </p:nvSpPr>
          <p:spPr>
            <a:xfrm>
              <a:off x="285143" y="543144"/>
              <a:ext cx="499110" cy="661035"/>
            </a:xfrm>
            <a:prstGeom prst="rect">
              <a:avLst/>
            </a:prstGeom>
            <a:solidFill>
              <a:srgbClr val="ED7D31">
                <a:lumMod val="40000"/>
                <a:lumOff val="60000"/>
                <a:alpha val="9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2" name="矩形 21"/>
            <p:cNvSpPr/>
            <p:nvPr>
              <p:custDataLst>
                <p:tags r:id="rId3"/>
              </p:custDataLst>
            </p:nvPr>
          </p:nvSpPr>
          <p:spPr>
            <a:xfrm>
              <a:off x="844578" y="543144"/>
              <a:ext cx="137795" cy="661035"/>
            </a:xfrm>
            <a:prstGeom prst="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4" name="文本框 23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101753" y="543144"/>
              <a:ext cx="355538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0" cap="none" spc="0" normalizeH="0" baseline="0" noProof="1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用户端首页</a:t>
              </a:r>
              <a:endParaRPr kumimoji="0" lang="zh-CN" sz="2800" b="1" i="0" u="none" strike="noStrike" kern="0" cap="none" spc="0" normalizeH="0" baseline="0" noProof="1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文本框 2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101753" y="990185"/>
              <a:ext cx="415623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zh-CN" sz="1400" kern="0" spc="100" noProof="1">
                  <a:solidFill>
                    <a:schemeClr val="accent2">
                      <a:lumMod val="40000"/>
                      <a:lumOff val="60000"/>
                    </a:schemeClr>
                  </a:solidFill>
                  <a:ea typeface="微软雅黑" panose="020B0503020204020204" charset="-122"/>
                </a:rPr>
                <a:t>User Home Page</a:t>
              </a:r>
              <a:endParaRPr kumimoji="0" lang="zh-CN" sz="1400" i="0" u="none" strike="noStrike" kern="0" cap="none" spc="100" normalizeH="0" baseline="0" noProof="1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ea typeface="微软雅黑" panose="020B0503020204020204" charset="-122"/>
              </a:endParaRPr>
            </a:p>
          </p:txBody>
        </p:sp>
      </p:grpSp>
      <p:pic>
        <p:nvPicPr>
          <p:cNvPr id="16" name="图片 15" descr="图形用户界面, 应用程序, 网站&#10;&#10;AI 生成的内容可能不正确。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2400" y="1422000"/>
            <a:ext cx="9249392" cy="4986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0"/>
            <a:ext cx="12192000" cy="723900"/>
            <a:chOff x="0" y="0"/>
            <a:chExt cx="12192000" cy="723900"/>
          </a:xfrm>
        </p:grpSpPr>
        <p:sp>
          <p:nvSpPr>
            <p:cNvPr id="3" name="任意多边形: 形状 2"/>
            <p:cNvSpPr/>
            <p:nvPr/>
          </p:nvSpPr>
          <p:spPr>
            <a:xfrm flipH="1">
              <a:off x="0" y="0"/>
              <a:ext cx="12192000" cy="723900"/>
            </a:xfrm>
            <a:custGeom>
              <a:avLst/>
              <a:gdLst>
                <a:gd name="connsiteX0" fmla="*/ 12192000 w 12192000"/>
                <a:gd name="connsiteY0" fmla="*/ 0 h 723900"/>
                <a:gd name="connsiteX1" fmla="*/ 2755900 w 12192000"/>
                <a:gd name="connsiteY1" fmla="*/ 0 h 723900"/>
                <a:gd name="connsiteX2" fmla="*/ 4 w 12192000"/>
                <a:gd name="connsiteY2" fmla="*/ 0 h 723900"/>
                <a:gd name="connsiteX3" fmla="*/ 0 w 12192000"/>
                <a:gd name="connsiteY3" fmla="*/ 0 h 723900"/>
                <a:gd name="connsiteX4" fmla="*/ 0 w 12192000"/>
                <a:gd name="connsiteY4" fmla="*/ 723900 h 723900"/>
                <a:gd name="connsiteX5" fmla="*/ 1987354 w 12192000"/>
                <a:gd name="connsiteY5" fmla="*/ 723900 h 723900"/>
                <a:gd name="connsiteX6" fmla="*/ 2038350 w 12192000"/>
                <a:gd name="connsiteY6" fmla="*/ 717550 h 723900"/>
                <a:gd name="connsiteX7" fmla="*/ 2753650 w 12192000"/>
                <a:gd name="connsiteY7" fmla="*/ 288000 h 723900"/>
                <a:gd name="connsiteX8" fmla="*/ 12192000 w 12192000"/>
                <a:gd name="connsiteY8" fmla="*/ 288000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92000" h="723900">
                  <a:moveTo>
                    <a:pt x="12192000" y="0"/>
                  </a:moveTo>
                  <a:lnTo>
                    <a:pt x="2755900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723900"/>
                  </a:lnTo>
                  <a:lnTo>
                    <a:pt x="1987354" y="723900"/>
                  </a:lnTo>
                  <a:lnTo>
                    <a:pt x="2038350" y="717550"/>
                  </a:lnTo>
                  <a:cubicBezTo>
                    <a:pt x="2497291" y="642783"/>
                    <a:pt x="2432975" y="321492"/>
                    <a:pt x="2753650" y="288000"/>
                  </a:cubicBezTo>
                  <a:cubicBezTo>
                    <a:pt x="3074325" y="254508"/>
                    <a:pt x="9045883" y="288000"/>
                    <a:pt x="12192000" y="288000"/>
                  </a:cubicBezTo>
                  <a:close/>
                </a:path>
              </a:pathLst>
            </a:cu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07837" y="136675"/>
              <a:ext cx="1663415" cy="487234"/>
            </a:xfrm>
            <a:prstGeom prst="rect">
              <a:avLst/>
            </a:prstGeom>
          </p:spPr>
        </p:pic>
      </p:grpSp>
      <p:grpSp>
        <p:nvGrpSpPr>
          <p:cNvPr id="5" name="组合 4"/>
          <p:cNvGrpSpPr/>
          <p:nvPr/>
        </p:nvGrpSpPr>
        <p:grpSpPr>
          <a:xfrm>
            <a:off x="0" y="6622627"/>
            <a:ext cx="12192000" cy="288000"/>
            <a:chOff x="0" y="6622627"/>
            <a:chExt cx="12192000" cy="288000"/>
          </a:xfrm>
        </p:grpSpPr>
        <p:sp>
          <p:nvSpPr>
            <p:cNvPr id="6" name="矩形 5"/>
            <p:cNvSpPr/>
            <p:nvPr/>
          </p:nvSpPr>
          <p:spPr>
            <a:xfrm>
              <a:off x="0" y="6622627"/>
              <a:ext cx="12192000" cy="288000"/>
            </a:xfrm>
            <a:prstGeom prst="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defTabSz="913765">
                <a:defRPr/>
              </a:pPr>
              <a:endParaRPr lang="zh-CN" sz="1000" spc="600" noProof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9635412" y="6646312"/>
              <a:ext cx="2531378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 defTabSz="913765">
                <a:defRPr/>
              </a:pPr>
              <a:r>
                <a:rPr lang="zh-CN" sz="900" b="1" spc="300" noProof="1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Central South University</a:t>
              </a:r>
              <a:endParaRPr lang="zh-CN" sz="900" b="1" spc="300" noProof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7689" y="6640022"/>
              <a:ext cx="204630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sz="1050" b="1" spc="600" noProof="1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</a:rPr>
                <a:t>知行合一 经世致用</a:t>
              </a:r>
              <a:endParaRPr lang="zh-CN" sz="1050" b="1" noProof="1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033097" y="3315"/>
            <a:ext cx="5622257" cy="288784"/>
            <a:chOff x="3097161" y="-6624"/>
            <a:chExt cx="5622257" cy="288784"/>
          </a:xfrm>
        </p:grpSpPr>
        <p:sp>
          <p:nvSpPr>
            <p:cNvPr id="10" name="矩形: 圆顶角 9"/>
            <p:cNvSpPr/>
            <p:nvPr/>
          </p:nvSpPr>
          <p:spPr>
            <a:xfrm>
              <a:off x="3097161" y="3843"/>
              <a:ext cx="1397369" cy="263077"/>
            </a:xfrm>
            <a:prstGeom prst="round2Same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CN" altLang="en-US" sz="1600" b="1" kern="0" noProof="1">
                  <a:solidFill>
                    <a:prstClr val="white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技术架构</a:t>
              </a:r>
              <a:endParaRPr lang="zh-CN" altLang="en-US" sz="1600" b="1" kern="0" noProof="1">
                <a:solidFill>
                  <a:prstClr val="white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1" name="矩形: 圆顶角 10"/>
            <p:cNvSpPr/>
            <p:nvPr/>
          </p:nvSpPr>
          <p:spPr>
            <a:xfrm>
              <a:off x="4501889" y="-4567"/>
              <a:ext cx="1397369" cy="271488"/>
            </a:xfrm>
            <a:prstGeom prst="round2Same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CN" altLang="en-US" sz="1600" b="1" kern="0" noProof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实现功能</a:t>
              </a:r>
              <a:endParaRPr lang="zh-CN" altLang="en-US" sz="1600" b="1" kern="0" noProof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2" name="矩形: 圆顶角 11"/>
            <p:cNvSpPr/>
            <p:nvPr/>
          </p:nvSpPr>
          <p:spPr>
            <a:xfrm>
              <a:off x="5913753" y="19083"/>
              <a:ext cx="1397369" cy="263077"/>
            </a:xfrm>
            <a:prstGeom prst="round2Same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1">
                  <a:ln>
                    <a:noFill/>
                  </a:ln>
                  <a:solidFill>
                    <a:srgbClr val="DD7604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rPr>
                <a:t>数据库设计</a:t>
              </a:r>
              <a:endParaRPr kumimoji="0" lang="zh-CN" altLang="en-US" sz="1600" b="1" i="0" u="none" strike="noStrike" kern="0" cap="none" spc="0" normalizeH="0" baseline="0" noProof="1">
                <a:ln>
                  <a:noFill/>
                </a:ln>
                <a:solidFill>
                  <a:srgbClr val="DD7604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3" name="矩形: 圆顶角 12"/>
            <p:cNvSpPr/>
            <p:nvPr/>
          </p:nvSpPr>
          <p:spPr>
            <a:xfrm>
              <a:off x="7322049" y="-6624"/>
              <a:ext cx="1397369" cy="276859"/>
            </a:xfrm>
            <a:prstGeom prst="round2Same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CN" altLang="en-US" sz="1600" b="1" kern="0" noProof="1">
                  <a:solidFill>
                    <a:prstClr val="white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界面展示</a:t>
              </a:r>
              <a:endParaRPr lang="zh-CN" altLang="zh-CN" sz="1600" b="1" kern="0" noProof="1">
                <a:solidFill>
                  <a:prstClr val="white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85143" y="543144"/>
            <a:ext cx="4972842" cy="754818"/>
            <a:chOff x="285143" y="543144"/>
            <a:chExt cx="4972842" cy="754818"/>
          </a:xfrm>
        </p:grpSpPr>
        <p:sp>
          <p:nvSpPr>
            <p:cNvPr id="18" name="矩形 17"/>
            <p:cNvSpPr/>
            <p:nvPr>
              <p:custDataLst>
                <p:tags r:id="rId2"/>
              </p:custDataLst>
            </p:nvPr>
          </p:nvSpPr>
          <p:spPr>
            <a:xfrm>
              <a:off x="285143" y="543144"/>
              <a:ext cx="499110" cy="661035"/>
            </a:xfrm>
            <a:prstGeom prst="rect">
              <a:avLst/>
            </a:prstGeom>
            <a:solidFill>
              <a:srgbClr val="ED7D31">
                <a:lumMod val="40000"/>
                <a:lumOff val="60000"/>
                <a:alpha val="9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2" name="矩形 21"/>
            <p:cNvSpPr/>
            <p:nvPr>
              <p:custDataLst>
                <p:tags r:id="rId3"/>
              </p:custDataLst>
            </p:nvPr>
          </p:nvSpPr>
          <p:spPr>
            <a:xfrm>
              <a:off x="844578" y="543144"/>
              <a:ext cx="137795" cy="661035"/>
            </a:xfrm>
            <a:prstGeom prst="rect">
              <a:avLst/>
            </a:prstGeom>
            <a:solidFill>
              <a:srgbClr val="DD760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4" name="文本框 23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101753" y="543144"/>
              <a:ext cx="355538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800" b="1" kern="0" noProof="1">
                  <a:solidFill>
                    <a:srgbClr val="ED7D31">
                      <a:lumMod val="5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管理员首页</a:t>
              </a:r>
              <a:endParaRPr kumimoji="0" lang="zh-CN" sz="2800" b="1" i="0" u="none" strike="noStrike" kern="0" cap="none" spc="0" normalizeH="0" baseline="0" noProof="1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文本框 2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101753" y="990185"/>
              <a:ext cx="415623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zh-CN" sz="1400" kern="0" spc="100" noProof="1">
                  <a:solidFill>
                    <a:schemeClr val="accent2">
                      <a:lumMod val="40000"/>
                      <a:lumOff val="60000"/>
                    </a:schemeClr>
                  </a:solidFill>
                  <a:ea typeface="微软雅黑" panose="020B0503020204020204" charset="-122"/>
                </a:rPr>
                <a:t>Administrator Home Page</a:t>
              </a:r>
              <a:endParaRPr kumimoji="0" lang="zh-CN" sz="1400" i="0" u="none" strike="noStrike" kern="0" cap="none" spc="100" normalizeH="0" baseline="0" noProof="1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ea typeface="微软雅黑" panose="020B0503020204020204" charset="-122"/>
              </a:endParaRPr>
            </a:p>
          </p:txBody>
        </p:sp>
      </p:grpSp>
      <p:pic>
        <p:nvPicPr>
          <p:cNvPr id="16" name="图片 15" descr="图形用户界面, 应用程序, 网站&#10;&#10;AI 生成的内容可能不正确。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2400" y="1422000"/>
            <a:ext cx="9249392" cy="4986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ZXG_2915"/>
          <p:cNvPicPr>
            <a:picLocks noChangeAspect="1"/>
          </p:cNvPicPr>
          <p:nvPr/>
        </p:nvPicPr>
        <p:blipFill>
          <a:blip r:embed="rId1">
            <a:alphaModFix amt="7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Cutou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578" y="0"/>
            <a:ext cx="12187557" cy="685546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6021" y="1"/>
            <a:ext cx="12217482" cy="68554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grpSp>
        <p:nvGrpSpPr>
          <p:cNvPr id="6" name="组合 5"/>
          <p:cNvGrpSpPr/>
          <p:nvPr/>
        </p:nvGrpSpPr>
        <p:grpSpPr>
          <a:xfrm>
            <a:off x="328487" y="2264200"/>
            <a:ext cx="11740499" cy="2400114"/>
            <a:chOff x="505" y="4610"/>
            <a:chExt cx="17963" cy="2924"/>
          </a:xfrm>
        </p:grpSpPr>
        <p:sp>
          <p:nvSpPr>
            <p:cNvPr id="5" name="矩形 4"/>
            <p:cNvSpPr/>
            <p:nvPr/>
          </p:nvSpPr>
          <p:spPr>
            <a:xfrm>
              <a:off x="505" y="4610"/>
              <a:ext cx="13990" cy="2924"/>
            </a:xfrm>
            <a:prstGeom prst="rect">
              <a:avLst/>
            </a:prstGeom>
            <a:solidFill>
              <a:srgbClr val="DD76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sz="1050" noProof="1"/>
            </a:p>
            <a:p>
              <a:pPr algn="ctr"/>
              <a:endParaRPr lang="zh-CN" sz="1050" noProof="1"/>
            </a:p>
          </p:txBody>
        </p:sp>
        <p:sp>
          <p:nvSpPr>
            <p:cNvPr id="18" name="矩形 17"/>
            <p:cNvSpPr/>
            <p:nvPr>
              <p:custDataLst>
                <p:tags r:id="rId3"/>
              </p:custDataLst>
            </p:nvPr>
          </p:nvSpPr>
          <p:spPr>
            <a:xfrm>
              <a:off x="14269" y="4610"/>
              <a:ext cx="4199" cy="2924"/>
            </a:xfrm>
            <a:prstGeom prst="rect">
              <a:avLst/>
            </a:prstGeom>
            <a:solidFill>
              <a:srgbClr val="E0DFCC">
                <a:alpha val="7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sz="1050" noProof="1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2952" y="5155"/>
              <a:ext cx="9985" cy="841"/>
            </a:xfrm>
            <a:prstGeom prst="rect">
              <a:avLst/>
            </a:prstGeom>
            <a:noFill/>
          </p:spPr>
          <p:txBody>
            <a:bodyPr wrap="square" rtlCol="0">
              <a:noAutofit/>
              <a:scene3d>
                <a:camera prst="orthographicFront"/>
                <a:lightRig rig="threePt" dir="t"/>
              </a:scene3d>
            </a:bodyPr>
            <a:lstStyle/>
            <a:p>
              <a:pPr algn="ctr"/>
              <a:endParaRPr lang="zh-CN" sz="4000" b="1" noProof="1">
                <a:solidFill>
                  <a:schemeClr val="bg1"/>
                </a:solidFill>
                <a:effectLst/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4220" y="4610"/>
              <a:ext cx="334" cy="2924"/>
            </a:xfrm>
            <a:prstGeom prst="rect">
              <a:avLst/>
            </a:prstGeom>
            <a:solidFill>
              <a:srgbClr val="DDDC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sz="1050" noProof="1"/>
            </a:p>
            <a:p>
              <a:pPr algn="ctr"/>
              <a:endParaRPr lang="zh-CN" sz="1050" noProof="1"/>
            </a:p>
          </p:txBody>
        </p:sp>
        <p:pic>
          <p:nvPicPr>
            <p:cNvPr id="35" name="图片 34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 cstate="print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43" y="5396"/>
              <a:ext cx="2996" cy="681"/>
            </a:xfrm>
            <a:prstGeom prst="rect">
              <a:avLst/>
            </a:prstGeom>
          </p:spPr>
        </p:pic>
        <p:sp>
          <p:nvSpPr>
            <p:cNvPr id="36" name="TextBox 18"/>
            <p:cNvSpPr txBox="1"/>
            <p:nvPr/>
          </p:nvSpPr>
          <p:spPr>
            <a:xfrm>
              <a:off x="14908" y="6355"/>
              <a:ext cx="3297" cy="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b="1" noProof="1">
                  <a:solidFill>
                    <a:srgbClr val="DD7604"/>
                  </a:solidFill>
                  <a:effectLst/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  <a:sym typeface="微软雅黑" panose="020B0503020204020204" charset="-122"/>
                </a:rPr>
                <a:t>汇报人 ：</a:t>
              </a:r>
              <a:r>
                <a:rPr lang="zh-CN" b="1" noProof="1">
                  <a:solidFill>
                    <a:srgbClr val="DD7604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  <a:sym typeface="微软雅黑" panose="020B0503020204020204" charset="-122"/>
                </a:rPr>
                <a:t>戚文宇</a:t>
              </a:r>
              <a:endParaRPr lang="zh-CN" b="1" noProof="1">
                <a:solidFill>
                  <a:srgbClr val="DD7604"/>
                </a:solidFill>
                <a:effectLst/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微软雅黑" panose="020B0503020204020204" charset="-122"/>
              </a:endParaRP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779145" y="2964681"/>
            <a:ext cx="81400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7200" noProof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Q &amp; A</a:t>
            </a:r>
            <a:endParaRPr lang="zh-CN" sz="7200" noProof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>
            <p:custDataLst>
              <p:tags r:id="rId7"/>
            </p:custDataLst>
          </p:nvPr>
        </p:nvSpPr>
        <p:spPr>
          <a:xfrm>
            <a:off x="-1578" y="1996558"/>
            <a:ext cx="12185979" cy="2810632"/>
          </a:xfrm>
          <a:prstGeom prst="rect">
            <a:avLst/>
          </a:prstGeom>
          <a:solidFill>
            <a:srgbClr val="E0DFCC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050" noProof="1"/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PA" val="v3.0.0"/>
</p:tagLst>
</file>

<file path=ppt/tags/tag5.xml><?xml version="1.0" encoding="utf-8"?>
<p:tagLst xmlns:p="http://schemas.openxmlformats.org/presentationml/2006/main">
  <p:tag name="PA" val="v3.0.0"/>
</p:tagLst>
</file>

<file path=ppt/tags/tag6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.xml><?xml version="1.0" encoding="utf-8"?>
<p:tagLst xmlns:p="http://schemas.openxmlformats.org/presentationml/2006/main">
  <p:tag name="KSO_WM_DIAGRAM_VIRTUALLY_FRAME" val="{&quot;height&quot;:427.82527559055114,&quot;left&quot;:465.4597637795276,&quot;top&quot;:70.9975590551181,&quot;width&quot;:458.1199212598425}"/>
</p:tagLst>
</file>

<file path=ppt/tags/tag8.xml><?xml version="1.0" encoding="utf-8"?>
<p:tagLst xmlns:p="http://schemas.openxmlformats.org/presentationml/2006/main">
  <p:tag name="KSO_WM_DIAGRAM_VIRTUALLY_FRAME" val="{&quot;height&quot;:427.82527559055114,&quot;left&quot;:465.4597637795276,&quot;top&quot;:70.9975590551181,&quot;width&quot;:458.1199212598425}"/>
</p:tagLst>
</file>

<file path=ppt/tags/tag9.xml><?xml version="1.0" encoding="utf-8"?>
<p:tagLst xmlns:p="http://schemas.openxmlformats.org/presentationml/2006/main">
  <p:tag name="KSO_WM_DIAGRAM_VIRTUALLY_FRAME" val="{&quot;height&quot;:427.82527559055114,&quot;left&quot;:465.4597637795276,&quot;top&quot;:70.9975590551181,&quot;width&quot;:458.1199212598425}"/>
</p:tagLst>
</file>

<file path=ppt/tags/tag10.xml><?xml version="1.0" encoding="utf-8"?>
<p:tagLst xmlns:p="http://schemas.openxmlformats.org/presentationml/2006/main">
  <p:tag name="KSO_WM_DIAGRAM_VIRTUALLY_FRAME" val="{&quot;height&quot;:427.82527559055114,&quot;left&quot;:465.4597637795276,&quot;top&quot;:70.9975590551181,&quot;width&quot;:458.1199212598425}"/>
</p:tagLst>
</file>

<file path=ppt/tags/tag11.xml><?xml version="1.0" encoding="utf-8"?>
<p:tagLst xmlns:p="http://schemas.openxmlformats.org/presentationml/2006/main">
  <p:tag name="KSO_WM_DIAGRAM_VIRTUALLY_FRAME" val="{&quot;height&quot;:427.82527559055114,&quot;left&quot;:465.4597637795276,&quot;top&quot;:70.9975590551181,&quot;width&quot;:458.1199212598425}"/>
</p:tagLst>
</file>

<file path=ppt/tags/tag12.xml><?xml version="1.0" encoding="utf-8"?>
<p:tagLst xmlns:p="http://schemas.openxmlformats.org/presentationml/2006/main">
  <p:tag name="KSO_WM_DIAGRAM_VIRTUALLY_FRAME" val="{&quot;height&quot;:427.82527559055114,&quot;left&quot;:465.4597637795276,&quot;top&quot;:70.9975590551181,&quot;width&quot;:458.1199212598425}"/>
</p:tagLst>
</file>

<file path=ppt/tags/tag13.xml><?xml version="1.0" encoding="utf-8"?>
<p:tagLst xmlns:p="http://schemas.openxmlformats.org/presentationml/2006/main">
  <p:tag name="KSO_WM_DIAGRAM_VIRTUALLY_FRAME" val="{&quot;height&quot;:427.82527559055114,&quot;left&quot;:465.4597637795276,&quot;top&quot;:70.9975590551181,&quot;width&quot;:458.1199212598425}"/>
</p:tagLst>
</file>

<file path=ppt/tags/tag14.xml><?xml version="1.0" encoding="utf-8"?>
<p:tagLst xmlns:p="http://schemas.openxmlformats.org/presentationml/2006/main">
  <p:tag name="KSO_WM_DIAGRAM_VIRTUALLY_FRAME" val="{&quot;height&quot;:427.82527559055114,&quot;left&quot;:465.4597637795276,&quot;top&quot;:70.9975590551181,&quot;width&quot;:458.1199212598425}"/>
</p:tagLst>
</file>

<file path=ppt/tags/tag15.xml><?xml version="1.0" encoding="utf-8"?>
<p:tagLst xmlns:p="http://schemas.openxmlformats.org/presentationml/2006/main">
  <p:tag name="KSO_WM_DIAGRAM_VIRTUALLY_FRAME" val="{&quot;height&quot;:427.82527559055114,&quot;left&quot;:465.4597637795276,&quot;top&quot;:70.9975590551181,&quot;width&quot;:458.1199212598425}"/>
</p:tagLst>
</file>

<file path=ppt/tags/tag16.xml><?xml version="1.0" encoding="utf-8"?>
<p:tagLst xmlns:p="http://schemas.openxmlformats.org/presentationml/2006/main">
  <p:tag name="KSO_WM_DIAGRAM_VIRTUALLY_FRAME" val="{&quot;height&quot;:427.82527559055114,&quot;left&quot;:465.4597637795276,&quot;top&quot;:70.9975590551181,&quot;width&quot;:458.1199212598425}"/>
</p:tagLst>
</file>

<file path=ppt/tags/tag17.xml><?xml version="1.0" encoding="utf-8"?>
<p:tagLst xmlns:p="http://schemas.openxmlformats.org/presentationml/2006/main">
  <p:tag name="KSO_WM_DIAGRAM_VIRTUALLY_FRAME" val="{&quot;height&quot;:427.82527559055114,&quot;left&quot;:465.4597637795276,&quot;top&quot;:70.9975590551181,&quot;width&quot;:458.1199212598425}"/>
</p:tagLst>
</file>

<file path=ppt/tags/tag18.xml><?xml version="1.0" encoding="utf-8"?>
<p:tagLst xmlns:p="http://schemas.openxmlformats.org/presentationml/2006/main">
  <p:tag name="KSO_WM_DIAGRAM_VIRTUALLY_FRAME" val="{&quot;height&quot;:427.82527559055114,&quot;left&quot;:465.4597637795276,&quot;top&quot;:70.9975590551181,&quot;width&quot;:458.1199212598425}"/>
</p:tagLst>
</file>

<file path=ppt/tags/tag19.xml><?xml version="1.0" encoding="utf-8"?>
<p:tagLst xmlns:p="http://schemas.openxmlformats.org/presentationml/2006/main">
  <p:tag name="KSO_WM_DIAGRAM_VIRTUALLY_FRAME" val="{&quot;height&quot;:427.82527559055114,&quot;left&quot;:465.4597637795276,&quot;top&quot;:70.9975590551181,&quot;width&quot;:458.1199212598425}"/>
</p:tagLst>
</file>

<file path=ppt/tags/tag20.xml><?xml version="1.0" encoding="utf-8"?>
<p:tagLst xmlns:p="http://schemas.openxmlformats.org/presentationml/2006/main">
  <p:tag name="KSO_WM_DIAGRAM_VIRTUALLY_FRAME" val="{&quot;height&quot;:427.82527559055114,&quot;left&quot;:465.4597637795276,&quot;top&quot;:70.9975590551181,&quot;width&quot;:458.1199212598425}"/>
</p:tagLst>
</file>

<file path=ppt/tags/tag21.xml><?xml version="1.0" encoding="utf-8"?>
<p:tagLst xmlns:p="http://schemas.openxmlformats.org/presentationml/2006/main">
  <p:tag name="KSO_WM_DIAGRAM_VIRTUALLY_FRAME" val="{&quot;height&quot;:427.82527559055114,&quot;left&quot;:465.4597637795276,&quot;top&quot;:70.9975590551181,&quot;width&quot;:458.1199212598425}"/>
</p:tagLst>
</file>

<file path=ppt/tags/tag22.xml><?xml version="1.0" encoding="utf-8"?>
<p:tagLst xmlns:p="http://schemas.openxmlformats.org/presentationml/2006/main">
  <p:tag name="KSO_WM_DIAGRAM_VIRTUALLY_FRAME" val="{&quot;height&quot;:427.82527559055114,&quot;left&quot;:465.4597637795276,&quot;top&quot;:70.9975590551181,&quot;width&quot;:458.1199212598425}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  <p:tag name="KSO_WM_UNIT_PLACING_PICTURE_USER_VIEWPORT" val="{&quot;height&quot;:816.7527559055118,&quot;width&quot;:2995.555905511811}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PP_MARK_KEY" val="96bccef8-1467-470b-8567-1bfb44ff2a7b"/>
  <p:tag name="COMMONDATA" val="eyJoZGlkIjoiYmIxN2EwOTg0NzI1MmYyNDVjMzlmYjQ0YzEyN2MxMWMi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0a2skwj1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3268</Words>
  <Application>WPS 演示</Application>
  <PresentationFormat>宽屏</PresentationFormat>
  <Paragraphs>422</Paragraphs>
  <Slides>19</Slides>
  <Notes>19</Notes>
  <HiddenSlides>0</HiddenSlides>
  <MMClips>0</MMClips>
  <ScaleCrop>false</ScaleCrop>
  <HeadingPairs>
    <vt:vector size="8" baseType="variant">
      <vt:variant>
        <vt:lpstr>已用的字体</vt:lpstr>
      </vt:variant>
      <vt:variant>
        <vt:i4>29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14</vt:i4>
      </vt:variant>
      <vt:variant>
        <vt:lpstr>幻灯片标题</vt:lpstr>
      </vt:variant>
      <vt:variant>
        <vt:i4>19</vt:i4>
      </vt:variant>
    </vt:vector>
  </HeadingPairs>
  <TitlesOfParts>
    <vt:vector size="66" baseType="lpstr">
      <vt:lpstr>Arial</vt:lpstr>
      <vt:lpstr>宋体</vt:lpstr>
      <vt:lpstr>Wingdings</vt:lpstr>
      <vt:lpstr>Poppins SemiBold</vt:lpstr>
      <vt:lpstr>Wide Latin</vt:lpstr>
      <vt:lpstr>Lato</vt:lpstr>
      <vt:lpstr>Karla</vt:lpstr>
      <vt:lpstr>微软雅黑</vt:lpstr>
      <vt:lpstr>Cambria</vt:lpstr>
      <vt:lpstr>字魂58号-创中黑</vt:lpstr>
      <vt:lpstr>黑体</vt:lpstr>
      <vt:lpstr>仿宋</vt:lpstr>
      <vt:lpstr>PingFang SC Regular</vt:lpstr>
      <vt:lpstr>Calibri</vt:lpstr>
      <vt:lpstr>Segoe UI Emoji</vt:lpstr>
      <vt:lpstr>Segoe UI Black</vt:lpstr>
      <vt:lpstr>Lucida Calligraphy</vt:lpstr>
      <vt:lpstr>方正粗黑宋简体</vt:lpstr>
      <vt:lpstr>Arial</vt:lpstr>
      <vt:lpstr>Eras Bold ITC</vt:lpstr>
      <vt:lpstr>汉仪南宫体简</vt:lpstr>
      <vt:lpstr>等线</vt:lpstr>
      <vt:lpstr>华文新魏</vt:lpstr>
      <vt:lpstr>楷体_GB2312</vt:lpstr>
      <vt:lpstr>新宋体</vt:lpstr>
      <vt:lpstr>Times New Roman</vt:lpstr>
      <vt:lpstr>PingFang SC Semibold</vt:lpstr>
      <vt:lpstr>Segoe Print</vt:lpstr>
      <vt:lpstr>Arial Unicode MS</vt:lpstr>
      <vt:lpstr>1_Office 主题​​</vt:lpstr>
      <vt:lpstr>Специальное оформление</vt:lpstr>
      <vt:lpstr>2_Office 主题</vt:lpstr>
      <vt:lpstr>Office 主题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andy Gu</dc:creator>
  <cp:lastModifiedBy>WPS_1645575664</cp:lastModifiedBy>
  <cp:revision>1507</cp:revision>
  <dcterms:created xsi:type="dcterms:W3CDTF">2019-03-28T04:56:00Z</dcterms:created>
  <dcterms:modified xsi:type="dcterms:W3CDTF">2026-01-05T15:32:18Z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75608AC7DCFA46D3821FF949E6356D6F_13</vt:lpwstr>
  </property>
</Properties>
</file>